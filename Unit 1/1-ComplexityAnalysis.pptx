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8" r:id="rId2"/>
    <p:sldId id="266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20" r:id="rId14"/>
    <p:sldId id="321" r:id="rId15"/>
    <p:sldId id="322" r:id="rId16"/>
    <p:sldId id="323" r:id="rId17"/>
    <p:sldId id="337" r:id="rId18"/>
    <p:sldId id="335" r:id="rId19"/>
    <p:sldId id="336" r:id="rId20"/>
    <p:sldId id="324" r:id="rId21"/>
    <p:sldId id="326" r:id="rId22"/>
    <p:sldId id="325" r:id="rId23"/>
    <p:sldId id="327" r:id="rId24"/>
    <p:sldId id="329" r:id="rId25"/>
    <p:sldId id="328" r:id="rId26"/>
    <p:sldId id="330" r:id="rId27"/>
    <p:sldId id="331" r:id="rId28"/>
    <p:sldId id="33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4" autoAdjust="0"/>
    <p:restoredTop sz="55272" autoAdjust="0"/>
  </p:normalViewPr>
  <p:slideViewPr>
    <p:cSldViewPr snapToGrid="0" snapToObjects="1" showGuides="1">
      <p:cViewPr varScale="1">
        <p:scale>
          <a:sx n="60" d="100"/>
          <a:sy n="60" d="100"/>
        </p:scale>
        <p:origin x="15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ty Wong" userId="934a16c2-3b82-4a04-8cf4-72a5c39a78f6" providerId="ADAL" clId="{6624BDA5-5E62-4DCD-AC58-5D64DFC703A6}"/>
    <pc:docChg chg="undo custSel addSld delSld modSld sldOrd">
      <pc:chgData name="Kitty Wong" userId="934a16c2-3b82-4a04-8cf4-72a5c39a78f6" providerId="ADAL" clId="{6624BDA5-5E62-4DCD-AC58-5D64DFC703A6}" dt="2026-08-26T04:42:04.335" v="3116" actId="113"/>
      <pc:docMkLst>
        <pc:docMk/>
      </pc:docMkLst>
      <pc:sldChg chg="modSp mod">
        <pc:chgData name="Kitty Wong" userId="934a16c2-3b82-4a04-8cf4-72a5c39a78f6" providerId="ADAL" clId="{6624BDA5-5E62-4DCD-AC58-5D64DFC703A6}" dt="2026-08-26T04:30:51.006" v="2758" actId="20577"/>
        <pc:sldMkLst>
          <pc:docMk/>
          <pc:sldMk cId="2490023507" sldId="321"/>
        </pc:sldMkLst>
        <pc:spChg chg="mod">
          <ac:chgData name="Kitty Wong" userId="934a16c2-3b82-4a04-8cf4-72a5c39a78f6" providerId="ADAL" clId="{6624BDA5-5E62-4DCD-AC58-5D64DFC703A6}" dt="2026-08-26T04:30:51.006" v="2758" actId="20577"/>
          <ac:spMkLst>
            <pc:docMk/>
            <pc:sldMk cId="2490023507" sldId="321"/>
            <ac:spMk id="3" creationId="{DCEEE228-1B0D-44A8-8F41-BE0D0BABB8C0}"/>
          </ac:spMkLst>
        </pc:spChg>
      </pc:sldChg>
      <pc:sldChg chg="addSp delSp modSp mod">
        <pc:chgData name="Kitty Wong" userId="934a16c2-3b82-4a04-8cf4-72a5c39a78f6" providerId="ADAL" clId="{6624BDA5-5E62-4DCD-AC58-5D64DFC703A6}" dt="2026-08-26T04:41:40.878" v="3115" actId="1076"/>
        <pc:sldMkLst>
          <pc:docMk/>
          <pc:sldMk cId="2243196862" sldId="324"/>
        </pc:sldMkLst>
        <pc:spChg chg="del">
          <ac:chgData name="Kitty Wong" userId="934a16c2-3b82-4a04-8cf4-72a5c39a78f6" providerId="ADAL" clId="{6624BDA5-5E62-4DCD-AC58-5D64DFC703A6}" dt="2026-08-26T04:41:33.341" v="3114" actId="478"/>
          <ac:spMkLst>
            <pc:docMk/>
            <pc:sldMk cId="2243196862" sldId="324"/>
            <ac:spMk id="4" creationId="{C6D353C6-B117-06AC-8ACF-64F471D8AE0F}"/>
          </ac:spMkLst>
        </pc:spChg>
        <pc:spChg chg="add mod">
          <ac:chgData name="Kitty Wong" userId="934a16c2-3b82-4a04-8cf4-72a5c39a78f6" providerId="ADAL" clId="{6624BDA5-5E62-4DCD-AC58-5D64DFC703A6}" dt="2026-08-26T04:41:40.878" v="3115" actId="1076"/>
          <ac:spMkLst>
            <pc:docMk/>
            <pc:sldMk cId="2243196862" sldId="324"/>
            <ac:spMk id="6" creationId="{BCF1DD0E-FC3A-A849-33E3-C07C00CE4679}"/>
          </ac:spMkLst>
        </pc:spChg>
      </pc:sldChg>
      <pc:sldChg chg="addSp delSp modSp mod modNotesTx">
        <pc:chgData name="Kitty Wong" userId="934a16c2-3b82-4a04-8cf4-72a5c39a78f6" providerId="ADAL" clId="{6624BDA5-5E62-4DCD-AC58-5D64DFC703A6}" dt="2026-08-26T04:36:02.581" v="2846" actId="20577"/>
        <pc:sldMkLst>
          <pc:docMk/>
          <pc:sldMk cId="3310606160" sldId="335"/>
        </pc:sldMkLst>
        <pc:spChg chg="mod">
          <ac:chgData name="Kitty Wong" userId="934a16c2-3b82-4a04-8cf4-72a5c39a78f6" providerId="ADAL" clId="{6624BDA5-5E62-4DCD-AC58-5D64DFC703A6}" dt="2026-08-26T04:32:52.726" v="2760" actId="20577"/>
          <ac:spMkLst>
            <pc:docMk/>
            <pc:sldMk cId="3310606160" sldId="335"/>
            <ac:spMk id="3" creationId="{CE9A4E24-DDA6-66B7-742A-7C8E4F78372A}"/>
          </ac:spMkLst>
        </pc:spChg>
        <pc:spChg chg="add del">
          <ac:chgData name="Kitty Wong" userId="934a16c2-3b82-4a04-8cf4-72a5c39a78f6" providerId="ADAL" clId="{6624BDA5-5E62-4DCD-AC58-5D64DFC703A6}" dt="2026-08-26T04:33:09.814" v="2762" actId="478"/>
          <ac:spMkLst>
            <pc:docMk/>
            <pc:sldMk cId="3310606160" sldId="335"/>
            <ac:spMk id="4" creationId="{AFBBA97D-63DA-625D-D227-3C6D5290BE2D}"/>
          </ac:spMkLst>
        </pc:spChg>
        <pc:spChg chg="add del">
          <ac:chgData name="Kitty Wong" userId="934a16c2-3b82-4a04-8cf4-72a5c39a78f6" providerId="ADAL" clId="{6624BDA5-5E62-4DCD-AC58-5D64DFC703A6}" dt="2026-08-26T04:33:20.563" v="2764" actId="22"/>
          <ac:spMkLst>
            <pc:docMk/>
            <pc:sldMk cId="3310606160" sldId="335"/>
            <ac:spMk id="6" creationId="{A3062976-9293-FE49-A5A7-2C9CD60613BE}"/>
          </ac:spMkLst>
        </pc:spChg>
        <pc:spChg chg="add mod">
          <ac:chgData name="Kitty Wong" userId="934a16c2-3b82-4a04-8cf4-72a5c39a78f6" providerId="ADAL" clId="{6624BDA5-5E62-4DCD-AC58-5D64DFC703A6}" dt="2026-08-26T04:34:24.368" v="2816" actId="1076"/>
          <ac:spMkLst>
            <pc:docMk/>
            <pc:sldMk cId="3310606160" sldId="335"/>
            <ac:spMk id="8" creationId="{751765AA-0359-E076-DA85-2E24588C4C15}"/>
          </ac:spMkLst>
        </pc:spChg>
      </pc:sldChg>
      <pc:sldChg chg="addSp modSp mod modNotesTx">
        <pc:chgData name="Kitty Wong" userId="934a16c2-3b82-4a04-8cf4-72a5c39a78f6" providerId="ADAL" clId="{6624BDA5-5E62-4DCD-AC58-5D64DFC703A6}" dt="2026-08-26T04:42:04.335" v="3116" actId="113"/>
        <pc:sldMkLst>
          <pc:docMk/>
          <pc:sldMk cId="728747175" sldId="336"/>
        </pc:sldMkLst>
        <pc:spChg chg="mod">
          <ac:chgData name="Kitty Wong" userId="934a16c2-3b82-4a04-8cf4-72a5c39a78f6" providerId="ADAL" clId="{6624BDA5-5E62-4DCD-AC58-5D64DFC703A6}" dt="2026-08-26T04:42:04.335" v="3116" actId="113"/>
          <ac:spMkLst>
            <pc:docMk/>
            <pc:sldMk cId="728747175" sldId="336"/>
            <ac:spMk id="3" creationId="{65596285-B41F-5D18-5A51-EA4A0646A335}"/>
          </ac:spMkLst>
        </pc:spChg>
        <pc:spChg chg="add mod">
          <ac:chgData name="Kitty Wong" userId="934a16c2-3b82-4a04-8cf4-72a5c39a78f6" providerId="ADAL" clId="{6624BDA5-5E62-4DCD-AC58-5D64DFC703A6}" dt="2026-08-26T04:39:53.267" v="3108" actId="20577"/>
          <ac:spMkLst>
            <pc:docMk/>
            <pc:sldMk cId="728747175" sldId="336"/>
            <ac:spMk id="5" creationId="{2C7436C3-5756-9A0A-4672-604A02E10141}"/>
          </ac:spMkLst>
        </pc:spChg>
      </pc:sldChg>
      <pc:sldChg chg="modSp mod">
        <pc:chgData name="Kitty Wong" userId="934a16c2-3b82-4a04-8cf4-72a5c39a78f6" providerId="ADAL" clId="{6624BDA5-5E62-4DCD-AC58-5D64DFC703A6}" dt="2026-08-26T04:35:48.705" v="2845" actId="20577"/>
        <pc:sldMkLst>
          <pc:docMk/>
          <pc:sldMk cId="1598451541" sldId="337"/>
        </pc:sldMkLst>
        <pc:spChg chg="mod">
          <ac:chgData name="Kitty Wong" userId="934a16c2-3b82-4a04-8cf4-72a5c39a78f6" providerId="ADAL" clId="{6624BDA5-5E62-4DCD-AC58-5D64DFC703A6}" dt="2026-08-26T04:35:48.705" v="2845" actId="20577"/>
          <ac:spMkLst>
            <pc:docMk/>
            <pc:sldMk cId="1598451541" sldId="337"/>
            <ac:spMk id="3" creationId="{A8C9E11E-1B76-435B-FAAB-ABDE3DC16C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7C5150-9119-490A-A216-3D2FA22F7FFC}" type="datetimeFigureOut">
              <a:rPr lang="en-CA" smtClean="0"/>
              <a:t>2026-08-25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DF01B0-FE71-4C35-BC11-34BCAF52C43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8715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4458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4497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en-US" dirty="0"/>
              <a:t>The problem must be </a:t>
            </a:r>
            <a:r>
              <a:rPr lang="en-US" altLang="en-US" i="1" dirty="0"/>
              <a:t>solvable</a:t>
            </a:r>
            <a:r>
              <a:rPr lang="en-US" altLang="en-US" dirty="0"/>
              <a:t> by an algorithm, there are many problems in Math and Computer Science are unsolvable by algorithms.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936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1488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0527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6524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1542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altLang="en-US" dirty="0">
                <a:latin typeface="Garamond" panose="02020404030301010803" pitchFamily="18" charset="0"/>
              </a:rPr>
              <a:t>instead of average-case: the algorithm will take on average 3.5 milliseconds, which really doesn’t mean much…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209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https://www.unlogged.io/post/java-and-the-string-odyssey-navigating-changes-from-jdk-1-to-jdk-21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856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15958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adding a few more 0’s to the TEST_SIZE…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3824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009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31365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prefer to read real Java code, check out the </a:t>
            </a:r>
            <a:r>
              <a:rPr lang="en-US" dirty="0" err="1"/>
              <a:t>powerAlgorithms</a:t>
            </a:r>
            <a:r>
              <a:rPr lang="en-US" dirty="0"/>
              <a:t> package!</a:t>
            </a:r>
          </a:p>
          <a:p>
            <a:endParaRPr lang="en-US" dirty="0"/>
          </a:p>
          <a:p>
            <a:r>
              <a:rPr lang="en-US" dirty="0"/>
              <a:t>Note: For loops are usually written in pseudocode as “For </a:t>
            </a:r>
            <a:r>
              <a:rPr lang="en-US" dirty="0" err="1"/>
              <a:t>i</a:t>
            </a:r>
            <a:r>
              <a:rPr lang="en-US" dirty="0"/>
              <a:t> = 1 to n” but I thought the actual code will make it easier for you to remember exactly which operations are involved! :D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32112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3600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Running time changes as the input size n changes, so it’s expressed as a function of n.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8575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access main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78211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04385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8024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44134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99036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01469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12956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you ever heard people talk about things growing exponentially? Now you know what that really means!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13015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FF6600"/>
              </a:buClr>
              <a:buFontTx/>
              <a:buNone/>
            </a:pPr>
            <a:r>
              <a:rPr lang="en-US" altLang="en-US" sz="3200" dirty="0">
                <a:solidFill>
                  <a:schemeClr val="tx1"/>
                </a:solidFill>
                <a:latin typeface="Futura MdCn BT" pitchFamily="34" charset="0"/>
              </a:rPr>
              <a:t>Answers: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chemeClr val="bg2"/>
              </a:buClr>
              <a:buSzTx/>
              <a:buFontTx/>
              <a:buChar char="–"/>
              <a:tabLst/>
              <a:defRPr/>
            </a:pPr>
            <a:r>
              <a:rPr lang="en-US" altLang="en-US" sz="2800" b="0" i="0" dirty="0">
                <a:solidFill>
                  <a:schemeClr val="tx1"/>
                </a:solidFill>
                <a:latin typeface="Garamond" panose="02020404030301010803" pitchFamily="18" charset="0"/>
              </a:rPr>
              <a:t>O(1)</a:t>
            </a:r>
            <a:endParaRPr lang="en-CA" sz="2800" b="0" i="0" dirty="0"/>
          </a:p>
          <a:p>
            <a:pPr lvl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altLang="en-US" sz="2800" b="0" i="0" dirty="0">
                <a:solidFill>
                  <a:schemeClr val="tx1"/>
                </a:solidFill>
                <a:latin typeface="Garamond" panose="02020404030301010803" pitchFamily="18" charset="0"/>
              </a:rPr>
              <a:t>O(n)</a:t>
            </a:r>
          </a:p>
          <a:p>
            <a:pPr lvl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altLang="en-US" sz="2800" b="0" i="0" dirty="0">
                <a:solidFill>
                  <a:schemeClr val="tx1"/>
                </a:solidFill>
                <a:latin typeface="Garamond" panose="02020404030301010803" pitchFamily="18" charset="0"/>
              </a:rPr>
              <a:t>O(n</a:t>
            </a:r>
            <a:r>
              <a:rPr lang="en-US" altLang="en-US" sz="3200" b="0" i="0" baseline="30000" dirty="0">
                <a:solidFill>
                  <a:schemeClr val="tx1"/>
                </a:solidFill>
                <a:latin typeface="Garamond" panose="02020404030301010803" pitchFamily="18" charset="0"/>
              </a:rPr>
              <a:t>4</a:t>
            </a:r>
            <a:r>
              <a:rPr lang="en-US" altLang="en-US" sz="2800" b="0" i="0" dirty="0">
                <a:solidFill>
                  <a:schemeClr val="tx1"/>
                </a:solidFill>
                <a:latin typeface="Garamond" panose="02020404030301010803" pitchFamily="18" charset="0"/>
              </a:rPr>
              <a:t>)</a:t>
            </a:r>
          </a:p>
          <a:p>
            <a:pPr lvl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altLang="en-US" sz="2800" b="0" i="0" dirty="0">
                <a:solidFill>
                  <a:schemeClr val="tx1"/>
                </a:solidFill>
                <a:latin typeface="Garamond" panose="02020404030301010803" pitchFamily="18" charset="0"/>
              </a:rPr>
              <a:t>O(log 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90890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Golden Rule: </a:t>
            </a:r>
            <a:r>
              <a:rPr lang="en-CA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O(1) &lt; O(log n) &lt; O(n) &lt; O(n log n) &lt; O(n</a:t>
            </a:r>
            <a:r>
              <a:rPr lang="en-CA" sz="1800" b="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CA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&lt; O(n</a:t>
            </a:r>
            <a:r>
              <a:rPr lang="en-CA" sz="1800" b="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CA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&lt; O(</a:t>
            </a:r>
            <a:r>
              <a:rPr lang="en-CA" sz="18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CA" sz="1800" b="0" baseline="30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CA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&lt; O(2</a:t>
            </a:r>
            <a:r>
              <a:rPr lang="en-CA" sz="1800" b="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en-CA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&lt; O(n!)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65402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</a:t>
            </a:r>
          </a:p>
          <a:p>
            <a:pPr marL="228600" indent="-228600">
              <a:buAutoNum type="arabicParenR"/>
            </a:pPr>
            <a:r>
              <a:rPr lang="en-US" dirty="0"/>
              <a:t>O(n)</a:t>
            </a:r>
          </a:p>
          <a:p>
            <a:pPr marL="228600" indent="-228600">
              <a:buAutoNum type="arabicParenR"/>
            </a:pPr>
            <a:r>
              <a:rPr lang="en-US" dirty="0"/>
              <a:t>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1 is better.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92430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DF01B0-FE71-4C35-BC11-34BCAF52C437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308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22672" y="1122363"/>
            <a:ext cx="6845328" cy="2387600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2672" y="3602038"/>
            <a:ext cx="6845328" cy="1655762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E4A6AB35-C22C-4755-9BC8-96579CB6319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sait_icon_wordmark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904252"/>
            <a:ext cx="3708372" cy="47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7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 i="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30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/>
          <a:p>
            <a:fld id="{3E21CB55-4C39-4DF9-B29B-0DDB979E079F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/>
          <a:p>
            <a:fld id="{FDDB6027-878D-A249-A7C0-2BF119D95C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ait_icon_wordmark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-27337"/>
            <a:ext cx="2311400" cy="294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10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22672" y="6390216"/>
            <a:ext cx="1231900" cy="365125"/>
          </a:xfrm>
        </p:spPr>
        <p:txBody>
          <a:bodyPr anchor="b"/>
          <a:lstStyle/>
          <a:p>
            <a:fld id="{E9DC3DE2-2DBA-41B6-ABDF-9E46BDE3E6CB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/>
          <a:p>
            <a:fld id="{FDDB6027-878D-A249-A7C0-2BF119D95C8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sait_icon_wordmark_horiz_colour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28" y="6176963"/>
            <a:ext cx="165097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 i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CA" dirty="0"/>
              <a:t>Headline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38" r="35724"/>
          <a:stretch/>
        </p:blipFill>
        <p:spPr>
          <a:xfrm>
            <a:off x="7118407" y="-21266"/>
            <a:ext cx="5066505" cy="57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6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77500" y="6390216"/>
            <a:ext cx="876300" cy="365125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CA"/>
              <a:t>Headline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38" r="35724"/>
          <a:stretch/>
        </p:blipFill>
        <p:spPr>
          <a:xfrm>
            <a:off x="7118407" y="-21266"/>
            <a:ext cx="5066505" cy="57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7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716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2672" y="6356350"/>
            <a:ext cx="1231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F0FE8BCE-6DE9-499B-B47E-840C645FA6F5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77500" y="6356350"/>
            <a:ext cx="876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FDDB6027-878D-A249-A7C0-2BF119D95C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94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5" r:id="rId4"/>
    <p:sldLayoutId id="2147483657" r:id="rId5"/>
    <p:sldLayoutId id="2147483654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Verdana" charset="0"/>
          <a:ea typeface="Verdana" charset="0"/>
          <a:cs typeface="Verdan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onald_Knuth#Humor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seudocode#Syntax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Complexity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1</a:t>
            </a:r>
          </a:p>
          <a:p>
            <a:r>
              <a:rPr lang="en-US" dirty="0"/>
              <a:t>CPRG304 – Object-Oriented Programming III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E4D4B33-3A5F-4979-822B-8FAADD5E5A7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5232372" y="6390216"/>
            <a:ext cx="5435628" cy="365125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 dirty="0"/>
              <a:t>Kitty Wong © 2026</a:t>
            </a:r>
          </a:p>
        </p:txBody>
      </p:sp>
    </p:spTree>
    <p:extLst>
      <p:ext uri="{BB962C8B-B14F-4D97-AF65-F5344CB8AC3E}">
        <p14:creationId xmlns:p14="http://schemas.microsoft.com/office/powerpoint/2010/main" val="71254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</a:t>
            </a:r>
            <a:r>
              <a:rPr lang="en-US" dirty="0"/>
              <a:t>roblem</a:t>
            </a:r>
          </a:p>
          <a:p>
            <a:pPr lvl="1"/>
            <a:r>
              <a:rPr lang="en-US" dirty="0"/>
              <a:t>Developing software to solve a problem</a:t>
            </a:r>
          </a:p>
          <a:p>
            <a:r>
              <a:rPr lang="en-US" b="1" dirty="0"/>
              <a:t>A</a:t>
            </a:r>
            <a:r>
              <a:rPr lang="en-US" dirty="0"/>
              <a:t>lgorithm</a:t>
            </a:r>
          </a:p>
          <a:p>
            <a:pPr lvl="1"/>
            <a:r>
              <a:rPr lang="en-US" dirty="0"/>
              <a:t>Design a solution to the problem</a:t>
            </a:r>
          </a:p>
          <a:p>
            <a:r>
              <a:rPr lang="en-US" b="1" dirty="0"/>
              <a:t>P</a:t>
            </a:r>
            <a:r>
              <a:rPr lang="en-US" dirty="0"/>
              <a:t>rogram</a:t>
            </a:r>
          </a:p>
          <a:p>
            <a:pPr lvl="1"/>
            <a:r>
              <a:rPr lang="en-US" dirty="0"/>
              <a:t>Implementing the solution (the source code)</a:t>
            </a:r>
          </a:p>
          <a:p>
            <a:r>
              <a:rPr lang="en-US" b="1" dirty="0"/>
              <a:t>P</a:t>
            </a:r>
            <a:r>
              <a:rPr lang="en-US" dirty="0"/>
              <a:t>rocess</a:t>
            </a:r>
          </a:p>
          <a:p>
            <a:pPr lvl="1"/>
            <a:r>
              <a:rPr lang="en-US" dirty="0"/>
              <a:t>Run the program to check if it solved the problem</a:t>
            </a:r>
          </a:p>
        </p:txBody>
      </p:sp>
    </p:spTree>
    <p:extLst>
      <p:ext uri="{BB962C8B-B14F-4D97-AF65-F5344CB8AC3E}">
        <p14:creationId xmlns:p14="http://schemas.microsoft.com/office/powerpoint/2010/main" val="230369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8C6C-AC38-4201-A641-521C70A82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954D6-174B-453F-96C4-7B1E8E567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A step-by-step instructions to solve a problem </a:t>
            </a:r>
            <a:r>
              <a:rPr lang="en-US" altLang="en-US" sz="2800">
                <a:latin typeface="Verdana" panose="020B0604030504040204" pitchFamily="34" charset="0"/>
                <a:ea typeface="Verdana" panose="020B0604030504040204" pitchFamily="34" charset="0"/>
              </a:rPr>
              <a:t>or complete a task</a:t>
            </a:r>
            <a:endParaRPr lang="en-US" altLang="en-US" sz="2800" u="sng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1"/>
            <a:r>
              <a:rPr lang="en-US" altLang="en-US" dirty="0"/>
              <a:t>An algorithm must be designed to solve a </a:t>
            </a:r>
            <a:r>
              <a:rPr lang="en-US" altLang="en-US" i="1" dirty="0"/>
              <a:t>stated problem</a:t>
            </a:r>
            <a:endParaRPr lang="en-US" altLang="en-US" dirty="0"/>
          </a:p>
          <a:p>
            <a:pPr lvl="1"/>
            <a:r>
              <a:rPr lang="en-US" altLang="en-US" dirty="0"/>
              <a:t>The algorithm will be performed by some </a:t>
            </a:r>
            <a:r>
              <a:rPr lang="en-US" altLang="en-US" i="1" dirty="0"/>
              <a:t>processor</a:t>
            </a:r>
          </a:p>
          <a:p>
            <a:pPr lvl="2"/>
            <a:r>
              <a:rPr lang="en-US" altLang="en-US" dirty="0"/>
              <a:t>A machine or a human</a:t>
            </a:r>
          </a:p>
          <a:p>
            <a:pPr lvl="2"/>
            <a:r>
              <a:rPr lang="en-US" altLang="en-US" dirty="0"/>
              <a:t>The algorithm must be expressed in a language or notation that the processor</a:t>
            </a:r>
            <a:r>
              <a:rPr lang="en-CA" altLang="en-US" dirty="0"/>
              <a:t> “understands”</a:t>
            </a:r>
            <a:endParaRPr lang="en-US" altLang="en-US" dirty="0"/>
          </a:p>
          <a:p>
            <a:pPr lvl="2"/>
            <a:r>
              <a:rPr lang="en-US" altLang="en-US" dirty="0"/>
              <a:t>The algorithm must be expressed in steps that the processor is capable of performing</a:t>
            </a:r>
          </a:p>
          <a:p>
            <a:pPr lvl="1"/>
            <a:r>
              <a:rPr lang="en-US" altLang="en-US" dirty="0"/>
              <a:t>The algorithm must eventually terminate, producing the required answer</a:t>
            </a:r>
          </a:p>
          <a:p>
            <a:pPr lvl="1"/>
            <a:r>
              <a:rPr lang="en-CA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No algorithm is allowed to rely on qualities such as insight, creativity etc</a:t>
            </a:r>
            <a:r>
              <a:rPr lang="en-CA" altLang="en-US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en-CA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that distinguish humans from machines!</a:t>
            </a:r>
          </a:p>
        </p:txBody>
      </p:sp>
    </p:spTree>
    <p:extLst>
      <p:ext uri="{BB962C8B-B14F-4D97-AF65-F5344CB8AC3E}">
        <p14:creationId xmlns:p14="http://schemas.microsoft.com/office/powerpoint/2010/main" val="152132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20403-347D-465D-B983-8F02ECD0C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in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B309E-3C98-4B5E-9FE8-91552DF7C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/>
              <a:t>The same problem can frequently be solved with different algorithms</a:t>
            </a:r>
          </a:p>
          <a:p>
            <a:pPr lvl="1"/>
            <a:r>
              <a:rPr lang="en-US" altLang="en-US" dirty="0"/>
              <a:t>Use the “best” algorithm!</a:t>
            </a:r>
          </a:p>
          <a:p>
            <a:pPr lvl="1"/>
            <a:r>
              <a:rPr lang="en-US" altLang="en-US" dirty="0"/>
              <a:t>How would you compare the algorithms and rate them?</a:t>
            </a:r>
          </a:p>
          <a:p>
            <a:pPr lvl="1"/>
            <a:r>
              <a:rPr lang="en-US" altLang="en-US" dirty="0"/>
              <a:t>What would determine that one is “better” than the other?</a:t>
            </a:r>
          </a:p>
          <a:p>
            <a:pPr lvl="1"/>
            <a:r>
              <a:rPr lang="en-US" altLang="en-US" dirty="0"/>
              <a:t>What would your criteria be?</a:t>
            </a:r>
          </a:p>
          <a:p>
            <a:pPr lvl="2"/>
            <a:r>
              <a:rPr lang="en-US" dirty="0"/>
              <a:t>Time?</a:t>
            </a:r>
          </a:p>
          <a:p>
            <a:pPr lvl="2"/>
            <a:r>
              <a:rPr lang="en-US" dirty="0"/>
              <a:t>Memory usage?</a:t>
            </a:r>
          </a:p>
          <a:p>
            <a:pPr lvl="2"/>
            <a:r>
              <a:rPr lang="en-US" dirty="0"/>
              <a:t>Human costs to develop?</a:t>
            </a:r>
          </a:p>
          <a:p>
            <a:pPr lvl="2"/>
            <a:r>
              <a:rPr lang="en-US" dirty="0"/>
              <a:t>Human costs to maintain?</a:t>
            </a:r>
          </a:p>
          <a:p>
            <a:pPr lvl="2"/>
            <a:r>
              <a:rPr lang="en-US" dirty="0"/>
              <a:t>Accuracy?</a:t>
            </a:r>
            <a:endParaRPr lang="en-US" alt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08568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879D-22FE-4DAF-9695-D1428CBB2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Analysis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B7D6E-5EF8-40AA-872A-4CC819216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The study of the performance (i.e. efficiency) of different algorithms</a:t>
            </a:r>
          </a:p>
          <a:p>
            <a:pPr lvl="4"/>
            <a:endParaRPr lang="en-CA" sz="2000" dirty="0"/>
          </a:p>
          <a:p>
            <a:pPr>
              <a:lnSpc>
                <a:spcPct val="90000"/>
              </a:lnSpc>
            </a:pPr>
            <a:r>
              <a:rPr lang="en-US" altLang="en-US" dirty="0"/>
              <a:t>2 categories of algorithm efficiency:</a:t>
            </a:r>
          </a:p>
          <a:p>
            <a:pPr lvl="1"/>
            <a:r>
              <a:rPr lang="en-US" altLang="en-US" b="1" dirty="0"/>
              <a:t>Time Complexity</a:t>
            </a:r>
          </a:p>
          <a:p>
            <a:pPr lvl="2"/>
            <a:r>
              <a:rPr lang="en-US" altLang="en-US" dirty="0"/>
              <a:t>How long it takes to run the algorithm</a:t>
            </a:r>
          </a:p>
          <a:p>
            <a:pPr lvl="2"/>
            <a:r>
              <a:rPr lang="en-US" altLang="en-US" dirty="0"/>
              <a:t>Measurement of processor time to perform all the steps in an algorithm</a:t>
            </a:r>
          </a:p>
          <a:p>
            <a:pPr lvl="1"/>
            <a:r>
              <a:rPr lang="en-US" altLang="en-US" b="1" dirty="0"/>
              <a:t>Space Complexity</a:t>
            </a:r>
          </a:p>
          <a:p>
            <a:pPr lvl="2"/>
            <a:r>
              <a:rPr lang="en-US" altLang="en-US" dirty="0"/>
              <a:t>How much space the algorithm needs for storing data</a:t>
            </a:r>
          </a:p>
          <a:p>
            <a:pPr lvl="2"/>
            <a:r>
              <a:rPr lang="en-US" altLang="en-US" dirty="0"/>
              <a:t>Measurement of the amount of memory is used during the execution of the algorithm</a:t>
            </a:r>
          </a:p>
        </p:txBody>
      </p:sp>
    </p:spTree>
    <p:extLst>
      <p:ext uri="{BB962C8B-B14F-4D97-AF65-F5344CB8AC3E}">
        <p14:creationId xmlns:p14="http://schemas.microsoft.com/office/powerpoint/2010/main" val="3866548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70758-3510-49FE-B41F-3D058E205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 of Technology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2FDA2-514B-4492-A0F4-9EBCC8C59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now have cheap and plentiful RAMs!</a:t>
            </a:r>
          </a:p>
          <a:p>
            <a:pPr lvl="1"/>
            <a:r>
              <a:rPr lang="en-US" dirty="0"/>
              <a:t>Space complexity is not as crucial to determining the efficiency of an algorithm</a:t>
            </a:r>
          </a:p>
          <a:p>
            <a:pPr lvl="2"/>
            <a:r>
              <a:rPr lang="en-CA" altLang="en-US" dirty="0">
                <a:latin typeface="Verdana" panose="020B0604030504040204" pitchFamily="34" charset="0"/>
                <a:ea typeface="Verdana" panose="020B0604030504040204" pitchFamily="34" charset="0"/>
              </a:rPr>
              <a:t>Still important depending the type of system you’re developing for or applications that require memory to be managed effectively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1"/>
            <a:r>
              <a:rPr lang="en-US" dirty="0"/>
              <a:t>We will focus on time complexity</a:t>
            </a:r>
          </a:p>
          <a:p>
            <a:pPr lvl="4"/>
            <a:endParaRPr lang="en-CA" dirty="0"/>
          </a:p>
          <a:p>
            <a:r>
              <a:rPr lang="en-CA" altLang="en-US" dirty="0">
                <a:latin typeface="Verdana" panose="020B0604030504040204" pitchFamily="34" charset="0"/>
                <a:ea typeface="Verdana" panose="020B0604030504040204" pitchFamily="34" charset="0"/>
              </a:rPr>
              <a:t>Note: Time complexity and space complexity are highly correlated – it’s always a </a:t>
            </a:r>
            <a:r>
              <a:rPr lang="en-CA" altLang="en-US" i="1" dirty="0">
                <a:latin typeface="Verdana" panose="020B0604030504040204" pitchFamily="34" charset="0"/>
                <a:ea typeface="Verdana" panose="020B0604030504040204" pitchFamily="34" charset="0"/>
              </a:rPr>
              <a:t>trade-off</a:t>
            </a:r>
            <a:r>
              <a:rPr lang="en-CA" altLang="en-US" dirty="0">
                <a:latin typeface="Verdana" panose="020B0604030504040204" pitchFamily="34" charset="0"/>
                <a:ea typeface="Verdana" panose="020B0604030504040204" pitchFamily="34" charset="0"/>
              </a:rPr>
              <a:t>! </a:t>
            </a:r>
          </a:p>
          <a:p>
            <a:pPr lvl="1"/>
            <a:r>
              <a:rPr lang="en-CA" altLang="en-US" dirty="0">
                <a:latin typeface="Verdana" panose="020B0604030504040204" pitchFamily="34" charset="0"/>
                <a:ea typeface="Verdana" panose="020B0604030504040204" pitchFamily="34" charset="0"/>
              </a:rPr>
              <a:t>Better time efficiency means using more space</a:t>
            </a:r>
          </a:p>
          <a:p>
            <a:pPr lvl="1"/>
            <a:r>
              <a:rPr lang="en-CA" altLang="en-US" dirty="0">
                <a:latin typeface="Verdana" panose="020B0604030504040204" pitchFamily="34" charset="0"/>
                <a:ea typeface="Verdana" panose="020B0604030504040204" pitchFamily="34" charset="0"/>
              </a:rPr>
              <a:t>Better space efficiency means taking more time</a:t>
            </a:r>
          </a:p>
        </p:txBody>
      </p:sp>
    </p:spTree>
    <p:extLst>
      <p:ext uri="{BB962C8B-B14F-4D97-AF65-F5344CB8AC3E}">
        <p14:creationId xmlns:p14="http://schemas.microsoft.com/office/powerpoint/2010/main" val="199461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461FC-6E4C-4E63-9D5F-00201F2F3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A938-99DB-4211-B26F-5E55B4FFF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How long it takes to run the algorithm</a:t>
            </a:r>
          </a:p>
          <a:p>
            <a:pPr lvl="1"/>
            <a:r>
              <a:rPr lang="en-US" altLang="en-US" dirty="0"/>
              <a:t>The running time depends on the input data</a:t>
            </a:r>
          </a:p>
          <a:p>
            <a:pPr lvl="1"/>
            <a:r>
              <a:rPr lang="en-US" altLang="en-US" dirty="0"/>
              <a:t>The algorithm may run faster on certain data sets than on others</a:t>
            </a:r>
          </a:p>
          <a:p>
            <a:pPr lvl="4"/>
            <a:endParaRPr lang="en-US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129995-B60D-284A-F12A-62E124E0D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416" y="3180837"/>
            <a:ext cx="6573167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757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DF154-6245-4C03-832A-B50A9B72D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Average Case vs. Worst Case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794AF-333F-4E13-BA42-2B50FE64B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800" dirty="0"/>
              <a:t>Finding the average-case can be difficult</a:t>
            </a:r>
          </a:p>
          <a:p>
            <a:pPr lvl="1"/>
            <a:r>
              <a:rPr lang="en-US" altLang="en-US" sz="2400" dirty="0"/>
              <a:t>In certain application domains (e.g. air traffic control, authentication, surgery, IP lookup) knowing the worst-case time complexity is of critical importance</a:t>
            </a:r>
          </a:p>
          <a:p>
            <a:pPr lvl="1"/>
            <a:endParaRPr lang="en-CA" sz="1800" dirty="0"/>
          </a:p>
          <a:p>
            <a:r>
              <a:rPr lang="en-US" altLang="en-US" dirty="0"/>
              <a:t>Algorithms are measured by the worst-case time complexity (upper-bound)</a:t>
            </a:r>
          </a:p>
          <a:p>
            <a:pPr lvl="1"/>
            <a:r>
              <a:rPr lang="en-US" altLang="en-US" dirty="0"/>
              <a:t>It will take this maximum amount of time to run</a:t>
            </a:r>
          </a:p>
          <a:p>
            <a:pPr lvl="2"/>
            <a:r>
              <a:rPr lang="en-US" altLang="en-US" dirty="0"/>
              <a:t>E.g. it will take at most 5 milliseconds to complete</a:t>
            </a:r>
          </a:p>
          <a:p>
            <a:pPr lvl="1"/>
            <a:r>
              <a:rPr lang="en-US" altLang="en-US" dirty="0"/>
              <a:t>In some applications, it would be beneficial to provide the best-case (lower-bound) as well</a:t>
            </a:r>
          </a:p>
          <a:p>
            <a:pPr lvl="2"/>
            <a:r>
              <a:rPr lang="en-US" altLang="en-US" dirty="0"/>
              <a:t>E.g. it will take between 2 to 5 milliseconds to complete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4792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5D89-21C3-428F-8F2E-3089BA07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Measuring the Running Time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CAECF-5899-428E-A28E-E29F6BB9A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How should we measure the running time of the algorithm?</a:t>
            </a:r>
          </a:p>
          <a:p>
            <a:pPr lvl="1"/>
            <a:r>
              <a:rPr lang="en-US" altLang="en-US" dirty="0"/>
              <a:t>Real time – ns? </a:t>
            </a:r>
            <a:r>
              <a:rPr lang="en-US" altLang="en-US" dirty="0" err="1"/>
              <a:t>ms</a:t>
            </a:r>
            <a:r>
              <a:rPr lang="en-US" altLang="en-US" dirty="0"/>
              <a:t>? sec?   </a:t>
            </a:r>
          </a:p>
          <a:p>
            <a:r>
              <a:rPr lang="en-US" altLang="en-US" dirty="0"/>
              <a:t>Experimental analysis/benchmarking: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Write a program to implement an experiment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Run the program with data sets with varying size and composition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Get a measure of actual running time (stop – start)</a:t>
            </a:r>
          </a:p>
          <a:p>
            <a:pPr lvl="4"/>
            <a:endParaRPr lang="en-CA" dirty="0"/>
          </a:p>
          <a:p>
            <a:r>
              <a:rPr lang="en-CA" dirty="0"/>
              <a:t>Example: Concat.java</a:t>
            </a:r>
          </a:p>
        </p:txBody>
      </p:sp>
    </p:spTree>
    <p:extLst>
      <p:ext uri="{BB962C8B-B14F-4D97-AF65-F5344CB8AC3E}">
        <p14:creationId xmlns:p14="http://schemas.microsoft.com/office/powerpoint/2010/main" val="1363428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28F1F-6C76-4A88-B025-417D187C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Experimental Analysis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E550D-5A1C-475E-82BD-FF3B59F96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Benchmarking for running time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long start =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System.currentTimeMillis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914400" lvl="2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run algorithm</a:t>
            </a:r>
          </a:p>
          <a:p>
            <a:pPr marL="914400" lvl="2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long stop =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System.currentTimeMillis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914400" lvl="2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time = stop – start;</a:t>
            </a:r>
          </a:p>
          <a:p>
            <a:pPr lvl="4"/>
            <a:endParaRPr lang="en-CA" dirty="0"/>
          </a:p>
          <a:p>
            <a:r>
              <a:rPr lang="en-CA" dirty="0"/>
              <a:t>Every run will have different results</a:t>
            </a:r>
          </a:p>
          <a:p>
            <a:pPr lvl="1"/>
            <a:r>
              <a:rPr lang="en-CA" dirty="0"/>
              <a:t>Real-time measurements depends on the hardware, operating system, system configurations and other software currently running as well</a:t>
            </a:r>
          </a:p>
          <a:p>
            <a:pPr lvl="1"/>
            <a:r>
              <a:rPr lang="en-CA" dirty="0"/>
              <a:t>Any algorithm can run faster using a faster processor!</a:t>
            </a:r>
          </a:p>
        </p:txBody>
      </p:sp>
    </p:spTree>
    <p:extLst>
      <p:ext uri="{BB962C8B-B14F-4D97-AF65-F5344CB8AC3E}">
        <p14:creationId xmlns:p14="http://schemas.microsoft.com/office/powerpoint/2010/main" val="228834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0F67-D746-4502-B015-DB19C0664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Limitations of Experimental Analysis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5B578-DD36-406C-85DA-77D61E18A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You need to implement the algorithm and run it in order to determine its running time</a:t>
            </a:r>
          </a:p>
          <a:p>
            <a:pPr lvl="1"/>
            <a:r>
              <a:rPr lang="en-US" altLang="en-US" dirty="0"/>
              <a:t>Implementation may differ</a:t>
            </a:r>
          </a:p>
          <a:p>
            <a:pPr lvl="2"/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In order to compare 2 algorithms, the identical computing environment must be used</a:t>
            </a:r>
          </a:p>
          <a:p>
            <a:pPr lvl="1"/>
            <a:r>
              <a:rPr lang="en-US" altLang="en-US" dirty="0"/>
              <a:t>Exact hardware, software etc.</a:t>
            </a:r>
          </a:p>
          <a:p>
            <a:pPr lvl="3"/>
            <a:endParaRPr lang="en-CA" dirty="0"/>
          </a:p>
          <a:p>
            <a:pPr>
              <a:lnSpc>
                <a:spcPct val="90000"/>
              </a:lnSpc>
            </a:pPr>
            <a:r>
              <a:rPr lang="en-US" altLang="en-US" dirty="0"/>
              <a:t>Experiments can only be done on a limited set of data inputs (e.g.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TEST_SIZE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May not be indicative of the running time on other inputs not included in the experiment</a:t>
            </a:r>
          </a:p>
        </p:txBody>
      </p:sp>
    </p:spTree>
    <p:extLst>
      <p:ext uri="{BB962C8B-B14F-4D97-AF65-F5344CB8AC3E}">
        <p14:creationId xmlns:p14="http://schemas.microsoft.com/office/powerpoint/2010/main" val="1330975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8BF3-0B23-4EDF-8B69-64804B67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Beyond Experimental Analysis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FE85-0340-43E2-86D0-6A4D99054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We will need to use a </a:t>
            </a:r>
            <a:r>
              <a:rPr lang="en-US" altLang="en-US" i="1" dirty="0"/>
              <a:t>general methodology</a:t>
            </a:r>
            <a:r>
              <a:rPr lang="en-US" altLang="en-US" dirty="0"/>
              <a:t> for analyzing algorithms: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high-level description of the algorithm is used instead of testing one of its implementations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Can take into account all possible inputs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Allows evaluation of efficiency of any algorithm that is independent from the software/hardware environment</a:t>
            </a:r>
          </a:p>
          <a:p>
            <a:pPr lvl="4"/>
            <a:endParaRPr lang="en-CA" dirty="0"/>
          </a:p>
          <a:p>
            <a:r>
              <a:rPr lang="en-CA" dirty="0"/>
              <a:t>Fun fact: The “father” of algorithm analysis is Donald Knuth</a:t>
            </a:r>
          </a:p>
          <a:p>
            <a:pPr lvl="1"/>
            <a:r>
              <a:rPr lang="en-CA" dirty="0"/>
              <a:t>If you find an error in any of his books, </a:t>
            </a:r>
            <a:r>
              <a:rPr lang="en-CA" dirty="0">
                <a:hlinkClick r:id="rId3"/>
              </a:rPr>
              <a:t>he sends you money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07216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3628-AE23-4A4B-8035-61116A7C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Analysis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7E219-98ED-4F88-80E7-2215F99C9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First </a:t>
            </a:r>
            <a:r>
              <a:rPr lang="en-US" dirty="0"/>
              <a:t>we</a:t>
            </a:r>
            <a:r>
              <a:rPr lang="en-US" altLang="en-US" dirty="0"/>
              <a:t> need a high-level description of the algorithm</a:t>
            </a:r>
            <a:r>
              <a:rPr lang="en-US" dirty="0"/>
              <a:t> to analyze</a:t>
            </a:r>
          </a:p>
          <a:p>
            <a:pPr lvl="1"/>
            <a:r>
              <a:rPr lang="en-US" dirty="0"/>
              <a:t>Recall: Algorithm = step-by-step procedure</a:t>
            </a:r>
          </a:p>
          <a:p>
            <a:pPr lvl="3"/>
            <a:endParaRPr lang="en-US" dirty="0"/>
          </a:p>
          <a:p>
            <a:r>
              <a:rPr lang="en-US" dirty="0"/>
              <a:t>How do we represent an algorithm?</a:t>
            </a:r>
          </a:p>
          <a:p>
            <a:pPr lvl="1"/>
            <a:r>
              <a:rPr lang="en-US" dirty="0"/>
              <a:t>Flowcharts</a:t>
            </a:r>
          </a:p>
          <a:p>
            <a:pPr lvl="1"/>
            <a:r>
              <a:rPr lang="en-US" dirty="0"/>
              <a:t>Pseudocode: a description of an algorithm in plain language that is more structured than the usual prose, but less formal than a programming language</a:t>
            </a:r>
          </a:p>
          <a:p>
            <a:pPr lvl="2"/>
            <a:r>
              <a:rPr lang="en-US" dirty="0"/>
              <a:t>Intended to be read by humans</a:t>
            </a:r>
          </a:p>
          <a:p>
            <a:pPr lvl="2"/>
            <a:r>
              <a:rPr lang="en-US" dirty="0"/>
              <a:t>Programming language independent, but we will use a </a:t>
            </a:r>
            <a:r>
              <a:rPr lang="en-US" dirty="0">
                <a:hlinkClick r:id="rId3"/>
              </a:rPr>
              <a:t>Java-like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50843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550BD-EF18-4D34-A9E2-30A1F9723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Power </a:t>
            </a:r>
            <a:r>
              <a:rPr lang="en-US" altLang="en-US" dirty="0"/>
              <a:t>A</a:t>
            </a:r>
            <a:r>
              <a:rPr lang="en-US" altLang="en-US" sz="4400" dirty="0"/>
              <a:t>lgorithms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EE228-1B0D-44A8-8F41-BE0D0BABB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Problem: to compute </a:t>
            </a:r>
            <a:r>
              <a:rPr lang="en-US" altLang="en-US" i="1" dirty="0">
                <a:latin typeface="Verdana" panose="020B0604030504040204" pitchFamily="34" charset="0"/>
                <a:ea typeface="Verdana" panose="020B0604030504040204" pitchFamily="34" charset="0"/>
              </a:rPr>
              <a:t>b</a:t>
            </a:r>
            <a:r>
              <a:rPr lang="en-US" altLang="en-US" i="1" baseline="30000" dirty="0">
                <a:latin typeface="Verdana" panose="020B0604030504040204" pitchFamily="34" charset="0"/>
                <a:ea typeface="Verdana" panose="020B0604030504040204" pitchFamily="34" charset="0"/>
              </a:rPr>
              <a:t>n</a:t>
            </a:r>
            <a:r>
              <a:rPr lang="en-US" altLang="en-US" i="1" dirty="0">
                <a:latin typeface="Verdana" panose="020B0604030504040204" pitchFamily="34" charset="0"/>
                <a:ea typeface="Verdana" panose="020B0604030504040204" pitchFamily="34" charset="0"/>
              </a:rPr>
              <a:t>, n&gt;0, </a:t>
            </a:r>
            <a:r>
              <a:rPr lang="en-US" altLang="en-US" i="1" dirty="0" err="1">
                <a:latin typeface="Verdana" panose="020B0604030504040204" pitchFamily="34" charset="0"/>
                <a:ea typeface="Verdana" panose="020B0604030504040204" pitchFamily="34" charset="0"/>
              </a:rPr>
              <a:t>n</a:t>
            </a:r>
            <a:r>
              <a:rPr lang="en-US" altLang="en-US" i="1" dirty="0" err="1"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I</a:t>
            </a: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  <a:sym typeface="Symbol" panose="05050102010706020507" pitchFamily="18" charset="2"/>
              </a:rPr>
              <a:t> </a:t>
            </a:r>
            <a:endParaRPr lang="en-US" alt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1"/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Solution A – Simple Algorithm:</a:t>
            </a:r>
          </a:p>
          <a:p>
            <a:pPr marL="1371600" lvl="3" indent="0">
              <a:buNone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Set x to 1</a:t>
            </a:r>
          </a:p>
          <a:p>
            <a:pPr marL="1371600" lvl="3" indent="0">
              <a:buNone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For ( int </a:t>
            </a:r>
            <a:r>
              <a:rPr lang="en-US" alt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=0; </a:t>
            </a:r>
            <a:r>
              <a:rPr lang="en-US" alt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&lt;n; </a:t>
            </a:r>
            <a:r>
              <a:rPr lang="en-US" alt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++ ) </a:t>
            </a:r>
          </a:p>
          <a:p>
            <a:pPr marL="1828800" lvl="4" indent="0">
              <a:buNone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Set x = x * b</a:t>
            </a:r>
          </a:p>
          <a:p>
            <a:pPr marL="1371600" lvl="3" indent="0">
              <a:buNone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Terminate with answer x</a:t>
            </a:r>
          </a:p>
          <a:p>
            <a:pPr lvl="1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Solution B – Smart Algorithm:</a:t>
            </a:r>
          </a:p>
          <a:p>
            <a:pPr marL="1371600" lvl="3" indent="0">
              <a:buNone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Set x to 1, set y to b, and set z to n</a:t>
            </a:r>
          </a:p>
          <a:p>
            <a:pPr marL="1371600" lvl="3" indent="0">
              <a:buNone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While z &gt; 0:</a:t>
            </a:r>
          </a:p>
          <a:p>
            <a:pPr marL="1828800" lvl="4" indent="0">
              <a:buNone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If z is odd then set x = x * y</a:t>
            </a:r>
          </a:p>
          <a:p>
            <a:pPr marL="1828800" lvl="4" indent="0">
              <a:buNone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Divide z by 2 (discard remainder), set y = y * y</a:t>
            </a:r>
          </a:p>
          <a:p>
            <a:pPr marL="1371600" lvl="3" indent="0">
              <a:buNone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Terminate with answer x</a:t>
            </a:r>
          </a:p>
        </p:txBody>
      </p:sp>
    </p:spTree>
    <p:extLst>
      <p:ext uri="{BB962C8B-B14F-4D97-AF65-F5344CB8AC3E}">
        <p14:creationId xmlns:p14="http://schemas.microsoft.com/office/powerpoint/2010/main" val="2490023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EBFDD-E334-41D3-899B-A16367DF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Analysis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2EA18-F584-4505-89C8-29E845BC8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our pseudocode, now we need to analyze the running time</a:t>
            </a:r>
          </a:p>
          <a:p>
            <a:pPr lvl="1"/>
            <a:r>
              <a:rPr lang="en-US" dirty="0"/>
              <a:t>Go through the algorithm line-by-line and calculate the worst-case</a:t>
            </a:r>
          </a:p>
          <a:p>
            <a:pPr lvl="3"/>
            <a:endParaRPr lang="en-US" dirty="0"/>
          </a:p>
          <a:p>
            <a:r>
              <a:rPr lang="en-US" dirty="0"/>
              <a:t>This is done by counting the total number of operations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Arithmetic operations: +, -, *, / 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Comparison operations: &lt;, &gt;, 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Assignment operations: x = y</a:t>
            </a:r>
          </a:p>
          <a:p>
            <a:pPr lvl="2"/>
            <a:r>
              <a:rPr lang="en-US" dirty="0"/>
              <a:t>Note: increment (++) and decrement (--) are really 2 operations – 1 arithmetic (+/-) and 1 assignment (=)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44756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A7872-219B-4CC2-8EB3-1693D541F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Counting – Simple Power </a:t>
            </a:r>
            <a:r>
              <a:rPr lang="en-US" altLang="en-US" dirty="0"/>
              <a:t>A</a:t>
            </a:r>
            <a:r>
              <a:rPr lang="en-US" altLang="en-US" sz="4400" dirty="0"/>
              <a:t>lgorithm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89926-8119-4A92-8251-1AA67A05B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Set x to 1</a:t>
            </a:r>
          </a:p>
          <a:p>
            <a:pPr marL="914400" lvl="2" indent="0">
              <a:buNone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1 assignment</a:t>
            </a:r>
          </a:p>
          <a:p>
            <a:pPr marL="0" indent="0">
              <a:buNone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For ( int </a:t>
            </a:r>
            <a:r>
              <a:rPr lang="en-US" alt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 = 0; </a:t>
            </a:r>
            <a:r>
              <a:rPr lang="en-US" alt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 &lt; n; </a:t>
            </a:r>
            <a:r>
              <a:rPr lang="en-US" alt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++ ) </a:t>
            </a:r>
          </a:p>
          <a:p>
            <a:pPr marL="1371600" lvl="3" indent="0">
              <a:spcAft>
                <a:spcPts val="500"/>
              </a:spcAft>
              <a:buNone/>
            </a:pPr>
            <a:r>
              <a:rPr lang="en-US" alt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Start: 1 assignment, 1 comparison</a:t>
            </a:r>
          </a:p>
          <a:p>
            <a:pPr marL="1371600" lvl="3" indent="0">
              <a:spcAft>
                <a:spcPts val="500"/>
              </a:spcAft>
              <a:buNone/>
            </a:pPr>
            <a:r>
              <a:rPr lang="en-US" alt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Each iteration: 1 increment (arithmetic + assignment), 1 comparison</a:t>
            </a:r>
          </a:p>
          <a:p>
            <a:pPr lvl="4">
              <a:spcAft>
                <a:spcPts val="500"/>
              </a:spcAft>
            </a:pPr>
            <a:r>
              <a:rPr lang="en-US" alt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There are n iterations</a:t>
            </a:r>
          </a:p>
          <a:p>
            <a:pPr marL="914400" lvl="2" indent="0">
              <a:spcAft>
                <a:spcPts val="500"/>
              </a:spcAft>
              <a:buNone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Total: n+1 assignment, n+1 comparison, n arithmetic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Multiply x by b</a:t>
            </a:r>
          </a:p>
          <a:p>
            <a:pPr marL="914400" lvl="2" indent="0">
              <a:buNone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n arithmetic, n assignment</a:t>
            </a:r>
          </a:p>
          <a:p>
            <a:pPr marL="0" indent="0">
              <a:buNone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Terminate with answer x</a:t>
            </a:r>
          </a:p>
          <a:p>
            <a:pPr marL="1828800" lvl="4" indent="0">
              <a:buNone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		</a:t>
            </a:r>
          </a:p>
          <a:p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Total = 2n+2 assignment, n+1 comparison, 2n arithmetic	</a:t>
            </a:r>
          </a:p>
          <a:p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f(n) = 5n + 3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BF5D04-3ECA-8E02-6E78-699F91DF8CEB}"/>
              </a:ext>
            </a:extLst>
          </p:cNvPr>
          <p:cNvSpPr/>
          <p:nvPr/>
        </p:nvSpPr>
        <p:spPr>
          <a:xfrm>
            <a:off x="7806268" y="1690688"/>
            <a:ext cx="3547532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n is the power value </a:t>
            </a:r>
            <a:r>
              <a:rPr lang="en-US" sz="2400" dirty="0">
                <a:sym typeface="Wingdings" panose="05000000000000000000" pitchFamily="2" charset="2"/>
              </a:rPr>
              <a:t>of b</a:t>
            </a:r>
            <a:r>
              <a:rPr lang="en-US" sz="2400" baseline="30000" dirty="0">
                <a:sym typeface="Wingdings" panose="05000000000000000000" pitchFamily="2" charset="2"/>
              </a:rPr>
              <a:t>n</a:t>
            </a:r>
            <a:endParaRPr lang="en-US" sz="2400" baseline="30000" dirty="0"/>
          </a:p>
        </p:txBody>
      </p:sp>
    </p:spTree>
    <p:extLst>
      <p:ext uri="{BB962C8B-B14F-4D97-AF65-F5344CB8AC3E}">
        <p14:creationId xmlns:p14="http://schemas.microsoft.com/office/powerpoint/2010/main" val="3058471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8D86-6BA3-C2C8-D54F-97497E19B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9E11E-1B76-435B-FAAB-ABDE3DC16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1000" indent="-381000">
              <a:tabLst>
                <a:tab pos="762000" algn="l"/>
                <a:tab pos="1333500" algn="l"/>
              </a:tabLst>
            </a:pPr>
            <a:r>
              <a:rPr lang="en-US" altLang="en-US" dirty="0">
                <a:cs typeface="Times New Roman" panose="02020603050405020304" pitchFamily="18" charset="0"/>
              </a:rPr>
              <a:t>Break the problem into smaller subproblems (e.g. into 2 = half) and solve them individually</a:t>
            </a:r>
          </a:p>
          <a:p>
            <a:pPr marL="838200" lvl="1" indent="-381000">
              <a:tabLst>
                <a:tab pos="762000" algn="l"/>
                <a:tab pos="1333500" algn="l"/>
              </a:tabLst>
            </a:pPr>
            <a:r>
              <a:rPr lang="en-US" altLang="en-US" dirty="0">
                <a:cs typeface="Times New Roman" panose="02020603050405020304" pitchFamily="18" charset="0"/>
              </a:rPr>
              <a:t>Usually involves breaking down each subproblem repeatedly until it is simple enough to be solved directly</a:t>
            </a:r>
          </a:p>
          <a:p>
            <a:pPr marL="1295400" lvl="2" indent="-381000">
              <a:tabLst>
                <a:tab pos="762000" algn="l"/>
                <a:tab pos="1333500" algn="l"/>
              </a:tabLst>
            </a:pPr>
            <a:r>
              <a:rPr lang="en-US" dirty="0"/>
              <a:t>Can be implemented with loops or recursion</a:t>
            </a:r>
          </a:p>
          <a:p>
            <a:pPr marL="3124200" lvl="6" indent="-381000">
              <a:tabLst>
                <a:tab pos="762000" algn="l"/>
                <a:tab pos="1333500" algn="l"/>
              </a:tabLst>
            </a:pPr>
            <a:endParaRPr lang="en-US" altLang="en-US" dirty="0">
              <a:cs typeface="Times New Roman" panose="02020603050405020304" pitchFamily="18" charset="0"/>
            </a:endParaRPr>
          </a:p>
          <a:p>
            <a:r>
              <a:rPr lang="en-US" dirty="0"/>
              <a:t>Basis for most efficient algorithms</a:t>
            </a:r>
          </a:p>
          <a:p>
            <a:pPr lvl="5"/>
            <a:endParaRPr lang="en-US" dirty="0"/>
          </a:p>
          <a:p>
            <a:r>
              <a:rPr lang="en-US" dirty="0"/>
              <a:t>Great for running on multiprocessors with caches</a:t>
            </a:r>
          </a:p>
          <a:p>
            <a:pPr lvl="1"/>
            <a:r>
              <a:rPr lang="en-US" dirty="0"/>
              <a:t>Each subproblem can run independently on a processor</a:t>
            </a:r>
          </a:p>
          <a:p>
            <a:pPr lvl="1"/>
            <a:r>
              <a:rPr lang="en-US" dirty="0"/>
              <a:t>Subproblem is small enough to fit in cache</a:t>
            </a:r>
          </a:p>
        </p:txBody>
      </p:sp>
    </p:spTree>
    <p:extLst>
      <p:ext uri="{BB962C8B-B14F-4D97-AF65-F5344CB8AC3E}">
        <p14:creationId xmlns:p14="http://schemas.microsoft.com/office/powerpoint/2010/main" val="1598451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10E9-B9C0-7341-E8E2-E4CC2275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A4E24-DDA6-66B7-742A-7C8E4F783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with n, divide it by 2 (n/2) unti</a:t>
            </a:r>
            <a:r>
              <a:rPr lang="en-US" dirty="0">
                <a:sym typeface="Wingdings" panose="05000000000000000000" pitchFamily="2" charset="2"/>
              </a:rPr>
              <a:t>l answer is 1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Count how many times we need to perform the division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5/2 = 2/2 = 1 (divide 2 times)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10/2 = 5/2 = 2/2 = 1 (divide 3 times)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100/2 = 50/2 = 25/2 = 12/2 = 6/2 = 3/2 = 1 (divide 6 times)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1000/2 = 500/2 = 250/2 = 125/2 = 62/2 = 31/2 = 15/2 = 7/2 = 3/2 = 1 (divide 9 times)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1,000,000/2 = 500,000/2 = 250,000/2 = 125,000/2 etc. (divide 19 times)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1,000,000,000/2 (divide 29 times)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1,000,000,000,000/2 (39 times)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1,000,000,000,000,000,000,000,000,000,000/2 (divide 79 times)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1765AA-0359-E076-DA85-2E24588C4C15}"/>
              </a:ext>
            </a:extLst>
          </p:cNvPr>
          <p:cNvSpPr/>
          <p:nvPr/>
        </p:nvSpPr>
        <p:spPr>
          <a:xfrm>
            <a:off x="9480883" y="907925"/>
            <a:ext cx="2418347" cy="8502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Using integer division (discard remainders)</a:t>
            </a:r>
            <a:endParaRPr lang="en-US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3310606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62D64-6C82-BD59-3772-6B64E375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96285-B41F-5D18-5A51-EA4A0646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divisions can also be calculated using logarithms:</a:t>
            </a:r>
          </a:p>
          <a:p>
            <a:pPr lvl="1"/>
            <a:r>
              <a:rPr lang="en-US" dirty="0"/>
              <a:t>Log</a:t>
            </a:r>
            <a:r>
              <a:rPr lang="en-US" baseline="-25000" dirty="0"/>
              <a:t>2 </a:t>
            </a:r>
            <a:r>
              <a:rPr lang="en-US" dirty="0"/>
              <a:t>5 = 2.322 </a:t>
            </a:r>
            <a:r>
              <a:rPr lang="en-US" dirty="0">
                <a:sym typeface="Wingdings" panose="05000000000000000000" pitchFamily="2" charset="2"/>
              </a:rPr>
              <a:t> floor = 2</a:t>
            </a:r>
            <a:endParaRPr lang="en-US" dirty="0"/>
          </a:p>
          <a:p>
            <a:pPr lvl="1"/>
            <a:r>
              <a:rPr lang="en-US" dirty="0"/>
              <a:t>Log</a:t>
            </a:r>
            <a:r>
              <a:rPr lang="en-US" baseline="-25000" dirty="0"/>
              <a:t>2 </a:t>
            </a:r>
            <a:r>
              <a:rPr lang="en-US" dirty="0"/>
              <a:t>10 = 3.322 </a:t>
            </a:r>
            <a:r>
              <a:rPr lang="en-US" dirty="0">
                <a:sym typeface="Wingdings" panose="05000000000000000000" pitchFamily="2" charset="2"/>
              </a:rPr>
              <a:t> floor = 3</a:t>
            </a:r>
            <a:endParaRPr lang="en-US" dirty="0"/>
          </a:p>
          <a:p>
            <a:pPr lvl="1"/>
            <a:r>
              <a:rPr lang="en-US" dirty="0"/>
              <a:t>Log</a:t>
            </a:r>
            <a:r>
              <a:rPr lang="en-US" baseline="-25000" dirty="0"/>
              <a:t>2 </a:t>
            </a:r>
            <a:r>
              <a:rPr lang="en-US" dirty="0"/>
              <a:t>100 = 6.644 </a:t>
            </a:r>
            <a:r>
              <a:rPr lang="en-US" dirty="0">
                <a:sym typeface="Wingdings" panose="05000000000000000000" pitchFamily="2" charset="2"/>
              </a:rPr>
              <a:t> floor = 6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Etc.</a:t>
            </a:r>
          </a:p>
          <a:p>
            <a:pPr lvl="1"/>
            <a:r>
              <a:rPr lang="en-US" dirty="0"/>
              <a:t>Thus: floor(log</a:t>
            </a:r>
            <a:r>
              <a:rPr lang="en-US" baseline="-25000" dirty="0"/>
              <a:t>2</a:t>
            </a:r>
            <a:r>
              <a:rPr lang="en-US" dirty="0"/>
              <a:t> n)</a:t>
            </a:r>
          </a:p>
          <a:p>
            <a:pPr lvl="2"/>
            <a:r>
              <a:rPr lang="en-US" dirty="0"/>
              <a:t>But this is for when we get to answer of 1</a:t>
            </a:r>
          </a:p>
          <a:p>
            <a:pPr lvl="2"/>
            <a:r>
              <a:rPr lang="en-US" dirty="0"/>
              <a:t>We need to account for this last value!</a:t>
            </a:r>
          </a:p>
          <a:p>
            <a:pPr lvl="5"/>
            <a:endParaRPr lang="en-US" dirty="0"/>
          </a:p>
          <a:p>
            <a:r>
              <a:rPr lang="en-US" dirty="0"/>
              <a:t>The exact formula: </a:t>
            </a:r>
            <a:r>
              <a:rPr lang="en-US" b="1" dirty="0"/>
              <a:t>floor(log</a:t>
            </a:r>
            <a:r>
              <a:rPr lang="en-US" b="1" baseline="-25000" dirty="0"/>
              <a:t>2</a:t>
            </a:r>
            <a:r>
              <a:rPr lang="en-US" b="1" dirty="0"/>
              <a:t> n) + 1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7436C3-5756-9A0A-4672-604A02E10141}"/>
              </a:ext>
            </a:extLst>
          </p:cNvPr>
          <p:cNvSpPr/>
          <p:nvPr/>
        </p:nvSpPr>
        <p:spPr>
          <a:xfrm>
            <a:off x="8017042" y="2447966"/>
            <a:ext cx="3336758" cy="236541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Floor is rounding down to the nearest whole number! We do this because we’re working with data in SD, and we can’t have a fraction of a single piece of data! (e.g. an array of size 2.322)</a:t>
            </a:r>
            <a:endParaRPr lang="en-US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728747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A4C2C-653F-44FA-92DE-D9271CC80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Counting – Smart Power </a:t>
            </a:r>
            <a:r>
              <a:rPr lang="en-US" altLang="en-US" dirty="0"/>
              <a:t>A</a:t>
            </a:r>
            <a:r>
              <a:rPr lang="en-US" altLang="en-US" sz="4400" dirty="0"/>
              <a:t>lgorithm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88E58-8661-4759-9795-EB9E024FB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Set x to 1 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– 1 assignment</a:t>
            </a:r>
          </a:p>
          <a:p>
            <a:pPr marL="0" indent="0">
              <a:buNone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Set y to b 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– 1 assignment</a:t>
            </a:r>
          </a:p>
          <a:p>
            <a:pPr marL="0" indent="0">
              <a:buNone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Set z to n 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– 1 assignment</a:t>
            </a:r>
          </a:p>
          <a:p>
            <a:pPr marL="0" indent="0">
              <a:buNone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While z &gt; 0: 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– 1 comparison + *note</a:t>
            </a:r>
          </a:p>
          <a:p>
            <a:pPr marL="457200" lvl="1" indent="0">
              <a:buNone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If z is odd then 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– modulus + comparison</a:t>
            </a:r>
          </a:p>
          <a:p>
            <a:pPr marL="457200" lvl="1" indent="0">
              <a:buNone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	Set x = x * y 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– arithmetic + assignment</a:t>
            </a:r>
          </a:p>
          <a:p>
            <a:pPr marL="457200" lvl="1" indent="0">
              <a:buNone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Divide z by 2 (discard remainder)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– arithmetic + assignment</a:t>
            </a:r>
          </a:p>
          <a:p>
            <a:pPr marL="457200" lvl="1" indent="0">
              <a:buNone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Set y = y * y 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– arithmetic + assignment</a:t>
            </a:r>
          </a:p>
          <a:p>
            <a:pPr marL="0" indent="0">
              <a:buNone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Terminate with answer x</a:t>
            </a:r>
          </a:p>
          <a:p>
            <a:pPr lvl="5"/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CA" sz="2400" dirty="0"/>
              <a:t>f(n) = </a:t>
            </a:r>
            <a:r>
              <a:rPr lang="pt-BR" sz="2400" dirty="0"/>
              <a:t>9(floor(log</a:t>
            </a:r>
            <a:r>
              <a:rPr lang="pt-BR" sz="2400" baseline="-25000" dirty="0"/>
              <a:t>2 </a:t>
            </a:r>
            <a:r>
              <a:rPr lang="pt-BR" sz="2400" dirty="0"/>
              <a:t>n) + 1) + 3 </a:t>
            </a:r>
            <a:endParaRPr lang="en-CA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F1DD0E-FC3A-A849-33E3-C07C00CE4679}"/>
              </a:ext>
            </a:extLst>
          </p:cNvPr>
          <p:cNvSpPr/>
          <p:nvPr/>
        </p:nvSpPr>
        <p:spPr>
          <a:xfrm>
            <a:off x="7347283" y="1425438"/>
            <a:ext cx="4408660" cy="233584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*note: z is divided by 2 at every iteration, recall n = 0 after doing </a:t>
            </a:r>
            <a:r>
              <a:rPr lang="en-CA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n/2</a:t>
            </a:r>
            <a:r>
              <a:rPr lang="en-CA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floor(log</a:t>
            </a:r>
            <a:r>
              <a:rPr lang="en-CA" sz="20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CA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n) + 1 times? That means this loop will execute </a:t>
            </a:r>
            <a:r>
              <a:rPr lang="en-CA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floor(log</a:t>
            </a:r>
            <a:r>
              <a:rPr lang="en-CA" sz="20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CA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n) + 1</a:t>
            </a:r>
            <a:r>
              <a:rPr lang="en-CA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times! (Note: the +1 here is the last iteration where the condition is false and the while loop terminates)</a:t>
            </a:r>
          </a:p>
        </p:txBody>
      </p:sp>
    </p:spTree>
    <p:extLst>
      <p:ext uri="{BB962C8B-B14F-4D97-AF65-F5344CB8AC3E}">
        <p14:creationId xmlns:p14="http://schemas.microsoft.com/office/powerpoint/2010/main" val="2243196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DBD93-C355-4C09-BED0-029CB0A8E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Power Algorithms</a:t>
            </a:r>
            <a:endParaRPr lang="en-CA" dirty="0"/>
          </a:p>
        </p:txBody>
      </p:sp>
      <p:pic>
        <p:nvPicPr>
          <p:cNvPr id="8" name="Picture 6" descr="power">
            <a:extLst>
              <a:ext uri="{FF2B5EF4-FFF2-40B4-BE49-F238E27FC236}">
                <a16:creationId xmlns:a16="http://schemas.microsoft.com/office/drawing/2014/main" id="{E4DF9B67-80D4-4D49-B3B6-DB87E8014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7" y="1476374"/>
            <a:ext cx="5572125" cy="537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7">
            <a:extLst>
              <a:ext uri="{FF2B5EF4-FFF2-40B4-BE49-F238E27FC236}">
                <a16:creationId xmlns:a16="http://schemas.microsoft.com/office/drawing/2014/main" id="{C14280C5-D5A0-40C2-9186-519932359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9937" y="1629152"/>
            <a:ext cx="57259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Futura Md BT" pitchFamily="34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Futura Md BT" pitchFamily="34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9pPr>
          </a:lstStyle>
          <a:p>
            <a:r>
              <a:rPr lang="en-CA" alt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f(n)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F0DEB14A-55F0-4AFC-A993-B4A2BC5FC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787" y="6384924"/>
            <a:ext cx="31451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Futura Md BT" pitchFamily="34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Futura Md BT" pitchFamily="34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9pPr>
          </a:lstStyle>
          <a:p>
            <a:r>
              <a:rPr lang="en-CA" alt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</a:t>
            </a: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B62DBD6E-71F6-4798-89BE-908F361EB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7" y="2244724"/>
            <a:ext cx="1558440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Futura Md BT" pitchFamily="34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Futura Md BT" pitchFamily="34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CA" alt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simple power</a:t>
            </a:r>
            <a:br>
              <a:rPr lang="en-CA" alt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alt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7939AE2E-BB1C-4A67-8D5E-5BBEA8293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4154" y="4812028"/>
            <a:ext cx="1487908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1"/>
                </a:solidFill>
                <a:latin typeface="Futura Md BT" pitchFamily="34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Futura Md BT" pitchFamily="34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CA" alt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smart power</a:t>
            </a:r>
            <a:br>
              <a:rPr lang="en-CA" alt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CA" altLang="en-US" sz="1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2222385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A549-F93C-4F67-B6B5-C9C1F9F13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Growth Rates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B5306-BE21-4F36-9A46-E55B554F1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Actual times taken by algorithms is great, but we are more interested in the growth rate for each algorithm</a:t>
            </a:r>
          </a:p>
          <a:p>
            <a:pPr lvl="1"/>
            <a:r>
              <a:rPr lang="en-US" altLang="en-US" dirty="0"/>
              <a:t>Specifically – as we increase the input size n, the running time will also increase</a:t>
            </a:r>
          </a:p>
          <a:p>
            <a:pPr lvl="1"/>
            <a:r>
              <a:rPr lang="en-US" altLang="en-US" dirty="0"/>
              <a:t>How much increase (the change in running time) is the most important part of algorithm analysis!</a:t>
            </a:r>
          </a:p>
          <a:p>
            <a:pPr lvl="2"/>
            <a:r>
              <a:rPr lang="en-US" altLang="en-US" dirty="0"/>
              <a:t>E.g. Simple vs. Smart</a:t>
            </a:r>
          </a:p>
          <a:p>
            <a:pPr lvl="4"/>
            <a:endParaRPr lang="en-US" altLang="en-US" dirty="0"/>
          </a:p>
          <a:p>
            <a:r>
              <a:rPr lang="en-CA" dirty="0"/>
              <a:t>As the value of n increases, the constants is unaffected</a:t>
            </a:r>
          </a:p>
          <a:p>
            <a:pPr lvl="1"/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E.g. 5n + 3: the 5 and 3 will become negligible</a:t>
            </a:r>
          </a:p>
          <a:p>
            <a:pPr lvl="1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So we can ignore them!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27463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CEED1-940D-4AEA-841B-0B8FAB8C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O Notation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12672-CD86-471A-8807-62D569FA2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29455"/>
          </a:xfrm>
        </p:spPr>
        <p:txBody>
          <a:bodyPr>
            <a:normAutofit/>
          </a:bodyPr>
          <a:lstStyle/>
          <a:p>
            <a:r>
              <a:rPr lang="en-US" altLang="en-US" dirty="0"/>
              <a:t>The standard way to represent upper-bound (worst-case) of growth rates for both time and space complexity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Discard any constant factor in the fastest growing term</a:t>
            </a:r>
          </a:p>
          <a:p>
            <a:pPr lvl="1"/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E.g. 5n + 3: discard the 3 and 5 </a:t>
            </a: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 n = </a:t>
            </a:r>
            <a:r>
              <a:rPr lang="en-US" altLang="en-US" b="1" dirty="0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O(n)</a:t>
            </a:r>
          </a:p>
          <a:p>
            <a:pPr lvl="2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Pronounced “Big O of n” or “order of n”</a:t>
            </a:r>
          </a:p>
          <a:p>
            <a:pPr lvl="1"/>
            <a:r>
              <a:rPr lang="pt-BR" sz="2400" dirty="0"/>
              <a:t>E.g. 9(floor(log</a:t>
            </a:r>
            <a:r>
              <a:rPr lang="pt-BR" sz="2400" baseline="-25000" dirty="0"/>
              <a:t>2</a:t>
            </a:r>
            <a:r>
              <a:rPr lang="pt-BR" sz="2400" dirty="0"/>
              <a:t> n) + 1) + 3 </a:t>
            </a:r>
            <a:r>
              <a:rPr lang="pt-BR" sz="2400" dirty="0">
                <a:sym typeface="Wingdings" panose="05000000000000000000" pitchFamily="2" charset="2"/>
              </a:rPr>
              <a:t> </a:t>
            </a:r>
            <a:r>
              <a:rPr lang="pt-BR" sz="2400" b="1" dirty="0">
                <a:sym typeface="Wingdings" panose="05000000000000000000" pitchFamily="2" charset="2"/>
              </a:rPr>
              <a:t>O(log n)</a:t>
            </a:r>
          </a:p>
          <a:p>
            <a:pPr lvl="2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  <a:sym typeface="Wingdings" panose="05000000000000000000" pitchFamily="2" charset="2"/>
              </a:rPr>
              <a:t>Pronounced “Big O of log n” or “order of log n”</a:t>
            </a:r>
          </a:p>
          <a:p>
            <a:pPr lvl="2"/>
            <a:r>
              <a:rPr lang="en-CA" dirty="0"/>
              <a:t>Convention: </a:t>
            </a:r>
            <a:r>
              <a:rPr lang="pt-BR" sz="2000" dirty="0">
                <a:sym typeface="Wingdings" panose="05000000000000000000" pitchFamily="2" charset="2"/>
              </a:rPr>
              <a:t>O(log n) instead of O(log</a:t>
            </a:r>
            <a:r>
              <a:rPr lang="pt-BR" sz="2000" baseline="-25000" dirty="0">
                <a:sym typeface="Wingdings" panose="05000000000000000000" pitchFamily="2" charset="2"/>
              </a:rPr>
              <a:t>2</a:t>
            </a:r>
            <a:r>
              <a:rPr lang="pt-BR" sz="2000" dirty="0">
                <a:sym typeface="Wingdings" panose="05000000000000000000" pitchFamily="2" charset="2"/>
              </a:rPr>
              <a:t> n) since the base of the logarithm does not matter (just another constant)</a:t>
            </a:r>
          </a:p>
          <a:p>
            <a:pPr lvl="1"/>
            <a:r>
              <a:rPr lang="en-US" altLang="en-US" dirty="0"/>
              <a:t>If more than one term: Keep the fastest-growing term in the formula, discard all slower-growing terms!</a:t>
            </a:r>
          </a:p>
          <a:p>
            <a:pPr lvl="2"/>
            <a:endParaRPr lang="pt-BR" sz="20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95249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A15CB-EE0E-4D24-BE87-A22A183AB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Big O:</a:t>
            </a:r>
            <a:br>
              <a:rPr lang="en-US" dirty="0"/>
            </a:br>
            <a:r>
              <a:rPr lang="en-US" dirty="0"/>
              <a:t>		Growth Rate vs Performance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8E3F1-CC95-40A0-86BA-AF8A4B73C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O(1)   		constant		   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grows slowest	runs fastest</a:t>
            </a:r>
            <a:endParaRPr lang="en-US" alt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O(log n)   	logarithmic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O(n) 		linear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O(n log n) 	</a:t>
            </a:r>
            <a:r>
              <a:rPr lang="en-US" alt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linearithmic</a:t>
            </a:r>
            <a:endParaRPr lang="en-US" alt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O(n</a:t>
            </a:r>
            <a:r>
              <a:rPr lang="en-US" altLang="en-US" baseline="30000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) 		quadratic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O(n</a:t>
            </a:r>
            <a:r>
              <a:rPr lang="en-US" altLang="en-US" baseline="30000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) 		cubic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O(</a:t>
            </a:r>
            <a:r>
              <a:rPr lang="en-US" alt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n</a:t>
            </a:r>
            <a:r>
              <a:rPr lang="en-US" altLang="en-US" baseline="30000" dirty="0" err="1">
                <a:latin typeface="Verdana" panose="020B0604030504040204" pitchFamily="34" charset="0"/>
                <a:ea typeface="Verdana" panose="020B0604030504040204" pitchFamily="34" charset="0"/>
              </a:rPr>
              <a:t>k</a:t>
            </a: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), k&gt;1 	polynomial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O(2</a:t>
            </a:r>
            <a:r>
              <a:rPr lang="en-US" altLang="en-US" baseline="30000" dirty="0">
                <a:latin typeface="Verdana" panose="020B0604030504040204" pitchFamily="34" charset="0"/>
                <a:ea typeface="Verdana" panose="020B0604030504040204" pitchFamily="34" charset="0"/>
              </a:rPr>
              <a:t>n</a:t>
            </a: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), n&gt;1 	exponential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O(n!), n&gt;1 	factorial		   </a:t>
            </a: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grows fastest	run slowest</a:t>
            </a:r>
            <a:endParaRPr lang="en-US" alt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4B6B8DE9-F2F3-6722-F2F4-B8372B8AD9D5}"/>
              </a:ext>
            </a:extLst>
          </p:cNvPr>
          <p:cNvSpPr/>
          <p:nvPr/>
        </p:nvSpPr>
        <p:spPr>
          <a:xfrm>
            <a:off x="7556267" y="2394063"/>
            <a:ext cx="249381" cy="29593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68033CF3-5FA4-F325-1DE9-D8BFE3A18CFA}"/>
              </a:ext>
            </a:extLst>
          </p:cNvPr>
          <p:cNvSpPr/>
          <p:nvPr/>
        </p:nvSpPr>
        <p:spPr>
          <a:xfrm rot="10800000">
            <a:off x="9786849" y="2394064"/>
            <a:ext cx="249381" cy="29593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62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D0D1-DB42-45A6-B7EB-FF02BCEF6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3DD55-1B1D-4692-9F48-579F853F2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the growth rates in the following functions: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f(n) =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altLang="en-US" baseline="30000" dirty="0">
                <a:latin typeface="Verdana" panose="020B0604030504040204" pitchFamily="34" charset="0"/>
                <a:ea typeface="Verdana" panose="020B0604030504040204" pitchFamily="34" charset="0"/>
              </a:rPr>
              <a:t>1000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5n + 7 log</a:t>
            </a:r>
            <a:r>
              <a:rPr lang="en-US" altLang="en-US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n </a:t>
            </a:r>
          </a:p>
          <a:p>
            <a:pPr marL="914400" lvl="1" indent="-457200">
              <a:buFont typeface="+mj-lt"/>
              <a:buAutoNum type="arabicPeriod"/>
            </a:pPr>
            <a:endParaRPr lang="en-US" alt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10n</a:t>
            </a:r>
            <a:r>
              <a:rPr lang="en-US" altLang="en-US" baseline="30000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 + 10n log</a:t>
            </a:r>
            <a:r>
              <a:rPr lang="en-US" altLang="en-US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n + 5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endParaRPr lang="en-US" alt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3 log</a:t>
            </a:r>
            <a:r>
              <a:rPr lang="en-US" altLang="en-US" baseline="-25000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n + 42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endParaRPr lang="en-US" alt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048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A922-446A-4C20-A852-D83E735A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Growth Rates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279E4-E4EB-4365-B3BF-2392E4E7D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8545" cy="4351338"/>
          </a:xfrm>
        </p:spPr>
        <p:txBody>
          <a:bodyPr/>
          <a:lstStyle/>
          <a:p>
            <a:r>
              <a:rPr lang="en-US" dirty="0"/>
              <a:t>Ultimately we want to know which algorithm is “better”?</a:t>
            </a:r>
          </a:p>
          <a:p>
            <a:pPr lvl="4"/>
            <a:endParaRPr lang="en-US" dirty="0"/>
          </a:p>
          <a:p>
            <a:r>
              <a:rPr lang="en-CA" dirty="0"/>
              <a:t>Faster growth rate = takes longer time or uses more memory as n increases = bad!</a:t>
            </a:r>
          </a:p>
          <a:p>
            <a:r>
              <a:rPr lang="en-CA" dirty="0"/>
              <a:t>Slower growth rate = better performance!</a:t>
            </a:r>
          </a:p>
        </p:txBody>
      </p:sp>
      <p:pic>
        <p:nvPicPr>
          <p:cNvPr id="4" name="Picture 6" descr="power2_2">
            <a:extLst>
              <a:ext uri="{FF2B5EF4-FFF2-40B4-BE49-F238E27FC236}">
                <a16:creationId xmlns:a16="http://schemas.microsoft.com/office/drawing/2014/main" id="{E51BD394-D52E-442E-A4B1-C30820E40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745" y="1266942"/>
            <a:ext cx="5421031" cy="5528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E1D944A7-8D5D-467E-AC89-EA2EEBC8D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6433" y="5947877"/>
            <a:ext cx="8913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Futura Md BT" pitchFamily="34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Futura Md BT" pitchFamily="34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CA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log n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1EC74F76-2C58-4AF7-A4ED-48407257C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5673" y="4625858"/>
            <a:ext cx="3094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Futura Md BT" pitchFamily="34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Futura Md BT" pitchFamily="34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CA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1C62040F-F755-4DA7-B4F0-48F5C6ABC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0859" y="6273800"/>
            <a:ext cx="309429" cy="325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Futura Md BT" pitchFamily="34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Futura Md BT" pitchFamily="34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CA" altLang="en-US" sz="2000" i="1">
                <a:solidFill>
                  <a:schemeClr val="tx1"/>
                </a:solidFill>
                <a:latin typeface="Garamond" panose="02020404030301010803" pitchFamily="18" charset="0"/>
              </a:rPr>
              <a:t>n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F77C85C9-6FAF-493B-9180-FF67F703B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8683" y="1620044"/>
            <a:ext cx="10896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Futura Md BT" pitchFamily="34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Futura Md BT" pitchFamily="34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CA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 log n</a:t>
            </a: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67624368-9423-4D7D-BBD6-7B75F20FB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7323" y="1448008"/>
            <a:ext cx="8004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Futura Md BT" pitchFamily="34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Futura Md BT" pitchFamily="34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CA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</a:t>
            </a:r>
            <a:r>
              <a:rPr lang="en-CA" altLang="en-US" sz="2000" baseline="30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A97DEDBF-0693-432B-8B3F-786CFA794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382911"/>
            <a:ext cx="5384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Futura Md BT" pitchFamily="34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Futura Md BT" pitchFamily="34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Futura Md B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Futura Md BT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CA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CA" altLang="en-US" sz="2000" baseline="30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445021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49AF-ADC4-4109-B988-98B37B83A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FA23-E8F5-4124-B355-A5AA90579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the following 2 algorithms, which one is better?</a:t>
            </a:r>
          </a:p>
          <a:p>
            <a:pPr lvl="4"/>
            <a:endParaRPr lang="en-US" dirty="0"/>
          </a:p>
          <a:p>
            <a:pPr marL="457200" lvl="1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CA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1. for each n {</a:t>
            </a:r>
          </a:p>
          <a:p>
            <a:pPr marL="457200" lvl="1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CA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       // some code</a:t>
            </a:r>
          </a:p>
          <a:p>
            <a:pPr marL="457200" lvl="1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CA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   </a:t>
            </a:r>
            <a:r>
              <a:rPr lang="en-CA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}</a:t>
            </a:r>
          </a:p>
          <a:p>
            <a:pPr marL="457200" lvl="1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CA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2. for each n {</a:t>
            </a:r>
          </a:p>
          <a:p>
            <a:pPr lvl="1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CA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    </a:t>
            </a:r>
            <a:r>
              <a:rPr lang="en-CA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for each n {</a:t>
            </a:r>
          </a:p>
          <a:p>
            <a:pPr lvl="1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CA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	      // some code</a:t>
            </a:r>
          </a:p>
          <a:p>
            <a:pPr lvl="1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CA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	  }</a:t>
            </a:r>
          </a:p>
          <a:p>
            <a:pPr lvl="1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CA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}</a:t>
            </a:r>
          </a:p>
          <a:p>
            <a:pPr marL="514350" indent="-514350">
              <a:buFont typeface="+mj-lt"/>
              <a:buAutoNum type="arabicPeriod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2639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563B-0C44-40F8-A7EB-4BF0C6CD1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Beware of Large Constants!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D9C80-B74D-4D31-8B35-FBDBF72A0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For each n {</a:t>
            </a:r>
          </a:p>
          <a:p>
            <a:pPr marL="457200" lvl="1" indent="0">
              <a:buNone/>
            </a:pPr>
            <a:r>
              <a:rPr lang="en-CA" dirty="0"/>
              <a:t>	// 5,000,000,000 operations</a:t>
            </a:r>
          </a:p>
          <a:p>
            <a:pPr marL="457200" lvl="1" indent="0">
              <a:buNone/>
            </a:pPr>
            <a:r>
              <a:rPr lang="en-CA" dirty="0"/>
              <a:t>}</a:t>
            </a:r>
          </a:p>
          <a:p>
            <a:pPr lvl="1"/>
            <a:r>
              <a:rPr lang="en-CA" dirty="0"/>
              <a:t>5,000,000,000n = O(n)</a:t>
            </a:r>
          </a:p>
          <a:p>
            <a:pPr lvl="5"/>
            <a:endParaRPr lang="en-CA" dirty="0"/>
          </a:p>
          <a:p>
            <a:pPr marL="514350" indent="-514350">
              <a:buFont typeface="+mj-lt"/>
              <a:buAutoNum type="arabicPeriod"/>
            </a:pPr>
            <a:r>
              <a:rPr lang="en-CA" dirty="0"/>
              <a:t>For each n {</a:t>
            </a:r>
          </a:p>
          <a:p>
            <a:pPr marL="457200" lvl="1" indent="0">
              <a:buNone/>
            </a:pPr>
            <a:r>
              <a:rPr lang="en-CA" dirty="0"/>
              <a:t>	For each n {</a:t>
            </a:r>
          </a:p>
          <a:p>
            <a:pPr marL="457200" lvl="1" indent="0">
              <a:buNone/>
            </a:pPr>
            <a:r>
              <a:rPr lang="en-CA" dirty="0"/>
              <a:t>		// 5 operations</a:t>
            </a:r>
          </a:p>
          <a:p>
            <a:pPr marL="457200" lvl="1" indent="0">
              <a:buNone/>
            </a:pPr>
            <a:r>
              <a:rPr lang="en-CA" dirty="0"/>
              <a:t>	}</a:t>
            </a:r>
          </a:p>
          <a:p>
            <a:pPr marL="457200" lvl="1" indent="0">
              <a:buNone/>
            </a:pPr>
            <a:r>
              <a:rPr lang="en-CA" dirty="0"/>
              <a:t>}</a:t>
            </a:r>
          </a:p>
          <a:p>
            <a:pPr lvl="1"/>
            <a:r>
              <a:rPr lang="en-CA" dirty="0"/>
              <a:t>5n</a:t>
            </a:r>
            <a:r>
              <a:rPr lang="en-CA" baseline="30000" dirty="0"/>
              <a:t>2</a:t>
            </a:r>
            <a:r>
              <a:rPr lang="en-CA" dirty="0"/>
              <a:t> = O(n</a:t>
            </a:r>
            <a:r>
              <a:rPr lang="en-CA" baseline="30000" dirty="0"/>
              <a:t>2</a:t>
            </a:r>
            <a:r>
              <a:rPr lang="en-CA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910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AIT Colou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A291C"/>
      </a:accent1>
      <a:accent2>
        <a:srgbClr val="A6192E"/>
      </a:accent2>
      <a:accent3>
        <a:srgbClr val="00A3E0"/>
      </a:accent3>
      <a:accent4>
        <a:srgbClr val="005EB8"/>
      </a:accent4>
      <a:accent5>
        <a:srgbClr val="6D2077"/>
      </a:accent5>
      <a:accent6>
        <a:srgbClr val="222222"/>
      </a:accent6>
      <a:hlink>
        <a:srgbClr val="515151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IT_PPT_Colour_16x9_Template" id="{9343D8A7-6800-F640-AE70-45A3E4AC5BF3}" vid="{216E120B-4FD9-D941-8FC7-0244918ABF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23874</TotalTime>
  <Words>2441</Words>
  <Application>Microsoft Office PowerPoint</Application>
  <PresentationFormat>Widescreen</PresentationFormat>
  <Paragraphs>319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Courier New</vt:lpstr>
      <vt:lpstr>Futura MdCn BT</vt:lpstr>
      <vt:lpstr>Garamond</vt:lpstr>
      <vt:lpstr>Times New Roman</vt:lpstr>
      <vt:lpstr>Verdana</vt:lpstr>
      <vt:lpstr>Wingdings</vt:lpstr>
      <vt:lpstr>Office Theme</vt:lpstr>
      <vt:lpstr>Complexity Analysis</vt:lpstr>
      <vt:lpstr>Software Development</vt:lpstr>
      <vt:lpstr>Algorithms</vt:lpstr>
      <vt:lpstr>Algorithms in Practice</vt:lpstr>
      <vt:lpstr>Complexity Analysis</vt:lpstr>
      <vt:lpstr>Current State of Technology</vt:lpstr>
      <vt:lpstr>Time Complexity</vt:lpstr>
      <vt:lpstr>Average Case vs. Worst Case</vt:lpstr>
      <vt:lpstr>Measuring the Running Time</vt:lpstr>
      <vt:lpstr>Experimental Analysis</vt:lpstr>
      <vt:lpstr>Limitations of Experimental Analysis</vt:lpstr>
      <vt:lpstr>Beyond Experimental Analysis </vt:lpstr>
      <vt:lpstr>Algorithm Analysis</vt:lpstr>
      <vt:lpstr>Power Algorithms</vt:lpstr>
      <vt:lpstr>Algorithm Analysis</vt:lpstr>
      <vt:lpstr>Counting – Simple Power Algorithm</vt:lpstr>
      <vt:lpstr>Divide and Conquer Algorithms</vt:lpstr>
      <vt:lpstr>Divide and Conquer Analysis</vt:lpstr>
      <vt:lpstr>Divide and Conquer Performance</vt:lpstr>
      <vt:lpstr>Counting – Smart Power Algorithm</vt:lpstr>
      <vt:lpstr>Comparing the Power Algorithms</vt:lpstr>
      <vt:lpstr>Growth Rates </vt:lpstr>
      <vt:lpstr>The Big O Notation</vt:lpstr>
      <vt:lpstr>Common Big O:   Growth Rate vs Performance</vt:lpstr>
      <vt:lpstr>Practice</vt:lpstr>
      <vt:lpstr>Comparing the Growth Rates</vt:lpstr>
      <vt:lpstr>Practice</vt:lpstr>
      <vt:lpstr>Beware of Large Constants!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Kitty Wong</dc:creator>
  <cp:lastModifiedBy>Kitty Wong</cp:lastModifiedBy>
  <cp:revision>453</cp:revision>
  <dcterms:created xsi:type="dcterms:W3CDTF">2016-04-05T14:17:30Z</dcterms:created>
  <dcterms:modified xsi:type="dcterms:W3CDTF">2026-08-26T04:42:05Z</dcterms:modified>
</cp:coreProperties>
</file>