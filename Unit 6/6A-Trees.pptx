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8" r:id="rId2"/>
    <p:sldId id="312" r:id="rId3"/>
    <p:sldId id="304" r:id="rId4"/>
    <p:sldId id="266" r:id="rId5"/>
    <p:sldId id="305" r:id="rId6"/>
    <p:sldId id="306" r:id="rId7"/>
    <p:sldId id="307" r:id="rId8"/>
    <p:sldId id="308" r:id="rId9"/>
    <p:sldId id="309" r:id="rId10"/>
    <p:sldId id="310" r:id="rId11"/>
    <p:sldId id="31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7" autoAdjust="0"/>
    <p:restoredTop sz="57706" autoAdjust="0"/>
  </p:normalViewPr>
  <p:slideViewPr>
    <p:cSldViewPr snapToGrid="0" snapToObjects="1" showGuides="1">
      <p:cViewPr varScale="1">
        <p:scale>
          <a:sx n="56" d="100"/>
          <a:sy n="56" d="100"/>
        </p:scale>
        <p:origin x="102"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custSel modSld sldOrd">
      <pc:chgData name="Kitty Wong" userId="934a16c2-3b82-4a04-8cf4-72a5c39a78f6" providerId="ADAL" clId="{6624BDA5-5E62-4DCD-AC58-5D64DFC703A6}" dt="2026-05-13T11:22:02.699" v="33" actId="6549"/>
      <pc:docMkLst>
        <pc:docMk/>
      </pc:docMkLst>
      <pc:sldChg chg="ord">
        <pc:chgData name="Kitty Wong" userId="934a16c2-3b82-4a04-8cf4-72a5c39a78f6" providerId="ADAL" clId="{6624BDA5-5E62-4DCD-AC58-5D64DFC703A6}" dt="2026-05-13T11:21:26.285" v="31"/>
        <pc:sldMkLst>
          <pc:docMk/>
          <pc:sldMk cId="1521329862" sldId="304"/>
        </pc:sldMkLst>
      </pc:sldChg>
      <pc:sldChg chg="modNotesTx">
        <pc:chgData name="Kitty Wong" userId="934a16c2-3b82-4a04-8cf4-72a5c39a78f6" providerId="ADAL" clId="{6624BDA5-5E62-4DCD-AC58-5D64DFC703A6}" dt="2026-05-13T11:22:02.699" v="33" actId="6549"/>
        <pc:sldMkLst>
          <pc:docMk/>
          <pc:sldMk cId="2341235472" sldId="306"/>
        </pc:sldMkLst>
      </pc:sldChg>
      <pc:sldChg chg="modSp mod">
        <pc:chgData name="Kitty Wong" userId="934a16c2-3b82-4a04-8cf4-72a5c39a78f6" providerId="ADAL" clId="{6624BDA5-5E62-4DCD-AC58-5D64DFC703A6}" dt="2026-05-13T11:20:52.251" v="29" actId="15"/>
        <pc:sldMkLst>
          <pc:docMk/>
          <pc:sldMk cId="375414724" sldId="312"/>
        </pc:sldMkLst>
        <pc:spChg chg="mod">
          <ac:chgData name="Kitty Wong" userId="934a16c2-3b82-4a04-8cf4-72a5c39a78f6" providerId="ADAL" clId="{6624BDA5-5E62-4DCD-AC58-5D64DFC703A6}" dt="2026-05-13T11:20:52.251" v="29" actId="15"/>
          <ac:spMkLst>
            <pc:docMk/>
            <pc:sldMk cId="375414724" sldId="312"/>
            <ac:spMk id="3" creationId="{578CFDF0-623A-26CB-8618-7AAA26707F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2026-05-13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4 fundamental types of DS – linear, hierarchical, hashes and graphs.</a:t>
            </a:r>
          </a:p>
          <a:p>
            <a:endParaRPr lang="en-US" dirty="0"/>
          </a:p>
          <a:p>
            <a:r>
              <a:rPr lang="en-US" dirty="0"/>
              <a:t>Linear are very useful and suitable in many applications… but as I’ve been mentioning throughout the last few weeks, there’s advantages and disadvantages to each!</a:t>
            </a:r>
          </a:p>
          <a:p>
            <a:endParaRPr lang="en-US" dirty="0"/>
          </a:p>
          <a:p>
            <a:r>
              <a:rPr lang="en-US" dirty="0"/>
              <a:t>But especially when we’re dealing with LARGE amount of data! Not just a few thousand… but hundreds of thousands/millions/billions… sometimes per second/minute!!! With linear DS – there’s always a O(n) somewhere! Arrays with insert/delete, LL with traversals… it’s just not good enough!</a:t>
            </a:r>
          </a:p>
          <a:p>
            <a:endParaRPr lang="en-US" dirty="0"/>
          </a:p>
          <a:p>
            <a:r>
              <a:rPr lang="en-US" dirty="0"/>
              <a:t>Things like computer graphics and animations, databases, routing algorithms (networking, GPS </a:t>
            </a:r>
            <a:r>
              <a:rPr lang="en-US" dirty="0" err="1"/>
              <a:t>etc</a:t>
            </a:r>
            <a:r>
              <a:rPr lang="en-US" dirty="0"/>
              <a:t>), we need something BETTER than O(n)… O(log n)!</a:t>
            </a:r>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D4D1-92E0-12F4-D780-A0B72C34C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B68B9-A3BE-82EA-9266-57BA04A99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8C8E8-9074-D04A-D67A-F802F0828A0D}"/>
              </a:ext>
            </a:extLst>
          </p:cNvPr>
          <p:cNvSpPr>
            <a:spLocks noGrp="1"/>
          </p:cNvSpPr>
          <p:nvPr>
            <p:ph type="body" idx="1"/>
          </p:nvPr>
        </p:nvSpPr>
        <p:spPr/>
        <p:txBody>
          <a:bodyPr/>
          <a:lstStyle/>
          <a:p>
            <a:r>
              <a:rPr lang="en-US" dirty="0"/>
              <a:t>Note that there are many different variations in the terminologies and definitions for trees! So be careful using any online resources because they may NOT match what we’re using in this course!</a:t>
            </a:r>
          </a:p>
        </p:txBody>
      </p:sp>
      <p:sp>
        <p:nvSpPr>
          <p:cNvPr id="4" name="Slide Number Placeholder 3">
            <a:extLst>
              <a:ext uri="{FF2B5EF4-FFF2-40B4-BE49-F238E27FC236}">
                <a16:creationId xmlns:a16="http://schemas.microsoft.com/office/drawing/2014/main" id="{586377FC-1ADB-F37C-9631-E1E310A8D660}"/>
              </a:ext>
            </a:extLst>
          </p:cNvPr>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2026629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352818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level of a node is relative to the root – e.g. node A is at level 1, node E is at level 3, node I is at level 4.</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1881260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dirty="0"/>
              <a:t>following the links, cannot somehow get back to the same node! (This is what makes trees/hierarchical DS different from graphs) == no link from child to parent!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2530290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2396467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defRPr/>
            </a:pPr>
            <a:r>
              <a:rPr lang="en-US" dirty="0"/>
              <a:t>If a binary tree is full, it is proper and balanced.</a:t>
            </a:r>
          </a:p>
          <a:p>
            <a:pPr marL="228600" indent="-228600">
              <a:buFont typeface="+mj-lt"/>
              <a:buAutoNum type="arabicPeriod"/>
              <a:defRPr/>
            </a:pPr>
            <a:r>
              <a:rPr lang="en-US" dirty="0"/>
              <a:t>If a binary tree is complete, it is balanced</a:t>
            </a:r>
            <a:r>
              <a:rPr lang="en-CA" dirty="0"/>
              <a:t>.</a:t>
            </a:r>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2976464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3265494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394755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can balance our trees, we need to organize it in a particular way!</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2383293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5/13/2026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5/13/2026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Hierarchical ADTs - Trees</a:t>
            </a:r>
          </a:p>
        </p:txBody>
      </p:sp>
      <p:sp>
        <p:nvSpPr>
          <p:cNvPr id="3" name="Subtitle 2"/>
          <p:cNvSpPr>
            <a:spLocks noGrp="1"/>
          </p:cNvSpPr>
          <p:nvPr>
            <p:ph type="subTitle" idx="1"/>
          </p:nvPr>
        </p:nvSpPr>
        <p:spPr/>
        <p:txBody>
          <a:bodyPr>
            <a:normAutofit/>
          </a:bodyPr>
          <a:lstStyle/>
          <a:p>
            <a:r>
              <a:rPr lang="en-US"/>
              <a:t>Unit </a:t>
            </a:r>
            <a:r>
              <a:rPr lang="en-US" dirty="0"/>
              <a:t>6</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2025</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C160-D077-99DE-041B-6B4A9E362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5BF14-D1EA-F857-B6E2-EA541A12B72D}"/>
              </a:ext>
            </a:extLst>
          </p:cNvPr>
          <p:cNvSpPr>
            <a:spLocks noGrp="1"/>
          </p:cNvSpPr>
          <p:nvPr>
            <p:ph type="title"/>
          </p:nvPr>
        </p:nvSpPr>
        <p:spPr/>
        <p:txBody>
          <a:bodyPr/>
          <a:lstStyle/>
          <a:p>
            <a:r>
              <a:rPr lang="en-US" dirty="0"/>
              <a:t>What We’ll Be Covering…</a:t>
            </a:r>
          </a:p>
        </p:txBody>
      </p:sp>
      <p:sp>
        <p:nvSpPr>
          <p:cNvPr id="3" name="Content Placeholder 2">
            <a:extLst>
              <a:ext uri="{FF2B5EF4-FFF2-40B4-BE49-F238E27FC236}">
                <a16:creationId xmlns:a16="http://schemas.microsoft.com/office/drawing/2014/main" id="{578CFDF0-623A-26CB-8618-7AAA26707F5A}"/>
              </a:ext>
            </a:extLst>
          </p:cNvPr>
          <p:cNvSpPr>
            <a:spLocks noGrp="1"/>
          </p:cNvSpPr>
          <p:nvPr>
            <p:ph idx="1"/>
          </p:nvPr>
        </p:nvSpPr>
        <p:spPr/>
        <p:txBody>
          <a:bodyPr>
            <a:normAutofit lnSpcReduction="10000"/>
          </a:bodyPr>
          <a:lstStyle/>
          <a:p>
            <a:pPr marL="514350" indent="-514350">
              <a:lnSpc>
                <a:spcPct val="80000"/>
              </a:lnSpc>
              <a:buFont typeface="+mj-lt"/>
              <a:buAutoNum type="alphaUcPeriod"/>
            </a:pPr>
            <a:r>
              <a:rPr lang="en-US" altLang="en-US" dirty="0"/>
              <a:t>General Trees</a:t>
            </a:r>
          </a:p>
          <a:p>
            <a:pPr lvl="1">
              <a:lnSpc>
                <a:spcPct val="80000"/>
              </a:lnSpc>
            </a:pPr>
            <a:r>
              <a:rPr lang="en-US" altLang="en-US" dirty="0"/>
              <a:t>Terminologies</a:t>
            </a:r>
          </a:p>
          <a:p>
            <a:pPr lvl="1">
              <a:lnSpc>
                <a:spcPct val="80000"/>
              </a:lnSpc>
            </a:pPr>
            <a:r>
              <a:rPr lang="en-US" altLang="en-US" dirty="0"/>
              <a:t>Binary Trees</a:t>
            </a:r>
          </a:p>
          <a:p>
            <a:pPr lvl="1">
              <a:lnSpc>
                <a:spcPct val="80000"/>
              </a:lnSpc>
            </a:pPr>
            <a:r>
              <a:rPr lang="en-US" altLang="en-US" dirty="0"/>
              <a:t>Binary Tree Properties</a:t>
            </a:r>
          </a:p>
          <a:p>
            <a:pPr lvl="6">
              <a:lnSpc>
                <a:spcPct val="80000"/>
              </a:lnSpc>
            </a:pPr>
            <a:endParaRPr lang="en-US" altLang="en-US" dirty="0"/>
          </a:p>
          <a:p>
            <a:pPr marL="514350" indent="-514350">
              <a:lnSpc>
                <a:spcPct val="80000"/>
              </a:lnSpc>
              <a:buFont typeface="+mj-lt"/>
              <a:buAutoNum type="alphaUcPeriod"/>
            </a:pPr>
            <a:r>
              <a:rPr lang="en-US" altLang="en-US" dirty="0"/>
              <a:t>Binary Trees</a:t>
            </a:r>
          </a:p>
          <a:p>
            <a:pPr lvl="1">
              <a:lnSpc>
                <a:spcPct val="80000"/>
              </a:lnSpc>
            </a:pPr>
            <a:r>
              <a:rPr lang="en-US" altLang="en-US" dirty="0"/>
              <a:t>Binary Search Trees</a:t>
            </a:r>
          </a:p>
          <a:p>
            <a:pPr lvl="1">
              <a:lnSpc>
                <a:spcPct val="80000"/>
              </a:lnSpc>
            </a:pPr>
            <a:r>
              <a:rPr lang="en-US" altLang="en-US" dirty="0"/>
              <a:t>Tree Traversals</a:t>
            </a:r>
          </a:p>
          <a:p>
            <a:pPr lvl="1">
              <a:lnSpc>
                <a:spcPct val="80000"/>
              </a:lnSpc>
            </a:pPr>
            <a:r>
              <a:rPr lang="en-US" altLang="en-US" dirty="0"/>
              <a:t>Binary Heaps</a:t>
            </a:r>
          </a:p>
          <a:p>
            <a:pPr lvl="6">
              <a:lnSpc>
                <a:spcPct val="80000"/>
              </a:lnSpc>
            </a:pPr>
            <a:endParaRPr lang="en-US" altLang="en-US" dirty="0"/>
          </a:p>
          <a:p>
            <a:pPr marL="514350" indent="-514350">
              <a:lnSpc>
                <a:spcPct val="80000"/>
              </a:lnSpc>
              <a:buFont typeface="+mj-lt"/>
              <a:buAutoNum type="alphaUcPeriod"/>
            </a:pPr>
            <a:r>
              <a:rPr lang="en-US" altLang="en-US" dirty="0"/>
              <a:t>Self-Balancing Trees</a:t>
            </a:r>
          </a:p>
          <a:p>
            <a:pPr lvl="1">
              <a:lnSpc>
                <a:spcPct val="80000"/>
              </a:lnSpc>
            </a:pPr>
            <a:r>
              <a:rPr lang="en-US" altLang="en-US" dirty="0"/>
              <a:t>AVL Trees</a:t>
            </a:r>
          </a:p>
        </p:txBody>
      </p:sp>
    </p:spTree>
    <p:extLst>
      <p:ext uri="{BB962C8B-B14F-4D97-AF65-F5344CB8AC3E}">
        <p14:creationId xmlns:p14="http://schemas.microsoft.com/office/powerpoint/2010/main" val="375414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dirty="0"/>
              <a:t>Everyday Trees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lstStyle/>
          <a:p>
            <a:r>
              <a:rPr lang="en-US" dirty="0"/>
              <a:t>Corporate organizational structures</a:t>
            </a:r>
          </a:p>
          <a:p>
            <a:r>
              <a:rPr lang="en-US" dirty="0"/>
              <a:t>Table of contents</a:t>
            </a:r>
          </a:p>
          <a:p>
            <a:r>
              <a:rPr lang="en-CA" dirty="0"/>
              <a:t>File system structures</a:t>
            </a:r>
          </a:p>
          <a:p>
            <a:r>
              <a:rPr lang="en-CA" dirty="0"/>
              <a:t>Etc.</a:t>
            </a:r>
          </a:p>
        </p:txBody>
      </p:sp>
      <p:pic>
        <p:nvPicPr>
          <p:cNvPr id="2050" name="Picture 2">
            <a:extLst>
              <a:ext uri="{FF2B5EF4-FFF2-40B4-BE49-F238E27FC236}">
                <a16:creationId xmlns:a16="http://schemas.microsoft.com/office/drawing/2014/main" id="{E6DAE32D-E076-435A-9463-61BCBDF26F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4319" y="1690688"/>
            <a:ext cx="3876676" cy="23955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565183B-50D7-4D95-B22B-9C5111BAD722}"/>
              </a:ext>
            </a:extLst>
          </p:cNvPr>
          <p:cNvPicPr>
            <a:picLocks noChangeAspect="1"/>
          </p:cNvPicPr>
          <p:nvPr/>
        </p:nvPicPr>
        <p:blipFill>
          <a:blip r:embed="rId4"/>
          <a:stretch>
            <a:fillRect/>
          </a:stretch>
        </p:blipFill>
        <p:spPr>
          <a:xfrm>
            <a:off x="8775382" y="4648199"/>
            <a:ext cx="2667000" cy="1514475"/>
          </a:xfrm>
          <a:prstGeom prst="rect">
            <a:avLst/>
          </a:prstGeom>
        </p:spPr>
      </p:pic>
      <p:pic>
        <p:nvPicPr>
          <p:cNvPr id="2052" name="Picture 4" descr="How to share a file via Microsoft OneDrive on Windows 10">
            <a:extLst>
              <a:ext uri="{FF2B5EF4-FFF2-40B4-BE49-F238E27FC236}">
                <a16:creationId xmlns:a16="http://schemas.microsoft.com/office/drawing/2014/main" id="{F15CC84A-5923-4A9D-8C97-9F7E03C2FB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2205" y="3473450"/>
            <a:ext cx="5314950"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329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a Tree?</a:t>
            </a:r>
            <a:endParaRPr lang="en-US" dirty="0"/>
          </a:p>
        </p:txBody>
      </p:sp>
      <p:sp>
        <p:nvSpPr>
          <p:cNvPr id="3" name="Content Placeholder 2"/>
          <p:cNvSpPr>
            <a:spLocks noGrp="1"/>
          </p:cNvSpPr>
          <p:nvPr>
            <p:ph idx="1"/>
          </p:nvPr>
        </p:nvSpPr>
        <p:spPr/>
        <p:txBody>
          <a:bodyPr>
            <a:normAutofit/>
          </a:bodyPr>
          <a:lstStyle/>
          <a:p>
            <a:pPr>
              <a:lnSpc>
                <a:spcPct val="80000"/>
              </a:lnSpc>
            </a:pPr>
            <a:r>
              <a:rPr lang="en-US" altLang="en-US" dirty="0"/>
              <a:t>A tree represents </a:t>
            </a:r>
            <a:r>
              <a:rPr lang="en-US" altLang="en-US" dirty="0">
                <a:latin typeface="Verdana" panose="020B0604030504040204" pitchFamily="34" charset="0"/>
                <a:ea typeface="Verdana" panose="020B0604030504040204" pitchFamily="34" charset="0"/>
              </a:rPr>
              <a:t>a hierarchical arrangement of data</a:t>
            </a:r>
          </a:p>
          <a:p>
            <a:pPr lvl="1">
              <a:lnSpc>
                <a:spcPct val="80000"/>
              </a:lnSpc>
            </a:pPr>
            <a:r>
              <a:rPr lang="en-US" altLang="en-US" dirty="0">
                <a:latin typeface="Verdana" panose="020B0604030504040204" pitchFamily="34" charset="0"/>
                <a:ea typeface="Verdana" panose="020B0604030504040204" pitchFamily="34" charset="0"/>
              </a:rPr>
              <a:t>Drawn with the root on top</a:t>
            </a:r>
          </a:p>
          <a:p>
            <a:pPr>
              <a:lnSpc>
                <a:spcPct val="80000"/>
              </a:lnSpc>
            </a:pPr>
            <a:r>
              <a:rPr lang="en-US" altLang="en-US" dirty="0">
                <a:latin typeface="Verdana" panose="020B0604030504040204" pitchFamily="34" charset="0"/>
                <a:ea typeface="Verdana" panose="020B0604030504040204" pitchFamily="34" charset="0"/>
              </a:rPr>
              <a:t>A tree represents relationships (parent-child)</a:t>
            </a:r>
          </a:p>
          <a:p>
            <a:pPr>
              <a:lnSpc>
                <a:spcPct val="80000"/>
              </a:lnSpc>
            </a:pPr>
            <a:r>
              <a:rPr lang="en-US" altLang="en-US" dirty="0">
                <a:latin typeface="Verdana" panose="020B0604030504040204" pitchFamily="34" charset="0"/>
                <a:ea typeface="Verdana" panose="020B0604030504040204" pitchFamily="34" charset="0"/>
              </a:rPr>
              <a:t>A tree has components named after natural trees</a:t>
            </a:r>
          </a:p>
          <a:p>
            <a:pPr lvl="1">
              <a:lnSpc>
                <a:spcPct val="80000"/>
              </a:lnSpc>
            </a:pPr>
            <a:r>
              <a:rPr lang="en-US" altLang="en-US" dirty="0">
                <a:latin typeface="Verdana" panose="020B0604030504040204" pitchFamily="34" charset="0"/>
                <a:ea typeface="Verdana" panose="020B0604030504040204" pitchFamily="34" charset="0"/>
              </a:rPr>
              <a:t>Root</a:t>
            </a:r>
          </a:p>
          <a:p>
            <a:pPr lvl="1">
              <a:lnSpc>
                <a:spcPct val="80000"/>
              </a:lnSpc>
            </a:pPr>
            <a:r>
              <a:rPr lang="en-US" altLang="en-US" dirty="0">
                <a:latin typeface="Verdana" panose="020B0604030504040204" pitchFamily="34" charset="0"/>
                <a:ea typeface="Verdana" panose="020B0604030504040204" pitchFamily="34" charset="0"/>
              </a:rPr>
              <a:t>Branches</a:t>
            </a:r>
          </a:p>
          <a:p>
            <a:pPr lvl="1">
              <a:lnSpc>
                <a:spcPct val="80000"/>
              </a:lnSpc>
            </a:pPr>
            <a:r>
              <a:rPr lang="en-US" altLang="en-US" dirty="0"/>
              <a:t>Leaves</a:t>
            </a:r>
          </a:p>
          <a:p>
            <a:pPr>
              <a:lnSpc>
                <a:spcPct val="80000"/>
              </a:lnSpc>
            </a:pPr>
            <a:r>
              <a:rPr lang="en-US" altLang="en-US" dirty="0"/>
              <a:t>Every element is a node</a:t>
            </a:r>
          </a:p>
          <a:p>
            <a:pPr>
              <a:lnSpc>
                <a:spcPct val="80000"/>
              </a:lnSpc>
            </a:pPr>
            <a:endParaRPr lang="en-US" altLang="en-US" dirty="0"/>
          </a:p>
          <a:p>
            <a:endParaRPr lang="en-US" dirty="0"/>
          </a:p>
        </p:txBody>
      </p:sp>
      <p:pic>
        <p:nvPicPr>
          <p:cNvPr id="1028" name="Picture 4">
            <a:extLst>
              <a:ext uri="{FF2B5EF4-FFF2-40B4-BE49-F238E27FC236}">
                <a16:creationId xmlns:a16="http://schemas.microsoft.com/office/drawing/2014/main" id="{FFB28ADD-1181-4FFD-BEDC-B4C6287DB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133" y="3587750"/>
            <a:ext cx="5164667"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699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CCD1C-B4BD-49A5-94E8-9D1EA3A806BA}"/>
              </a:ext>
            </a:extLst>
          </p:cNvPr>
          <p:cNvSpPr>
            <a:spLocks noGrp="1"/>
          </p:cNvSpPr>
          <p:nvPr>
            <p:ph type="title"/>
          </p:nvPr>
        </p:nvSpPr>
        <p:spPr/>
        <p:txBody>
          <a:bodyPr/>
          <a:lstStyle/>
          <a:p>
            <a:r>
              <a:rPr lang="en-US" dirty="0"/>
              <a:t>General Tree Terminology</a:t>
            </a:r>
            <a:endParaRPr lang="en-CA" dirty="0"/>
          </a:p>
        </p:txBody>
      </p:sp>
      <p:sp>
        <p:nvSpPr>
          <p:cNvPr id="3" name="Content Placeholder 2">
            <a:extLst>
              <a:ext uri="{FF2B5EF4-FFF2-40B4-BE49-F238E27FC236}">
                <a16:creationId xmlns:a16="http://schemas.microsoft.com/office/drawing/2014/main" id="{0787DDB4-6E0C-45DD-BB4C-7A93E679D872}"/>
              </a:ext>
            </a:extLst>
          </p:cNvPr>
          <p:cNvSpPr>
            <a:spLocks noGrp="1"/>
          </p:cNvSpPr>
          <p:nvPr>
            <p:ph idx="1"/>
          </p:nvPr>
        </p:nvSpPr>
        <p:spPr/>
        <p:txBody>
          <a:bodyPr/>
          <a:lstStyle/>
          <a:p>
            <a:endParaRPr lang="en-CA"/>
          </a:p>
        </p:txBody>
      </p:sp>
      <p:pic>
        <p:nvPicPr>
          <p:cNvPr id="6" name="Picture 5">
            <a:extLst>
              <a:ext uri="{FF2B5EF4-FFF2-40B4-BE49-F238E27FC236}">
                <a16:creationId xmlns:a16="http://schemas.microsoft.com/office/drawing/2014/main" id="{86A7E07F-095B-42B6-B050-12510D6A8161}"/>
              </a:ext>
            </a:extLst>
          </p:cNvPr>
          <p:cNvPicPr>
            <a:picLocks noChangeAspect="1"/>
          </p:cNvPicPr>
          <p:nvPr/>
        </p:nvPicPr>
        <p:blipFill>
          <a:blip r:embed="rId3"/>
          <a:stretch>
            <a:fillRect/>
          </a:stretch>
        </p:blipFill>
        <p:spPr>
          <a:xfrm>
            <a:off x="838200" y="1738948"/>
            <a:ext cx="10664391" cy="4483735"/>
          </a:xfrm>
          <a:prstGeom prst="rect">
            <a:avLst/>
          </a:prstGeom>
        </p:spPr>
      </p:pic>
    </p:spTree>
    <p:extLst>
      <p:ext uri="{BB962C8B-B14F-4D97-AF65-F5344CB8AC3E}">
        <p14:creationId xmlns:p14="http://schemas.microsoft.com/office/powerpoint/2010/main" val="256498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EE0E5-9B98-42D4-8302-86F238D0BDA6}"/>
              </a:ext>
            </a:extLst>
          </p:cNvPr>
          <p:cNvSpPr>
            <a:spLocks noGrp="1"/>
          </p:cNvSpPr>
          <p:nvPr>
            <p:ph type="title"/>
          </p:nvPr>
        </p:nvSpPr>
        <p:spPr/>
        <p:txBody>
          <a:bodyPr/>
          <a:lstStyle/>
          <a:p>
            <a:r>
              <a:rPr lang="en-US" dirty="0"/>
              <a:t>General Tree Terminology</a:t>
            </a:r>
            <a:endParaRPr lang="en-CA" dirty="0"/>
          </a:p>
        </p:txBody>
      </p:sp>
      <p:sp>
        <p:nvSpPr>
          <p:cNvPr id="3" name="Content Placeholder 2">
            <a:extLst>
              <a:ext uri="{FF2B5EF4-FFF2-40B4-BE49-F238E27FC236}">
                <a16:creationId xmlns:a16="http://schemas.microsoft.com/office/drawing/2014/main" id="{94CC83BA-FC24-4C07-BA04-C265EA3FAFAB}"/>
              </a:ext>
            </a:extLst>
          </p:cNvPr>
          <p:cNvSpPr>
            <a:spLocks noGrp="1"/>
          </p:cNvSpPr>
          <p:nvPr>
            <p:ph idx="1"/>
          </p:nvPr>
        </p:nvSpPr>
        <p:spPr/>
        <p:txBody>
          <a:bodyPr>
            <a:normAutofit lnSpcReduction="10000"/>
          </a:bodyPr>
          <a:lstStyle/>
          <a:p>
            <a:r>
              <a:rPr lang="en-US" dirty="0"/>
              <a:t>The height/depth of a tree is the number of levels with nodes</a:t>
            </a:r>
          </a:p>
          <a:p>
            <a:pPr lvl="1"/>
            <a:r>
              <a:rPr lang="en-US" dirty="0"/>
              <a:t>An empty tree has height = 0</a:t>
            </a:r>
          </a:p>
          <a:p>
            <a:pPr lvl="1"/>
            <a:r>
              <a:rPr lang="en-US" dirty="0"/>
              <a:t>Tree on previous slide has height = 4</a:t>
            </a:r>
          </a:p>
          <a:p>
            <a:pPr lvl="1"/>
            <a:endParaRPr lang="en-US" dirty="0"/>
          </a:p>
          <a:p>
            <a:r>
              <a:rPr lang="en-US" dirty="0"/>
              <a:t>The size of a tree is the total number of nodes</a:t>
            </a:r>
          </a:p>
          <a:p>
            <a:pPr lvl="1"/>
            <a:r>
              <a:rPr lang="en-CA" dirty="0"/>
              <a:t>An empty tree has size = 0</a:t>
            </a:r>
          </a:p>
          <a:p>
            <a:pPr lvl="1"/>
            <a:r>
              <a:rPr lang="en-CA" dirty="0"/>
              <a:t>Tree on previous slide has size = 9</a:t>
            </a:r>
          </a:p>
          <a:p>
            <a:pPr lvl="1"/>
            <a:endParaRPr lang="en-CA" dirty="0"/>
          </a:p>
          <a:p>
            <a:r>
              <a:rPr lang="en-CA" dirty="0"/>
              <a:t>A node must have only one unique path from the root*</a:t>
            </a:r>
          </a:p>
          <a:p>
            <a:pPr lvl="1"/>
            <a:r>
              <a:rPr lang="en-CA" dirty="0"/>
              <a:t>No cycles!</a:t>
            </a:r>
          </a:p>
        </p:txBody>
      </p:sp>
    </p:spTree>
    <p:extLst>
      <p:ext uri="{BB962C8B-B14F-4D97-AF65-F5344CB8AC3E}">
        <p14:creationId xmlns:p14="http://schemas.microsoft.com/office/powerpoint/2010/main" val="2341235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B52E-8399-482D-8C1A-3380C7370054}"/>
              </a:ext>
            </a:extLst>
          </p:cNvPr>
          <p:cNvSpPr>
            <a:spLocks noGrp="1"/>
          </p:cNvSpPr>
          <p:nvPr>
            <p:ph type="title"/>
          </p:nvPr>
        </p:nvSpPr>
        <p:spPr/>
        <p:txBody>
          <a:bodyPr/>
          <a:lstStyle/>
          <a:p>
            <a:r>
              <a:rPr lang="en-US" dirty="0"/>
              <a:t>Binary Trees</a:t>
            </a:r>
            <a:endParaRPr lang="en-CA" dirty="0"/>
          </a:p>
        </p:txBody>
      </p:sp>
      <p:sp>
        <p:nvSpPr>
          <p:cNvPr id="3" name="Content Placeholder 2">
            <a:extLst>
              <a:ext uri="{FF2B5EF4-FFF2-40B4-BE49-F238E27FC236}">
                <a16:creationId xmlns:a16="http://schemas.microsoft.com/office/drawing/2014/main" id="{8C9B4F51-F838-48BD-ACED-479A87708F1B}"/>
              </a:ext>
            </a:extLst>
          </p:cNvPr>
          <p:cNvSpPr>
            <a:spLocks noGrp="1"/>
          </p:cNvSpPr>
          <p:nvPr>
            <p:ph idx="1"/>
          </p:nvPr>
        </p:nvSpPr>
        <p:spPr>
          <a:xfrm>
            <a:off x="838200" y="1825625"/>
            <a:ext cx="4534852" cy="4351338"/>
          </a:xfrm>
        </p:spPr>
        <p:txBody>
          <a:bodyPr>
            <a:normAutofit lnSpcReduction="10000"/>
          </a:bodyPr>
          <a:lstStyle/>
          <a:p>
            <a:r>
              <a:rPr lang="en-US" dirty="0"/>
              <a:t>A specific type of trees where each node can have </a:t>
            </a:r>
            <a:r>
              <a:rPr lang="en-US" i="1" dirty="0"/>
              <a:t>at most</a:t>
            </a:r>
            <a:r>
              <a:rPr lang="en-US" dirty="0"/>
              <a:t> 2 children</a:t>
            </a:r>
          </a:p>
          <a:p>
            <a:pPr lvl="1"/>
            <a:r>
              <a:rPr lang="en-US" dirty="0"/>
              <a:t>i.e. Can have 0, 1, or 2</a:t>
            </a:r>
          </a:p>
          <a:p>
            <a:pPr lvl="1"/>
            <a:r>
              <a:rPr lang="en-CA" dirty="0"/>
              <a:t>Left child and its descendants form the </a:t>
            </a:r>
            <a:r>
              <a:rPr lang="en-CA" i="1" dirty="0"/>
              <a:t>left subtree</a:t>
            </a:r>
          </a:p>
          <a:p>
            <a:pPr lvl="1"/>
            <a:r>
              <a:rPr lang="en-CA" dirty="0"/>
              <a:t>Right child and its descendants for the </a:t>
            </a:r>
            <a:r>
              <a:rPr lang="en-CA" i="1" dirty="0"/>
              <a:t>right subtree</a:t>
            </a:r>
          </a:p>
          <a:p>
            <a:pPr lvl="2"/>
            <a:r>
              <a:rPr lang="en-CA" dirty="0"/>
              <a:t>Subtrees can be empty!</a:t>
            </a:r>
          </a:p>
        </p:txBody>
      </p:sp>
      <p:pic>
        <p:nvPicPr>
          <p:cNvPr id="5" name="Picture 4">
            <a:extLst>
              <a:ext uri="{FF2B5EF4-FFF2-40B4-BE49-F238E27FC236}">
                <a16:creationId xmlns:a16="http://schemas.microsoft.com/office/drawing/2014/main" id="{1222CC99-82CE-430F-84B5-A8F15EA5FF76}"/>
              </a:ext>
            </a:extLst>
          </p:cNvPr>
          <p:cNvPicPr>
            <a:picLocks noChangeAspect="1"/>
          </p:cNvPicPr>
          <p:nvPr/>
        </p:nvPicPr>
        <p:blipFill>
          <a:blip r:embed="rId3"/>
          <a:stretch>
            <a:fillRect/>
          </a:stretch>
        </p:blipFill>
        <p:spPr>
          <a:xfrm>
            <a:off x="5373052" y="2219484"/>
            <a:ext cx="6521322" cy="3563620"/>
          </a:xfrm>
          <a:prstGeom prst="rect">
            <a:avLst/>
          </a:prstGeom>
        </p:spPr>
      </p:pic>
    </p:spTree>
    <p:extLst>
      <p:ext uri="{BB962C8B-B14F-4D97-AF65-F5344CB8AC3E}">
        <p14:creationId xmlns:p14="http://schemas.microsoft.com/office/powerpoint/2010/main" val="334313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B551D-E291-47EE-94BA-B02E7237C6C9}"/>
              </a:ext>
            </a:extLst>
          </p:cNvPr>
          <p:cNvSpPr>
            <a:spLocks noGrp="1"/>
          </p:cNvSpPr>
          <p:nvPr>
            <p:ph type="title"/>
          </p:nvPr>
        </p:nvSpPr>
        <p:spPr/>
        <p:txBody>
          <a:bodyPr/>
          <a:lstStyle/>
          <a:p>
            <a:r>
              <a:rPr lang="en-US" altLang="en-US" dirty="0"/>
              <a:t>Binary Tree Properties</a:t>
            </a:r>
            <a:endParaRPr lang="en-CA" dirty="0"/>
          </a:p>
        </p:txBody>
      </p:sp>
      <p:sp>
        <p:nvSpPr>
          <p:cNvPr id="3" name="Content Placeholder 2">
            <a:extLst>
              <a:ext uri="{FF2B5EF4-FFF2-40B4-BE49-F238E27FC236}">
                <a16:creationId xmlns:a16="http://schemas.microsoft.com/office/drawing/2014/main" id="{6054DF21-F3A0-4438-BEA7-A17890E6D36D}"/>
              </a:ext>
            </a:extLst>
          </p:cNvPr>
          <p:cNvSpPr>
            <a:spLocks noGrp="1"/>
          </p:cNvSpPr>
          <p:nvPr>
            <p:ph idx="1"/>
          </p:nvPr>
        </p:nvSpPr>
        <p:spPr/>
        <p:txBody>
          <a:bodyPr/>
          <a:lstStyle/>
          <a:p>
            <a:r>
              <a:rPr lang="en-US" altLang="en-US" dirty="0"/>
              <a:t>A binary tree is </a:t>
            </a:r>
            <a:r>
              <a:rPr lang="en-US" altLang="en-US" b="1" dirty="0"/>
              <a:t>balanced</a:t>
            </a:r>
            <a:r>
              <a:rPr lang="en-US" altLang="en-US" dirty="0"/>
              <a:t> if the height of every node’s right subtree differs from the height of the same node’s left subtree by no more than 1</a:t>
            </a:r>
          </a:p>
          <a:p>
            <a:r>
              <a:rPr lang="en-US" altLang="en-US" dirty="0"/>
              <a:t>A binary tree is </a:t>
            </a:r>
            <a:r>
              <a:rPr lang="en-US" altLang="en-US" b="1" dirty="0"/>
              <a:t>proper</a:t>
            </a:r>
            <a:r>
              <a:rPr lang="en-US" altLang="en-US" dirty="0"/>
              <a:t> each node has either 0 or 2 children</a:t>
            </a:r>
          </a:p>
          <a:p>
            <a:r>
              <a:rPr lang="en-US" altLang="en-US" dirty="0"/>
              <a:t>A binary tree of height </a:t>
            </a:r>
            <a:r>
              <a:rPr lang="en-US" altLang="en-US" i="1" dirty="0"/>
              <a:t>h</a:t>
            </a:r>
            <a:r>
              <a:rPr lang="en-US" altLang="en-US" dirty="0"/>
              <a:t> is </a:t>
            </a:r>
            <a:r>
              <a:rPr lang="en-US" altLang="en-US" b="1" dirty="0"/>
              <a:t>full</a:t>
            </a:r>
            <a:r>
              <a:rPr lang="en-US" altLang="en-US" dirty="0"/>
              <a:t> if all leaves are at level </a:t>
            </a:r>
            <a:r>
              <a:rPr lang="en-US" altLang="en-US" i="1" dirty="0"/>
              <a:t>h</a:t>
            </a:r>
            <a:r>
              <a:rPr lang="en-US" altLang="en-US" dirty="0"/>
              <a:t> and all other nodes each have 2 children</a:t>
            </a:r>
          </a:p>
          <a:p>
            <a:r>
              <a:rPr lang="en-US" altLang="en-US" dirty="0"/>
              <a:t>A binary tree of height </a:t>
            </a:r>
            <a:r>
              <a:rPr lang="en-US" altLang="en-US" i="1" dirty="0"/>
              <a:t>h</a:t>
            </a:r>
            <a:r>
              <a:rPr lang="en-US" altLang="en-US" dirty="0"/>
              <a:t> is </a:t>
            </a:r>
            <a:r>
              <a:rPr lang="en-US" altLang="en-US" b="1" dirty="0"/>
              <a:t>complete</a:t>
            </a:r>
            <a:r>
              <a:rPr lang="en-US" altLang="en-US" dirty="0"/>
              <a:t> if it is full to level (</a:t>
            </a:r>
            <a:r>
              <a:rPr lang="en-US" altLang="en-US" i="1" dirty="0"/>
              <a:t>h</a:t>
            </a:r>
            <a:r>
              <a:rPr lang="en-US" altLang="en-US" dirty="0"/>
              <a:t>–1) and has level </a:t>
            </a:r>
            <a:r>
              <a:rPr lang="en-US" altLang="en-US" i="1" dirty="0"/>
              <a:t>h</a:t>
            </a:r>
            <a:r>
              <a:rPr lang="en-US" altLang="en-US" dirty="0"/>
              <a:t> filled from left to right</a:t>
            </a:r>
          </a:p>
          <a:p>
            <a:endParaRPr lang="en-US" altLang="en-US" sz="3200" dirty="0">
              <a:cs typeface="Times New Roman" panose="02020603050405020304" pitchFamily="18" charset="0"/>
            </a:endParaRPr>
          </a:p>
          <a:p>
            <a:endParaRPr lang="en-US" altLang="en-US" dirty="0"/>
          </a:p>
          <a:p>
            <a:endParaRPr lang="en-CA" dirty="0"/>
          </a:p>
        </p:txBody>
      </p:sp>
    </p:spTree>
    <p:extLst>
      <p:ext uri="{BB962C8B-B14F-4D97-AF65-F5344CB8AC3E}">
        <p14:creationId xmlns:p14="http://schemas.microsoft.com/office/powerpoint/2010/main" val="3260282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73F1-9F6B-4736-B959-BB529E7C0CBC}"/>
              </a:ext>
            </a:extLst>
          </p:cNvPr>
          <p:cNvSpPr>
            <a:spLocks noGrp="1"/>
          </p:cNvSpPr>
          <p:nvPr>
            <p:ph type="title"/>
          </p:nvPr>
        </p:nvSpPr>
        <p:spPr/>
        <p:txBody>
          <a:bodyPr/>
          <a:lstStyle/>
          <a:p>
            <a:r>
              <a:rPr lang="en-US" dirty="0"/>
              <a:t>Is this a Binary Tree?</a:t>
            </a:r>
            <a:endParaRPr lang="en-CA" dirty="0"/>
          </a:p>
        </p:txBody>
      </p:sp>
      <p:sp>
        <p:nvSpPr>
          <p:cNvPr id="3" name="Content Placeholder 2">
            <a:extLst>
              <a:ext uri="{FF2B5EF4-FFF2-40B4-BE49-F238E27FC236}">
                <a16:creationId xmlns:a16="http://schemas.microsoft.com/office/drawing/2014/main" id="{12702089-77E0-427E-87B7-8CA365BD39F3}"/>
              </a:ext>
            </a:extLst>
          </p:cNvPr>
          <p:cNvSpPr>
            <a:spLocks noGrp="1"/>
          </p:cNvSpPr>
          <p:nvPr>
            <p:ph idx="1"/>
          </p:nvPr>
        </p:nvSpPr>
        <p:spPr>
          <a:xfrm>
            <a:off x="5974080" y="1825625"/>
            <a:ext cx="5379720" cy="4351338"/>
          </a:xfrm>
        </p:spPr>
        <p:txBody>
          <a:bodyPr/>
          <a:lstStyle/>
          <a:p>
            <a:r>
              <a:rPr lang="en-US" dirty="0"/>
              <a:t>Yes!</a:t>
            </a:r>
          </a:p>
          <a:p>
            <a:pPr lvl="1"/>
            <a:r>
              <a:rPr lang="en-US" dirty="0"/>
              <a:t>Very </a:t>
            </a:r>
            <a:r>
              <a:rPr lang="en-US" i="1" dirty="0"/>
              <a:t>ill-balanced</a:t>
            </a:r>
          </a:p>
          <a:p>
            <a:pPr lvl="1"/>
            <a:endParaRPr lang="en-US" i="1" dirty="0"/>
          </a:p>
          <a:p>
            <a:r>
              <a:rPr lang="en-US" dirty="0"/>
              <a:t>Looks just like a linked list!</a:t>
            </a:r>
          </a:p>
          <a:p>
            <a:pPr lvl="1"/>
            <a:r>
              <a:rPr lang="en-US" dirty="0"/>
              <a:t>Maximum height of an ill-balanced tree of size n can be n</a:t>
            </a:r>
          </a:p>
          <a:p>
            <a:pPr lvl="1"/>
            <a:r>
              <a:rPr lang="en-US" dirty="0"/>
              <a:t>Will perform like a linear data structure!</a:t>
            </a:r>
            <a:endParaRPr lang="en-CA" dirty="0"/>
          </a:p>
        </p:txBody>
      </p:sp>
      <p:pic>
        <p:nvPicPr>
          <p:cNvPr id="4" name="Picture 3">
            <a:extLst>
              <a:ext uri="{FF2B5EF4-FFF2-40B4-BE49-F238E27FC236}">
                <a16:creationId xmlns:a16="http://schemas.microsoft.com/office/drawing/2014/main" id="{BBE395F5-FEF2-4707-88E9-941C2BE9193C}"/>
              </a:ext>
            </a:extLst>
          </p:cNvPr>
          <p:cNvPicPr/>
          <p:nvPr/>
        </p:nvPicPr>
        <p:blipFill>
          <a:blip r:embed="rId3"/>
          <a:stretch>
            <a:fillRect/>
          </a:stretch>
        </p:blipFill>
        <p:spPr>
          <a:xfrm>
            <a:off x="838200" y="1825625"/>
            <a:ext cx="4907280" cy="4351338"/>
          </a:xfrm>
          <a:prstGeom prst="rect">
            <a:avLst/>
          </a:prstGeom>
        </p:spPr>
      </p:pic>
    </p:spTree>
    <p:extLst>
      <p:ext uri="{BB962C8B-B14F-4D97-AF65-F5344CB8AC3E}">
        <p14:creationId xmlns:p14="http://schemas.microsoft.com/office/powerpoint/2010/main" val="134955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7C8C1-C828-4957-BB50-463B555C9CD0}"/>
              </a:ext>
            </a:extLst>
          </p:cNvPr>
          <p:cNvSpPr>
            <a:spLocks noGrp="1"/>
          </p:cNvSpPr>
          <p:nvPr>
            <p:ph type="title"/>
          </p:nvPr>
        </p:nvSpPr>
        <p:spPr/>
        <p:txBody>
          <a:bodyPr/>
          <a:lstStyle/>
          <a:p>
            <a:r>
              <a:rPr lang="en-US" dirty="0"/>
              <a:t>Balanced Binary Trees</a:t>
            </a:r>
            <a:endParaRPr lang="en-CA" dirty="0"/>
          </a:p>
        </p:txBody>
      </p:sp>
      <p:sp>
        <p:nvSpPr>
          <p:cNvPr id="3" name="Content Placeholder 2">
            <a:extLst>
              <a:ext uri="{FF2B5EF4-FFF2-40B4-BE49-F238E27FC236}">
                <a16:creationId xmlns:a16="http://schemas.microsoft.com/office/drawing/2014/main" id="{F05E96FC-6AE8-49F3-A94E-6F3DE4F0375F}"/>
              </a:ext>
            </a:extLst>
          </p:cNvPr>
          <p:cNvSpPr>
            <a:spLocks noGrp="1"/>
          </p:cNvSpPr>
          <p:nvPr>
            <p:ph idx="1"/>
          </p:nvPr>
        </p:nvSpPr>
        <p:spPr/>
        <p:txBody>
          <a:bodyPr/>
          <a:lstStyle/>
          <a:p>
            <a:r>
              <a:rPr lang="en-US" dirty="0"/>
              <a:t>What is the maximum number of nodes for a binary tree of height 1? 2? 3? 4?</a:t>
            </a:r>
            <a:endParaRPr lang="en-CA" dirty="0"/>
          </a:p>
        </p:txBody>
      </p:sp>
      <p:pic>
        <p:nvPicPr>
          <p:cNvPr id="4" name="Picture 3">
            <a:extLst>
              <a:ext uri="{FF2B5EF4-FFF2-40B4-BE49-F238E27FC236}">
                <a16:creationId xmlns:a16="http://schemas.microsoft.com/office/drawing/2014/main" id="{7DBFF3BD-CA74-457D-A3DF-2AA5F421C7D8}"/>
              </a:ext>
            </a:extLst>
          </p:cNvPr>
          <p:cNvPicPr/>
          <p:nvPr/>
        </p:nvPicPr>
        <p:blipFill>
          <a:blip r:embed="rId3"/>
          <a:stretch>
            <a:fillRect/>
          </a:stretch>
        </p:blipFill>
        <p:spPr>
          <a:xfrm>
            <a:off x="1261110" y="2727959"/>
            <a:ext cx="9669780" cy="3449003"/>
          </a:xfrm>
          <a:prstGeom prst="rect">
            <a:avLst/>
          </a:prstGeom>
        </p:spPr>
      </p:pic>
    </p:spTree>
    <p:extLst>
      <p:ext uri="{BB962C8B-B14F-4D97-AF65-F5344CB8AC3E}">
        <p14:creationId xmlns:p14="http://schemas.microsoft.com/office/powerpoint/2010/main" val="2435806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38DF-1697-4C51-89DC-FF9E950F2751}"/>
              </a:ext>
            </a:extLst>
          </p:cNvPr>
          <p:cNvSpPr>
            <a:spLocks noGrp="1"/>
          </p:cNvSpPr>
          <p:nvPr>
            <p:ph type="title"/>
          </p:nvPr>
        </p:nvSpPr>
        <p:spPr/>
        <p:txBody>
          <a:bodyPr/>
          <a:lstStyle/>
          <a:p>
            <a:r>
              <a:rPr lang="en-US" dirty="0"/>
              <a:t>Balanced Binary Trees</a:t>
            </a:r>
            <a:endParaRPr lang="en-CA" dirty="0"/>
          </a:p>
        </p:txBody>
      </p:sp>
      <p:sp>
        <p:nvSpPr>
          <p:cNvPr id="3" name="Content Placeholder 2">
            <a:extLst>
              <a:ext uri="{FF2B5EF4-FFF2-40B4-BE49-F238E27FC236}">
                <a16:creationId xmlns:a16="http://schemas.microsoft.com/office/drawing/2014/main" id="{25347F80-0E5D-40A6-AD23-9943A4151E74}"/>
              </a:ext>
            </a:extLst>
          </p:cNvPr>
          <p:cNvSpPr>
            <a:spLocks noGrp="1"/>
          </p:cNvSpPr>
          <p:nvPr>
            <p:ph idx="1"/>
          </p:nvPr>
        </p:nvSpPr>
        <p:spPr/>
        <p:txBody>
          <a:bodyPr/>
          <a:lstStyle/>
          <a:p>
            <a:pPr>
              <a:lnSpc>
                <a:spcPct val="90000"/>
              </a:lnSpc>
            </a:pPr>
            <a:r>
              <a:rPr lang="en-US" altLang="en-US" sz="2800" dirty="0">
                <a:cs typeface="Times New Roman" panose="02020603050405020304" pitchFamily="18" charset="0"/>
              </a:rPr>
              <a:t>A balanced binary tree of height </a:t>
            </a:r>
            <a:r>
              <a:rPr lang="en-US" altLang="en-US" sz="2800" i="1" dirty="0">
                <a:cs typeface="Times New Roman" panose="02020603050405020304" pitchFamily="18" charset="0"/>
              </a:rPr>
              <a:t>h </a:t>
            </a:r>
            <a:r>
              <a:rPr lang="en-US" altLang="en-US" sz="2800" dirty="0">
                <a:cs typeface="Times New Roman" panose="02020603050405020304" pitchFamily="18" charset="0"/>
              </a:rPr>
              <a:t>has at least 2</a:t>
            </a:r>
            <a:r>
              <a:rPr lang="en-US" altLang="en-US" sz="2800" i="1" baseline="30000" dirty="0">
                <a:cs typeface="Times New Roman" panose="02020603050405020304" pitchFamily="18" charset="0"/>
              </a:rPr>
              <a:t>h-1</a:t>
            </a:r>
            <a:r>
              <a:rPr lang="en-US" altLang="en-US" sz="2800" dirty="0">
                <a:cs typeface="Times New Roman" panose="02020603050405020304" pitchFamily="18" charset="0"/>
              </a:rPr>
              <a:t> and at most 2</a:t>
            </a:r>
            <a:r>
              <a:rPr lang="en-US" altLang="en-US" sz="2800" i="1" baseline="30000" dirty="0">
                <a:cs typeface="Times New Roman" panose="02020603050405020304" pitchFamily="18" charset="0"/>
              </a:rPr>
              <a:t>h</a:t>
            </a:r>
            <a:r>
              <a:rPr lang="en-US" altLang="en-US" sz="2800" dirty="0">
                <a:cs typeface="Times New Roman" panose="02020603050405020304" pitchFamily="18" charset="0"/>
              </a:rPr>
              <a:t> – 1 nodes</a:t>
            </a:r>
          </a:p>
          <a:p>
            <a:pPr lvl="1"/>
            <a:r>
              <a:rPr lang="en-US" altLang="en-US" dirty="0">
                <a:cs typeface="Times New Roman" panose="02020603050405020304" pitchFamily="18" charset="0"/>
              </a:rPr>
              <a:t>Height of balanced binary tree of size </a:t>
            </a:r>
            <a:r>
              <a:rPr lang="en-US" altLang="en-US" i="1" dirty="0">
                <a:cs typeface="Times New Roman" panose="02020603050405020304" pitchFamily="18" charset="0"/>
              </a:rPr>
              <a:t>n</a:t>
            </a:r>
            <a:r>
              <a:rPr lang="en-US" altLang="en-US" dirty="0">
                <a:cs typeface="Times New Roman" panose="02020603050405020304" pitchFamily="18" charset="0"/>
              </a:rPr>
              <a:t>  =  floor(log</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i="1" dirty="0">
                <a:cs typeface="Times New Roman" panose="02020603050405020304" pitchFamily="18" charset="0"/>
              </a:rPr>
              <a:t>n</a:t>
            </a:r>
            <a:r>
              <a:rPr lang="en-US" altLang="en-US" dirty="0">
                <a:cs typeface="Times New Roman" panose="02020603050405020304" pitchFamily="18" charset="0"/>
              </a:rPr>
              <a:t>)+1</a:t>
            </a:r>
          </a:p>
          <a:p>
            <a:pPr lvl="1"/>
            <a:endParaRPr lang="en-US" altLang="en-US" dirty="0">
              <a:cs typeface="Times New Roman" panose="02020603050405020304" pitchFamily="18" charset="0"/>
            </a:endParaRPr>
          </a:p>
          <a:p>
            <a:r>
              <a:rPr lang="en-US" altLang="en-US" dirty="0">
                <a:cs typeface="Times New Roman" panose="02020603050405020304" pitchFamily="18" charset="0"/>
              </a:rPr>
              <a:t>Therefore, if a binary tree is balanced then access to any node will be O(log n)</a:t>
            </a:r>
          </a:p>
          <a:p>
            <a:pPr lvl="1"/>
            <a:r>
              <a:rPr lang="en-US" altLang="en-US" dirty="0">
                <a:cs typeface="Times New Roman" panose="02020603050405020304" pitchFamily="18" charset="0"/>
              </a:rPr>
              <a:t>For all searching, sorting, insertion and deletion operations!</a:t>
            </a:r>
          </a:p>
          <a:p>
            <a:pPr lvl="1"/>
            <a:endParaRPr lang="en-US" altLang="en-US" dirty="0">
              <a:cs typeface="Times New Roman" panose="02020603050405020304" pitchFamily="18" charset="0"/>
            </a:endParaRPr>
          </a:p>
          <a:p>
            <a:r>
              <a:rPr lang="en-US" altLang="en-US" dirty="0">
                <a:cs typeface="Times New Roman" panose="02020603050405020304" pitchFamily="18" charset="0"/>
              </a:rPr>
              <a:t>We want to make sure our binary trees are balanced at all times!</a:t>
            </a:r>
          </a:p>
        </p:txBody>
      </p:sp>
    </p:spTree>
    <p:extLst>
      <p:ext uri="{BB962C8B-B14F-4D97-AF65-F5344CB8AC3E}">
        <p14:creationId xmlns:p14="http://schemas.microsoft.com/office/powerpoint/2010/main" val="144435670"/>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16761</TotalTime>
  <Words>753</Words>
  <Application>Microsoft Office PowerPoint</Application>
  <PresentationFormat>Widescreen</PresentationFormat>
  <Paragraphs>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Verdana</vt:lpstr>
      <vt:lpstr>Office Theme</vt:lpstr>
      <vt:lpstr>Hierarchical ADTs - Trees</vt:lpstr>
      <vt:lpstr>What We’ll Be Covering…</vt:lpstr>
      <vt:lpstr>Everyday Trees</vt:lpstr>
      <vt:lpstr>What is a Tree?</vt:lpstr>
      <vt:lpstr>General Tree Terminology</vt:lpstr>
      <vt:lpstr>General Tree Terminology</vt:lpstr>
      <vt:lpstr>Binary Trees</vt:lpstr>
      <vt:lpstr>Binary Tree Properties</vt:lpstr>
      <vt:lpstr>Is this a Binary Tree?</vt:lpstr>
      <vt:lpstr>Balanced Binary Trees</vt:lpstr>
      <vt:lpstr>Balanced Binary Trees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141</cp:revision>
  <dcterms:created xsi:type="dcterms:W3CDTF">2016-04-05T14:17:30Z</dcterms:created>
  <dcterms:modified xsi:type="dcterms:W3CDTF">2026-05-13T11:22:03Z</dcterms:modified>
</cp:coreProperties>
</file>