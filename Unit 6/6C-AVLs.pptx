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8" r:id="rId2"/>
    <p:sldId id="266" r:id="rId3"/>
    <p:sldId id="304" r:id="rId4"/>
    <p:sldId id="305" r:id="rId5"/>
    <p:sldId id="306" r:id="rId6"/>
    <p:sldId id="307" r:id="rId7"/>
    <p:sldId id="308" r:id="rId8"/>
    <p:sldId id="309" r:id="rId9"/>
    <p:sldId id="330" r:id="rId10"/>
    <p:sldId id="310" r:id="rId11"/>
    <p:sldId id="311" r:id="rId12"/>
    <p:sldId id="312" r:id="rId13"/>
    <p:sldId id="313" r:id="rId14"/>
    <p:sldId id="314" r:id="rId15"/>
    <p:sldId id="315" r:id="rId16"/>
    <p:sldId id="317" r:id="rId17"/>
    <p:sldId id="318" r:id="rId18"/>
    <p:sldId id="319" r:id="rId19"/>
    <p:sldId id="320" r:id="rId20"/>
    <p:sldId id="321" r:id="rId21"/>
    <p:sldId id="322" r:id="rId22"/>
    <p:sldId id="316" r:id="rId23"/>
    <p:sldId id="324" r:id="rId24"/>
    <p:sldId id="323" r:id="rId25"/>
    <p:sldId id="325" r:id="rId26"/>
    <p:sldId id="326" r:id="rId27"/>
    <p:sldId id="327" r:id="rId28"/>
    <p:sldId id="329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874" autoAdjust="0"/>
    <p:restoredTop sz="56431" autoAdjust="0"/>
  </p:normalViewPr>
  <p:slideViewPr>
    <p:cSldViewPr snapToGrid="0" snapToObjects="1" showGuides="1">
      <p:cViewPr varScale="1">
        <p:scale>
          <a:sx n="61" d="100"/>
          <a:sy n="61" d="100"/>
        </p:scale>
        <p:origin x="132" y="7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42432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itty Wong" userId="934a16c2-3b82-4a04-8cf4-72a5c39a78f6" providerId="ADAL" clId="{6624BDA5-5E62-4DCD-AC58-5D64DFC703A6}"/>
    <pc:docChg chg="undo custSel delSld modSld">
      <pc:chgData name="Kitty Wong" userId="934a16c2-3b82-4a04-8cf4-72a5c39a78f6" providerId="ADAL" clId="{6624BDA5-5E62-4DCD-AC58-5D64DFC703A6}" dt="2026-08-26T05:00:43.251" v="409" actId="20577"/>
      <pc:docMkLst>
        <pc:docMk/>
      </pc:docMkLst>
      <pc:sldChg chg="modSp mod">
        <pc:chgData name="Kitty Wong" userId="934a16c2-3b82-4a04-8cf4-72a5c39a78f6" providerId="ADAL" clId="{6624BDA5-5E62-4DCD-AC58-5D64DFC703A6}" dt="2026-08-26T05:00:43.251" v="409" actId="20577"/>
        <pc:sldMkLst>
          <pc:docMk/>
          <pc:sldMk cId="712547841" sldId="258"/>
        </pc:sldMkLst>
        <pc:spChg chg="mod">
          <ac:chgData name="Kitty Wong" userId="934a16c2-3b82-4a04-8cf4-72a5c39a78f6" providerId="ADAL" clId="{6624BDA5-5E62-4DCD-AC58-5D64DFC703A6}" dt="2026-08-26T05:00:43.251" v="409" actId="20577"/>
          <ac:spMkLst>
            <pc:docMk/>
            <pc:sldMk cId="712547841" sldId="258"/>
            <ac:spMk id="4" creationId="{CE4D4B33-3A5F-4979-822B-8FAADD5E5A7F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7C5150-9119-490A-A216-3D2FA22F7FFC}" type="datetimeFigureOut">
              <a:rPr lang="en-CA" smtClean="0"/>
              <a:t>2026-08-25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DF01B0-FE71-4C35-BC11-34BCAF52C43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187155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DF01B0-FE71-4C35-BC11-34BCAF52C437}" type="slidenum">
              <a:rPr lang="en-CA" smtClean="0"/>
              <a:t>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844586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DF01B0-FE71-4C35-BC11-34BCAF52C437}" type="slidenum">
              <a:rPr lang="en-CA" smtClean="0"/>
              <a:t>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944976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 in A3 you can write the tree out using the in-order iterator and rebuild at minimum height.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DF01B0-FE71-4C35-BC11-34BCAF52C437}" type="slidenum">
              <a:rPr lang="en-CA" smtClean="0"/>
              <a:t>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846255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or left – right: doesn’t matter, we just need to know the difference!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DF01B0-FE71-4C35-BC11-34BCAF52C437}" type="slidenum">
              <a:rPr lang="en-CA" smtClean="0"/>
              <a:t>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030468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Any -1 can be treated as +1, the sign does NOT matter here!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DF01B0-FE71-4C35-BC11-34BCAF52C437}" type="slidenum">
              <a:rPr lang="en-CA" smtClean="0"/>
              <a:t>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916614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Same as before, the sign doesn’t matter! -2 == +2. -1 == +1.</a:t>
            </a:r>
          </a:p>
          <a:p>
            <a:endParaRPr lang="en-CA" dirty="0"/>
          </a:p>
          <a:p>
            <a:r>
              <a:rPr lang="en-CA" dirty="0"/>
              <a:t>As long as the number is &gt;1, then the node is not balanced!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DF01B0-FE71-4C35-BC11-34BCAF52C437}" type="slidenum">
              <a:rPr lang="en-CA" smtClean="0"/>
              <a:t>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47438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A, C, H, K (leave nodes) = 0</a:t>
            </a:r>
          </a:p>
          <a:p>
            <a:endParaRPr lang="en-CA" dirty="0"/>
          </a:p>
          <a:p>
            <a:r>
              <a:rPr lang="en-CA" dirty="0"/>
              <a:t>Going from bottom-up, left to right:</a:t>
            </a:r>
          </a:p>
          <a:p>
            <a:r>
              <a:rPr lang="en-CA" dirty="0"/>
              <a:t>I = 1</a:t>
            </a:r>
          </a:p>
          <a:p>
            <a:r>
              <a:rPr lang="en-CA" dirty="0"/>
              <a:t>J = 1</a:t>
            </a:r>
          </a:p>
          <a:p>
            <a:r>
              <a:rPr lang="en-CA" dirty="0"/>
              <a:t>E = 1</a:t>
            </a:r>
          </a:p>
          <a:p>
            <a:r>
              <a:rPr lang="en-CA" dirty="0"/>
              <a:t>G = 3</a:t>
            </a:r>
          </a:p>
          <a:p>
            <a:r>
              <a:rPr lang="en-CA" dirty="0"/>
              <a:t>B = 1</a:t>
            </a:r>
          </a:p>
          <a:p>
            <a:r>
              <a:rPr lang="en-CA" dirty="0"/>
              <a:t>M = 4</a:t>
            </a:r>
          </a:p>
          <a:p>
            <a:r>
              <a:rPr lang="en-CA" dirty="0"/>
              <a:t>F = 2</a:t>
            </a:r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DF01B0-FE71-4C35-BC11-34BCAF52C437}" type="slidenum">
              <a:rPr lang="en-CA" smtClean="0"/>
              <a:t>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142959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“self”-balancing = “programmed” </a:t>
            </a:r>
            <a:r>
              <a:rPr lang="en-US"/>
              <a:t>to re-balance = done by us!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DF01B0-FE71-4C35-BC11-34BCAF52C437}" type="slidenum">
              <a:rPr lang="en-CA" smtClean="0"/>
              <a:t>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075302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DF01B0-FE71-4C35-BC11-34BCAF52C437}" type="slidenum">
              <a:rPr lang="en-CA" smtClean="0"/>
              <a:t>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54377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Start with the new node and calculate the new balances of each ancestor node (parent, grandparent etc.)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DF01B0-FE71-4C35-BC11-34BCAF52C437}" type="slidenum">
              <a:rPr lang="en-CA" smtClean="0"/>
              <a:t>10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571204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 A: No pivot (still balanced)</a:t>
            </a:r>
          </a:p>
          <a:p>
            <a:endParaRPr lang="en-US" dirty="0"/>
          </a:p>
          <a:p>
            <a:r>
              <a:rPr lang="en-US"/>
              <a:t>Add 5: pivot = 20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DF01B0-FE71-4C35-BC11-34BCAF52C437}" type="slidenum">
              <a:rPr lang="en-CA" smtClean="0"/>
              <a:t>11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9076409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For 5 and 27 the pivot would be 30.</a:t>
            </a:r>
          </a:p>
          <a:p>
            <a:r>
              <a:rPr lang="en-US" altLang="en-US"/>
              <a:t>For 41 and </a:t>
            </a:r>
            <a:r>
              <a:rPr lang="en-US" altLang="en-US" dirty="0"/>
              <a:t>70 there would be no pivot.</a:t>
            </a:r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DF01B0-FE71-4C35-BC11-34BCAF52C437}" type="slidenum">
              <a:rPr lang="en-CA" smtClean="0"/>
              <a:t>12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3322953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Unaffected = balance did not change after adding the new node.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DF01B0-FE71-4C35-BC11-34BCAF52C437}" type="slidenum">
              <a:rPr lang="en-CA" smtClean="0"/>
              <a:t>13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4791602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It’ll be very obvious why they’re called these when you see it!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DF01B0-FE71-4C35-BC11-34BCAF52C437}" type="slidenum">
              <a:rPr lang="en-CA" smtClean="0"/>
              <a:t>14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9545191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DF01B0-FE71-4C35-BC11-34BCAF52C437}" type="slidenum">
              <a:rPr lang="en-CA" smtClean="0"/>
              <a:t>15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5252189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DF01B0-FE71-4C35-BC11-34BCAF52C437}" type="slidenum">
              <a:rPr lang="en-CA" smtClean="0"/>
              <a:t>16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5699644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 that 20 is unchanged and remains the left child of 50.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DF01B0-FE71-4C35-BC11-34BCAF52C437}" type="slidenum">
              <a:rPr lang="en-CA" smtClean="0"/>
              <a:t>17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3261352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https://visualgo.net/en/bst, click on “AVL tree” tab and check your </a:t>
            </a:r>
            <a:r>
              <a:rPr lang="en-CA"/>
              <a:t>answers!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DF01B0-FE71-4C35-BC11-34BCAF52C437}" type="slidenum">
              <a:rPr lang="en-CA" smtClean="0"/>
              <a:t>18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8021519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Still follow the same rules to do a left rotation – pivot will rotate to be the left child of bad son, but it already has a left child, what do we do with it?</a:t>
            </a:r>
          </a:p>
          <a:p>
            <a:r>
              <a:rPr lang="en-US" dirty="0"/>
              <a:t>- reminder: AVL is still BST! Note the value 60 is greater than pivot 50!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DF01B0-FE71-4C35-BC11-34BCAF52C437}" type="slidenum">
              <a:rPr lang="en-CA" smtClean="0"/>
              <a:t>19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543894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Note that 20 is unchanged and remains the left child of 50, and 90/95 remains on the right subtree on 80.</a:t>
            </a:r>
            <a:endParaRPr lang="en-CA" dirty="0"/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DF01B0-FE71-4C35-BC11-34BCAF52C437}" type="slidenum">
              <a:rPr lang="en-CA" smtClean="0"/>
              <a:t>20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450059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DF01B0-FE71-4C35-BC11-34BCAF52C437}" type="slidenum">
              <a:rPr lang="en-CA" smtClean="0"/>
              <a:t>21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3066454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 subtree is greater than X but less than Y. A and C remains unchanged.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DF01B0-FE71-4C35-BC11-34BCAF52C437}" type="slidenum">
              <a:rPr lang="en-CA" smtClean="0"/>
              <a:t>22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7822481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After 1</a:t>
            </a:r>
            <a:r>
              <a:rPr lang="en-US" baseline="30000" dirty="0"/>
              <a:t>st</a:t>
            </a:r>
            <a:r>
              <a:rPr lang="en-US" dirty="0"/>
              <a:t> rotation, it may help to recalculate balances and rename the nodes – so son becomes bad grandson, and new node is now bad son.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DF01B0-FE71-4C35-BC11-34BCAF52C437}" type="slidenum">
              <a:rPr lang="en-CA" smtClean="0"/>
              <a:t>23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2685641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After 1</a:t>
            </a:r>
            <a:r>
              <a:rPr lang="en-US" baseline="30000" dirty="0"/>
              <a:t>st</a:t>
            </a:r>
            <a:r>
              <a:rPr lang="en-US" dirty="0"/>
              <a:t> rotation – son becomes bad grandson and new node becomes bad son.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DF01B0-FE71-4C35-BC11-34BCAF52C437}" type="slidenum">
              <a:rPr lang="en-CA" smtClean="0"/>
              <a:t>24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1323364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DF01B0-FE71-4C35-BC11-34BCAF52C437}" type="slidenum">
              <a:rPr lang="en-CA" smtClean="0"/>
              <a:t>25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8740359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DF01B0-FE71-4C35-BC11-34BCAF52C437}" type="slidenum">
              <a:rPr lang="en-CA" smtClean="0"/>
              <a:t>26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4290076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Insert 60,50,90,80,95,70 into “create empty” on </a:t>
            </a:r>
            <a:r>
              <a:rPr lang="en-US" dirty="0" err="1"/>
              <a:t>visualgo</a:t>
            </a:r>
            <a:endParaRPr lang="en-CA" dirty="0"/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DF01B0-FE71-4C35-BC11-34BCAF52C437}" type="slidenum">
              <a:rPr lang="en-CA" smtClean="0"/>
              <a:t>27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8754283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DF01B0-FE71-4C35-BC11-34BCAF52C437}" type="slidenum">
              <a:rPr lang="en-CA" smtClean="0"/>
              <a:t>28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319204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22672" y="1122363"/>
            <a:ext cx="6845328" cy="2387600"/>
          </a:xfrm>
        </p:spPr>
        <p:txBody>
          <a:bodyPr anchor="b">
            <a:normAutofit/>
          </a:bodyPr>
          <a:lstStyle>
            <a:lvl1pPr algn="l">
              <a:defRPr sz="5400" b="1" i="0">
                <a:solidFill>
                  <a:schemeClr val="accent1"/>
                </a:solidFill>
                <a:latin typeface="Verdana" charset="0"/>
                <a:ea typeface="Verdana" charset="0"/>
                <a:cs typeface="Verdana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22672" y="3602038"/>
            <a:ext cx="6845328" cy="1655762"/>
          </a:xfrm>
        </p:spPr>
        <p:txBody>
          <a:bodyPr>
            <a:normAutofit/>
          </a:bodyPr>
          <a:lstStyle>
            <a:lvl1pPr marL="0" indent="0" algn="l">
              <a:buNone/>
              <a:defRPr sz="3000">
                <a:solidFill>
                  <a:schemeClr val="accent1"/>
                </a:solidFill>
                <a:latin typeface="Verdana" charset="0"/>
                <a:ea typeface="Verdana" charset="0"/>
                <a:cs typeface="Verdana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822672" y="6390216"/>
            <a:ext cx="1231900" cy="365125"/>
          </a:xfrm>
        </p:spPr>
        <p:txBody>
          <a:bodyPr anchor="b"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E4A6AB35-C22C-4755-9BC8-96579CB63199}" type="datetime1">
              <a:rPr lang="en-US" smtClean="0"/>
              <a:t>8/25/2026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77500" y="6390216"/>
            <a:ext cx="876300" cy="365125"/>
          </a:xfrm>
        </p:spPr>
        <p:txBody>
          <a:bodyPr anchor="b"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FDDB6027-878D-A249-A7C0-2BF119D95C8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 descr="sait_icon_wordmark_colour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" y="904252"/>
            <a:ext cx="3708372" cy="4718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22792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5400" b="1" i="0">
                <a:solidFill>
                  <a:schemeClr val="accent1"/>
                </a:solidFill>
                <a:latin typeface="Verdana" charset="0"/>
                <a:ea typeface="Verdana" charset="0"/>
                <a:cs typeface="Verdana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>
            <a:normAutofit/>
          </a:bodyPr>
          <a:lstStyle>
            <a:lvl1pPr marL="0" indent="0">
              <a:buNone/>
              <a:defRPr sz="3000">
                <a:solidFill>
                  <a:schemeClr val="accent6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822672" y="6390216"/>
            <a:ext cx="1231900" cy="365125"/>
          </a:xfrm>
        </p:spPr>
        <p:txBody>
          <a:bodyPr anchor="b"/>
          <a:lstStyle/>
          <a:p>
            <a:fld id="{3E21CB55-4C39-4DF9-B29B-0DDB979E079F}" type="datetime1">
              <a:rPr lang="en-US" smtClean="0"/>
              <a:t>8/25/2026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77500" y="6390216"/>
            <a:ext cx="876300" cy="365125"/>
          </a:xfrm>
        </p:spPr>
        <p:txBody>
          <a:bodyPr anchor="b"/>
          <a:lstStyle/>
          <a:p>
            <a:fld id="{FDDB6027-878D-A249-A7C0-2BF119D95C83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sait_icon_wordmark_colour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700" y="-27337"/>
            <a:ext cx="2311400" cy="2940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51102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822672" y="6390216"/>
            <a:ext cx="1231900" cy="365125"/>
          </a:xfrm>
        </p:spPr>
        <p:txBody>
          <a:bodyPr anchor="b"/>
          <a:lstStyle/>
          <a:p>
            <a:fld id="{E9DC3DE2-2DBA-41B6-ABDF-9E46BDE3E6CB}" type="datetime1">
              <a:rPr lang="en-US" smtClean="0"/>
              <a:t>8/25/2026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77500" y="6390216"/>
            <a:ext cx="876300" cy="365125"/>
          </a:xfrm>
        </p:spPr>
        <p:txBody>
          <a:bodyPr anchor="b"/>
          <a:lstStyle/>
          <a:p>
            <a:fld id="{FDDB6027-878D-A249-A7C0-2BF119D95C83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sait_icon_wordmark_horiz_colour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528" y="6176963"/>
            <a:ext cx="1650972" cy="681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06811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477500" y="6390216"/>
            <a:ext cx="876300" cy="365125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DDB6027-878D-A249-A7C0-2BF119D95C8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 b="0" i="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defRPr>
            </a:lvl1pPr>
          </a:lstStyle>
          <a:p>
            <a:r>
              <a:rPr lang="en-CA" dirty="0"/>
              <a:t>Headline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238" r="35724"/>
          <a:stretch/>
        </p:blipFill>
        <p:spPr>
          <a:xfrm>
            <a:off x="7118407" y="-21266"/>
            <a:ext cx="5066505" cy="5708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26684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477500" y="6390216"/>
            <a:ext cx="876300" cy="365125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DDB6027-878D-A249-A7C0-2BF119D95C8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CA"/>
              <a:t>Headline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238" r="35724"/>
          <a:stretch/>
        </p:blipFill>
        <p:spPr>
          <a:xfrm>
            <a:off x="7118407" y="-21266"/>
            <a:ext cx="5066505" cy="5708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61701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971621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alpha val="3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822672" y="6356350"/>
            <a:ext cx="1231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accent6"/>
                </a:solidFill>
                <a:latin typeface="Verdana" charset="0"/>
                <a:ea typeface="Verdana" charset="0"/>
                <a:cs typeface="Verdana" charset="0"/>
              </a:defRPr>
            </a:lvl1pPr>
          </a:lstStyle>
          <a:p>
            <a:fld id="{F0FE8BCE-6DE9-499B-B47E-840C645FA6F5}" type="datetime1">
              <a:rPr lang="en-US" smtClean="0"/>
              <a:t>8/25/2026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77500" y="6356350"/>
            <a:ext cx="876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6"/>
                </a:solidFill>
                <a:latin typeface="Verdana" charset="0"/>
                <a:ea typeface="Verdana" charset="0"/>
                <a:cs typeface="Verdana" charset="0"/>
              </a:defRPr>
            </a:lvl1pPr>
          </a:lstStyle>
          <a:p>
            <a:fld id="{FDDB6027-878D-A249-A7C0-2BF119D95C8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6694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0" r:id="rId3"/>
    <p:sldLayoutId id="2147483655" r:id="rId4"/>
    <p:sldLayoutId id="2147483657" r:id="rId5"/>
    <p:sldLayoutId id="2147483654" r:id="rId6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Verdana" charset="0"/>
          <a:ea typeface="Verdana" charset="0"/>
          <a:cs typeface="Verdana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Verdana" charset="0"/>
          <a:ea typeface="Verdana" charset="0"/>
          <a:cs typeface="Verdana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Verdana" charset="0"/>
          <a:ea typeface="Verdana" charset="0"/>
          <a:cs typeface="Verdana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Verdana" charset="0"/>
          <a:ea typeface="Verdana" charset="0"/>
          <a:cs typeface="Verdana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Verdana" charset="0"/>
          <a:ea typeface="Verdana" charset="0"/>
          <a:cs typeface="Verdana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Verdana" charset="0"/>
          <a:ea typeface="Verdana" charset="0"/>
          <a:cs typeface="Verdana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Self-balancing Trees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/>
              <a:t>Unit </a:t>
            </a:r>
            <a:r>
              <a:rPr lang="en-US" dirty="0"/>
              <a:t>6</a:t>
            </a:r>
          </a:p>
          <a:p>
            <a:r>
              <a:rPr lang="en-US" dirty="0"/>
              <a:t>CPRG304 – Object-Oriented Programming III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E4D4B33-3A5F-4979-822B-8FAADD5E5A7F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5232372" y="6390216"/>
            <a:ext cx="5435628" cy="365125"/>
          </a:xfrm>
          <a:prstGeom prst="rect">
            <a:avLst/>
          </a:prstGeom>
        </p:spPr>
        <p:txBody>
          <a:bodyPr/>
          <a:lstStyle/>
          <a:p>
            <a:pPr algn="r"/>
            <a:r>
              <a:rPr lang="en-US" dirty="0"/>
              <a:t>Kitty Wong © 2026</a:t>
            </a:r>
          </a:p>
        </p:txBody>
      </p:sp>
    </p:spTree>
    <p:extLst>
      <p:ext uri="{BB962C8B-B14F-4D97-AF65-F5344CB8AC3E}">
        <p14:creationId xmlns:p14="http://schemas.microsoft.com/office/powerpoint/2010/main" val="7125478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Balanced Trees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As you have seen, the performance of a tree is dependent on whether it is balanced</a:t>
            </a:r>
          </a:p>
          <a:p>
            <a:pPr lvl="1"/>
            <a:r>
              <a:rPr lang="en-US" dirty="0"/>
              <a:t>Ill-balanced: O(n)</a:t>
            </a:r>
          </a:p>
          <a:p>
            <a:pPr lvl="1"/>
            <a:r>
              <a:rPr lang="en-US" dirty="0"/>
              <a:t>Balanced: O(log n)</a:t>
            </a:r>
          </a:p>
          <a:p>
            <a:pPr lvl="3"/>
            <a:endParaRPr lang="en-US" dirty="0"/>
          </a:p>
          <a:p>
            <a:r>
              <a:rPr lang="en-US" dirty="0"/>
              <a:t>But every insertion and deletion operation will affect the balance of a tree</a:t>
            </a:r>
          </a:p>
          <a:p>
            <a:pPr lvl="3"/>
            <a:endParaRPr lang="en-US" dirty="0"/>
          </a:p>
          <a:p>
            <a:r>
              <a:rPr lang="en-US" dirty="0"/>
              <a:t>Thus we want to make sure the balance of the tree is maintained after each operation</a:t>
            </a:r>
          </a:p>
          <a:p>
            <a:pPr lvl="1"/>
            <a:r>
              <a:rPr lang="en-US" dirty="0"/>
              <a:t>Height of tree is keep to a minimum</a:t>
            </a:r>
          </a:p>
        </p:txBody>
      </p:sp>
    </p:spTree>
    <p:extLst>
      <p:ext uri="{BB962C8B-B14F-4D97-AF65-F5344CB8AC3E}">
        <p14:creationId xmlns:p14="http://schemas.microsoft.com/office/powerpoint/2010/main" val="23036999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18C6C-AC38-4201-A641-521C70A821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Balancing a Tree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7954D6-174B-453F-96C4-7B1E8E5672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en-US" dirty="0">
                <a:cs typeface="Times New Roman" panose="02020603050405020304" pitchFamily="18" charset="0"/>
              </a:rPr>
              <a:t>2 approaches:</a:t>
            </a:r>
          </a:p>
          <a:p>
            <a:pPr marL="914400" lvl="1" indent="-457200">
              <a:lnSpc>
                <a:spcPct val="90000"/>
              </a:lnSpc>
              <a:buFont typeface="+mj-lt"/>
              <a:buAutoNum type="arabicPeriod"/>
            </a:pPr>
            <a:r>
              <a:rPr lang="en-US" altLang="en-US" dirty="0">
                <a:cs typeface="Times New Roman" panose="02020603050405020304" pitchFamily="18" charset="0"/>
              </a:rPr>
              <a:t>Deconstruct the tree by aligning the nodes in an array and sort them using one of the efficient algorithms </a:t>
            </a:r>
          </a:p>
          <a:p>
            <a:pPr lvl="2"/>
            <a:r>
              <a:rPr lang="en-US" altLang="en-US" dirty="0">
                <a:cs typeface="Times New Roman" panose="02020603050405020304" pitchFamily="18" charset="0"/>
              </a:rPr>
              <a:t>Easy to implement</a:t>
            </a:r>
          </a:p>
          <a:p>
            <a:pPr lvl="2">
              <a:lnSpc>
                <a:spcPct val="90000"/>
              </a:lnSpc>
            </a:pPr>
            <a:r>
              <a:rPr lang="en-US" altLang="en-US" dirty="0">
                <a:cs typeface="Times New Roman" panose="02020603050405020304" pitchFamily="18" charset="0"/>
              </a:rPr>
              <a:t>Inefficient space-wise, also requires deconstructing and then reconstructing the tree = time-consuming!</a:t>
            </a:r>
          </a:p>
          <a:p>
            <a:pPr lvl="2">
              <a:lnSpc>
                <a:spcPct val="90000"/>
              </a:lnSpc>
            </a:pPr>
            <a:endParaRPr lang="en-US" altLang="en-US" dirty="0">
              <a:cs typeface="Times New Roman" panose="02020603050405020304" pitchFamily="18" charset="0"/>
            </a:endParaRPr>
          </a:p>
          <a:p>
            <a:pPr marL="914400" lvl="1" indent="-457200">
              <a:lnSpc>
                <a:spcPct val="90000"/>
              </a:lnSpc>
              <a:buFont typeface="+mj-lt"/>
              <a:buAutoNum type="arabicPeriod"/>
            </a:pPr>
            <a:r>
              <a:rPr lang="en-US" altLang="en-US" dirty="0">
                <a:cs typeface="Times New Roman" panose="02020603050405020304" pitchFamily="18" charset="0"/>
              </a:rPr>
              <a:t>Use a “self-balancing” tree algorithm</a:t>
            </a:r>
          </a:p>
          <a:p>
            <a:pPr lvl="2">
              <a:lnSpc>
                <a:spcPct val="90000"/>
              </a:lnSpc>
            </a:pPr>
            <a:r>
              <a:rPr lang="en-US" altLang="en-US" dirty="0">
                <a:cs typeface="Times New Roman" panose="02020603050405020304" pitchFamily="18" charset="0"/>
              </a:rPr>
              <a:t>Much less wasteful than the first approach</a:t>
            </a:r>
          </a:p>
          <a:p>
            <a:pPr lvl="2"/>
            <a:r>
              <a:rPr lang="en-US" altLang="en-US" dirty="0">
                <a:cs typeface="Times New Roman" panose="02020603050405020304" pitchFamily="18" charset="0"/>
              </a:rPr>
              <a:t>Requires each node to maintain a reference to its parent (small trade-off)</a:t>
            </a:r>
          </a:p>
          <a:p>
            <a:pPr lvl="2">
              <a:lnSpc>
                <a:spcPct val="90000"/>
              </a:lnSpc>
            </a:pPr>
            <a:r>
              <a:rPr lang="en-US" altLang="en-US" dirty="0">
                <a:cs typeface="Times New Roman" panose="02020603050405020304" pitchFamily="18" charset="0"/>
              </a:rPr>
              <a:t>Automatically re-balances the tree after each operation if needed</a:t>
            </a:r>
          </a:p>
        </p:txBody>
      </p:sp>
    </p:spTree>
    <p:extLst>
      <p:ext uri="{BB962C8B-B14F-4D97-AF65-F5344CB8AC3E}">
        <p14:creationId xmlns:p14="http://schemas.microsoft.com/office/powerpoint/2010/main" val="15213298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41479-0E26-458B-AA3A-F21A2AE6D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Balance of a Node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EAF764-CDAC-4DF1-8BE6-87FF7BA1D9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800" dirty="0"/>
              <a:t>The balance of a node is the height of the right sub-tree minus the height of the left sub-tree:</a:t>
            </a:r>
          </a:p>
          <a:p>
            <a:pPr lvl="2"/>
            <a:endParaRPr lang="en-US" altLang="en-US" dirty="0"/>
          </a:p>
          <a:p>
            <a:r>
              <a:rPr lang="en-US" altLang="en-US" sz="2800" dirty="0"/>
              <a:t>Balance(n) = right-height(n) - left-height(n)</a:t>
            </a:r>
          </a:p>
          <a:p>
            <a:pPr lvl="1"/>
            <a:r>
              <a:rPr lang="en-US" altLang="en-US" dirty="0"/>
              <a:t>Where n is some node in the tree</a:t>
            </a:r>
          </a:p>
          <a:p>
            <a:endParaRPr lang="en-CA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779CDD5-4C23-4DF9-837D-1A51FA7A3B09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2373788" y="4128135"/>
            <a:ext cx="7444423" cy="2048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93783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9F05F7-C454-4102-99F0-1B138A1E0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Balance of a Node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8FC69B-854C-4053-A378-F7034C0047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It’s important to identify the balance of each node to determine if the tree is balanced</a:t>
            </a:r>
            <a:endParaRPr lang="en-CA" dirty="0"/>
          </a:p>
        </p:txBody>
      </p:sp>
      <p:sp>
        <p:nvSpPr>
          <p:cNvPr id="15" name="Oval 8">
            <a:extLst>
              <a:ext uri="{FF2B5EF4-FFF2-40B4-BE49-F238E27FC236}">
                <a16:creationId xmlns:a16="http://schemas.microsoft.com/office/drawing/2014/main" id="{ED3A1C78-9282-4257-8CF3-CFC7E94273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600" y="3513932"/>
            <a:ext cx="609600" cy="609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6600"/>
              </a:buClr>
              <a:buChar char="•"/>
              <a:defRPr sz="3200">
                <a:solidFill>
                  <a:schemeClr val="tx1"/>
                </a:solidFill>
                <a:latin typeface="Futura MdCn BT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Char char="–"/>
              <a:defRPr sz="2800">
                <a:solidFill>
                  <a:schemeClr val="tx1"/>
                </a:solidFill>
                <a:latin typeface="Futura MdCn BT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00000"/>
              </a:buClr>
              <a:buChar char="•"/>
              <a:defRPr sz="2400">
                <a:solidFill>
                  <a:schemeClr val="tx1"/>
                </a:solidFill>
                <a:latin typeface="Futura MdCn BT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Futura MdCn BT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2400">
                <a:latin typeface="Futura Md BT" pitchFamily="34" charset="0"/>
              </a:rPr>
              <a:t>0</a:t>
            </a:r>
          </a:p>
        </p:txBody>
      </p:sp>
      <p:sp>
        <p:nvSpPr>
          <p:cNvPr id="16" name="Oval 11">
            <a:extLst>
              <a:ext uri="{FF2B5EF4-FFF2-40B4-BE49-F238E27FC236}">
                <a16:creationId xmlns:a16="http://schemas.microsoft.com/office/drawing/2014/main" id="{DCAF03DF-C90F-488B-ACCE-3D06D304FF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4504532"/>
            <a:ext cx="609600" cy="609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6600"/>
              </a:buClr>
              <a:buChar char="•"/>
              <a:defRPr sz="3200">
                <a:solidFill>
                  <a:schemeClr val="tx1"/>
                </a:solidFill>
                <a:latin typeface="Futura MdCn BT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Char char="–"/>
              <a:defRPr sz="2800">
                <a:solidFill>
                  <a:schemeClr val="tx1"/>
                </a:solidFill>
                <a:latin typeface="Futura MdCn BT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00000"/>
              </a:buClr>
              <a:buChar char="•"/>
              <a:defRPr sz="2400">
                <a:solidFill>
                  <a:schemeClr val="tx1"/>
                </a:solidFill>
                <a:latin typeface="Futura MdCn BT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Futura MdCn BT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2400">
                <a:latin typeface="Futura Md BT" pitchFamily="34" charset="0"/>
              </a:rPr>
              <a:t>0</a:t>
            </a:r>
          </a:p>
        </p:txBody>
      </p:sp>
      <p:sp>
        <p:nvSpPr>
          <p:cNvPr id="17" name="Oval 13">
            <a:extLst>
              <a:ext uri="{FF2B5EF4-FFF2-40B4-BE49-F238E27FC236}">
                <a16:creationId xmlns:a16="http://schemas.microsoft.com/office/drawing/2014/main" id="{9C7DBF82-BFB7-4699-B3BF-2C51A3DB02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4504532"/>
            <a:ext cx="609600" cy="609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6600"/>
              </a:buClr>
              <a:buChar char="•"/>
              <a:defRPr sz="3200">
                <a:solidFill>
                  <a:schemeClr val="tx1"/>
                </a:solidFill>
                <a:latin typeface="Futura MdCn BT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Char char="–"/>
              <a:defRPr sz="2800">
                <a:solidFill>
                  <a:schemeClr val="tx1"/>
                </a:solidFill>
                <a:latin typeface="Futura MdCn BT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00000"/>
              </a:buClr>
              <a:buChar char="•"/>
              <a:defRPr sz="2400">
                <a:solidFill>
                  <a:schemeClr val="tx1"/>
                </a:solidFill>
                <a:latin typeface="Futura MdCn BT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Futura MdCn BT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2400">
                <a:latin typeface="Futura Md BT" pitchFamily="34" charset="0"/>
              </a:rPr>
              <a:t>0</a:t>
            </a:r>
          </a:p>
        </p:txBody>
      </p:sp>
      <p:sp>
        <p:nvSpPr>
          <p:cNvPr id="18" name="Line 14">
            <a:extLst>
              <a:ext uri="{FF2B5EF4-FFF2-40B4-BE49-F238E27FC236}">
                <a16:creationId xmlns:a16="http://schemas.microsoft.com/office/drawing/2014/main" id="{931D25C4-8824-4937-B999-685AA5A4BE4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90800" y="4047332"/>
            <a:ext cx="3810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" name="Line 15">
            <a:extLst>
              <a:ext uri="{FF2B5EF4-FFF2-40B4-BE49-F238E27FC236}">
                <a16:creationId xmlns:a16="http://schemas.microsoft.com/office/drawing/2014/main" id="{0F79D424-6A14-418B-B8BC-97ABF07D59D1}"/>
              </a:ext>
            </a:extLst>
          </p:cNvPr>
          <p:cNvSpPr>
            <a:spLocks noChangeShapeType="1"/>
          </p:cNvSpPr>
          <p:nvPr/>
        </p:nvSpPr>
        <p:spPr bwMode="auto">
          <a:xfrm>
            <a:off x="3429000" y="4047332"/>
            <a:ext cx="3810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" name="Oval 16">
            <a:extLst>
              <a:ext uri="{FF2B5EF4-FFF2-40B4-BE49-F238E27FC236}">
                <a16:creationId xmlns:a16="http://schemas.microsoft.com/office/drawing/2014/main" id="{1DBD37D3-A21D-400B-B1BB-22126AD1BD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3522664"/>
            <a:ext cx="609600" cy="609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6600"/>
              </a:buClr>
              <a:buChar char="•"/>
              <a:defRPr sz="3200">
                <a:solidFill>
                  <a:schemeClr val="tx1"/>
                </a:solidFill>
                <a:latin typeface="Futura MdCn BT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Char char="–"/>
              <a:defRPr sz="2800">
                <a:solidFill>
                  <a:schemeClr val="tx1"/>
                </a:solidFill>
                <a:latin typeface="Futura MdCn BT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00000"/>
              </a:buClr>
              <a:buChar char="•"/>
              <a:defRPr sz="2400">
                <a:solidFill>
                  <a:schemeClr val="tx1"/>
                </a:solidFill>
                <a:latin typeface="Futura MdCn BT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Futura MdCn BT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2400" dirty="0">
                <a:latin typeface="Futura Md BT" pitchFamily="34" charset="0"/>
              </a:rPr>
              <a:t>-1</a:t>
            </a:r>
          </a:p>
        </p:txBody>
      </p:sp>
      <p:sp>
        <p:nvSpPr>
          <p:cNvPr id="21" name="Oval 17">
            <a:extLst>
              <a:ext uri="{FF2B5EF4-FFF2-40B4-BE49-F238E27FC236}">
                <a16:creationId xmlns:a16="http://schemas.microsoft.com/office/drawing/2014/main" id="{1A63D722-1DFD-41C9-B621-B7D16E728A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800" y="4504532"/>
            <a:ext cx="609600" cy="609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6600"/>
              </a:buClr>
              <a:buChar char="•"/>
              <a:defRPr sz="3200">
                <a:solidFill>
                  <a:schemeClr val="tx1"/>
                </a:solidFill>
                <a:latin typeface="Futura MdCn BT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Char char="–"/>
              <a:defRPr sz="2800">
                <a:solidFill>
                  <a:schemeClr val="tx1"/>
                </a:solidFill>
                <a:latin typeface="Futura MdCn BT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00000"/>
              </a:buClr>
              <a:buChar char="•"/>
              <a:defRPr sz="2400">
                <a:solidFill>
                  <a:schemeClr val="tx1"/>
                </a:solidFill>
                <a:latin typeface="Futura MdCn BT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Futura MdCn BT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2400">
                <a:latin typeface="Futura Md BT" pitchFamily="34" charset="0"/>
              </a:rPr>
              <a:t>0</a:t>
            </a:r>
          </a:p>
        </p:txBody>
      </p:sp>
      <p:sp>
        <p:nvSpPr>
          <p:cNvPr id="22" name="Line 18">
            <a:extLst>
              <a:ext uri="{FF2B5EF4-FFF2-40B4-BE49-F238E27FC236}">
                <a16:creationId xmlns:a16="http://schemas.microsoft.com/office/drawing/2014/main" id="{6BA3177C-588B-46B1-B77F-DEC176FC33D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791200" y="4073608"/>
            <a:ext cx="457200" cy="50712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" name="Oval 19">
            <a:extLst>
              <a:ext uri="{FF2B5EF4-FFF2-40B4-BE49-F238E27FC236}">
                <a16:creationId xmlns:a16="http://schemas.microsoft.com/office/drawing/2014/main" id="{0DC981D7-17A9-4A55-9BA0-308BDF9462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01000" y="3513932"/>
            <a:ext cx="609600" cy="609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6600"/>
              </a:buClr>
              <a:buChar char="•"/>
              <a:defRPr sz="3200">
                <a:solidFill>
                  <a:schemeClr val="tx1"/>
                </a:solidFill>
                <a:latin typeface="Futura MdCn BT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Char char="–"/>
              <a:defRPr sz="2800">
                <a:solidFill>
                  <a:schemeClr val="tx1"/>
                </a:solidFill>
                <a:latin typeface="Futura MdCn BT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00000"/>
              </a:buClr>
              <a:buChar char="•"/>
              <a:defRPr sz="2400">
                <a:solidFill>
                  <a:schemeClr val="tx1"/>
                </a:solidFill>
                <a:latin typeface="Futura MdCn BT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Futura MdCn BT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2400" dirty="0">
                <a:latin typeface="Futura Md BT" pitchFamily="34" charset="0"/>
              </a:rPr>
              <a:t>+1</a:t>
            </a:r>
          </a:p>
        </p:txBody>
      </p:sp>
      <p:sp>
        <p:nvSpPr>
          <p:cNvPr id="24" name="Oval 20">
            <a:extLst>
              <a:ext uri="{FF2B5EF4-FFF2-40B4-BE49-F238E27FC236}">
                <a16:creationId xmlns:a16="http://schemas.microsoft.com/office/drawing/2014/main" id="{2C75B1F2-9C7F-4602-9477-2B3135242E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39200" y="4504532"/>
            <a:ext cx="609600" cy="609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6600"/>
              </a:buClr>
              <a:buChar char="•"/>
              <a:defRPr sz="3200">
                <a:solidFill>
                  <a:schemeClr val="tx1"/>
                </a:solidFill>
                <a:latin typeface="Futura MdCn BT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Char char="–"/>
              <a:defRPr sz="2800">
                <a:solidFill>
                  <a:schemeClr val="tx1"/>
                </a:solidFill>
                <a:latin typeface="Futura MdCn BT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00000"/>
              </a:buClr>
              <a:buChar char="•"/>
              <a:defRPr sz="2400">
                <a:solidFill>
                  <a:schemeClr val="tx1"/>
                </a:solidFill>
                <a:latin typeface="Futura MdCn BT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Futura MdCn BT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2400">
                <a:latin typeface="Futura Md BT" pitchFamily="34" charset="0"/>
              </a:rPr>
              <a:t>0</a:t>
            </a:r>
          </a:p>
        </p:txBody>
      </p:sp>
      <p:sp>
        <p:nvSpPr>
          <p:cNvPr id="25" name="Line 21">
            <a:extLst>
              <a:ext uri="{FF2B5EF4-FFF2-40B4-BE49-F238E27FC236}">
                <a16:creationId xmlns:a16="http://schemas.microsoft.com/office/drawing/2014/main" id="{09106D49-AC62-4DF0-A13B-DD0D49A235A7}"/>
              </a:ext>
            </a:extLst>
          </p:cNvPr>
          <p:cNvSpPr>
            <a:spLocks noChangeShapeType="1"/>
          </p:cNvSpPr>
          <p:nvPr/>
        </p:nvSpPr>
        <p:spPr bwMode="auto">
          <a:xfrm>
            <a:off x="8534400" y="4073608"/>
            <a:ext cx="4572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7713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2A5473-ED18-46BC-9F43-5E0713927A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Balance of a Node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4C0132-0B11-4052-8F98-B7D4FE2AD6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5" name="Oval 7">
            <a:extLst>
              <a:ext uri="{FF2B5EF4-FFF2-40B4-BE49-F238E27FC236}">
                <a16:creationId xmlns:a16="http://schemas.microsoft.com/office/drawing/2014/main" id="{D5F24B9C-DA93-4A70-9C9A-98E6D08AEB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2806" y="1756558"/>
            <a:ext cx="609600" cy="609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6600"/>
              </a:buClr>
              <a:buChar char="•"/>
              <a:defRPr sz="3200">
                <a:solidFill>
                  <a:schemeClr val="tx1"/>
                </a:solidFill>
                <a:latin typeface="Futura MdCn BT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Char char="–"/>
              <a:defRPr sz="2800">
                <a:solidFill>
                  <a:schemeClr val="tx1"/>
                </a:solidFill>
                <a:latin typeface="Futura MdCn BT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00000"/>
              </a:buClr>
              <a:buChar char="•"/>
              <a:defRPr sz="2400">
                <a:solidFill>
                  <a:schemeClr val="tx1"/>
                </a:solidFill>
                <a:latin typeface="Futura MdCn BT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Futura MdCn BT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2400">
                <a:latin typeface="Futura Md BT" pitchFamily="34" charset="0"/>
              </a:rPr>
              <a:t>-2</a:t>
            </a:r>
          </a:p>
        </p:txBody>
      </p:sp>
      <p:sp>
        <p:nvSpPr>
          <p:cNvPr id="6" name="Oval 8">
            <a:extLst>
              <a:ext uri="{FF2B5EF4-FFF2-40B4-BE49-F238E27FC236}">
                <a16:creationId xmlns:a16="http://schemas.microsoft.com/office/drawing/2014/main" id="{911DFCCB-D088-4283-B30A-67334D4C56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4606" y="2594758"/>
            <a:ext cx="609600" cy="609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6600"/>
              </a:buClr>
              <a:buChar char="•"/>
              <a:defRPr sz="3200">
                <a:solidFill>
                  <a:schemeClr val="tx1"/>
                </a:solidFill>
                <a:latin typeface="Futura MdCn BT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Char char="–"/>
              <a:defRPr sz="2800">
                <a:solidFill>
                  <a:schemeClr val="tx1"/>
                </a:solidFill>
                <a:latin typeface="Futura MdCn BT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00000"/>
              </a:buClr>
              <a:buChar char="•"/>
              <a:defRPr sz="2400">
                <a:solidFill>
                  <a:schemeClr val="tx1"/>
                </a:solidFill>
                <a:latin typeface="Futura MdCn BT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Futura MdCn BT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2400">
                <a:latin typeface="Futura Md BT" pitchFamily="34" charset="0"/>
              </a:rPr>
              <a:t>-2</a:t>
            </a:r>
          </a:p>
        </p:txBody>
      </p:sp>
      <p:sp>
        <p:nvSpPr>
          <p:cNvPr id="7" name="Oval 9">
            <a:extLst>
              <a:ext uri="{FF2B5EF4-FFF2-40B4-BE49-F238E27FC236}">
                <a16:creationId xmlns:a16="http://schemas.microsoft.com/office/drawing/2014/main" id="{EBFF1B01-8E06-4476-9332-47531C92A9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64806" y="2747158"/>
            <a:ext cx="609600" cy="609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6600"/>
              </a:buClr>
              <a:buChar char="•"/>
              <a:defRPr sz="3200">
                <a:solidFill>
                  <a:schemeClr val="tx1"/>
                </a:solidFill>
                <a:latin typeface="Futura MdCn BT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Char char="–"/>
              <a:defRPr sz="2800">
                <a:solidFill>
                  <a:schemeClr val="tx1"/>
                </a:solidFill>
                <a:latin typeface="Futura MdCn BT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00000"/>
              </a:buClr>
              <a:buChar char="•"/>
              <a:defRPr sz="2400">
                <a:solidFill>
                  <a:schemeClr val="tx1"/>
                </a:solidFill>
                <a:latin typeface="Futura MdCn BT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Futura MdCn BT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2400">
                <a:latin typeface="Futura Md BT" pitchFamily="34" charset="0"/>
              </a:rPr>
              <a:t>0</a:t>
            </a:r>
          </a:p>
        </p:txBody>
      </p:sp>
      <p:sp>
        <p:nvSpPr>
          <p:cNvPr id="8" name="Line 10">
            <a:extLst>
              <a:ext uri="{FF2B5EF4-FFF2-40B4-BE49-F238E27FC236}">
                <a16:creationId xmlns:a16="http://schemas.microsoft.com/office/drawing/2014/main" id="{EE5AAFEA-EEB1-44D9-A990-5D973CC49F7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698006" y="2289958"/>
            <a:ext cx="3810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Line 11">
            <a:extLst>
              <a:ext uri="{FF2B5EF4-FFF2-40B4-BE49-F238E27FC236}">
                <a16:creationId xmlns:a16="http://schemas.microsoft.com/office/drawing/2014/main" id="{6C3D86EA-74FC-434B-9F14-1105FAB1BE64}"/>
              </a:ext>
            </a:extLst>
          </p:cNvPr>
          <p:cNvSpPr>
            <a:spLocks noChangeShapeType="1"/>
          </p:cNvSpPr>
          <p:nvPr/>
        </p:nvSpPr>
        <p:spPr bwMode="auto">
          <a:xfrm>
            <a:off x="2460006" y="2289958"/>
            <a:ext cx="4572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Oval 12">
            <a:extLst>
              <a:ext uri="{FF2B5EF4-FFF2-40B4-BE49-F238E27FC236}">
                <a16:creationId xmlns:a16="http://schemas.microsoft.com/office/drawing/2014/main" id="{645EA835-2A32-4EEA-9A8F-0B1D2CC72B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00860" y="1756558"/>
            <a:ext cx="609600" cy="609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6600"/>
              </a:buClr>
              <a:buChar char="•"/>
              <a:defRPr sz="3200">
                <a:solidFill>
                  <a:schemeClr val="tx1"/>
                </a:solidFill>
                <a:latin typeface="Futura MdCn BT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Char char="–"/>
              <a:defRPr sz="2800">
                <a:solidFill>
                  <a:schemeClr val="tx1"/>
                </a:solidFill>
                <a:latin typeface="Futura MdCn BT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00000"/>
              </a:buClr>
              <a:buChar char="•"/>
              <a:defRPr sz="2400">
                <a:solidFill>
                  <a:schemeClr val="tx1"/>
                </a:solidFill>
                <a:latin typeface="Futura MdCn BT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Futura MdCn BT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2400">
                <a:latin typeface="Futura Md BT" pitchFamily="34" charset="0"/>
              </a:rPr>
              <a:t>-1</a:t>
            </a:r>
          </a:p>
        </p:txBody>
      </p:sp>
      <p:sp>
        <p:nvSpPr>
          <p:cNvPr id="11" name="Oval 13">
            <a:extLst>
              <a:ext uri="{FF2B5EF4-FFF2-40B4-BE49-F238E27FC236}">
                <a16:creationId xmlns:a16="http://schemas.microsoft.com/office/drawing/2014/main" id="{6A4795AB-BB65-4244-8E97-CC5F24643F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69806" y="2591611"/>
            <a:ext cx="609600" cy="609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6600"/>
              </a:buClr>
              <a:buChar char="•"/>
              <a:defRPr sz="3200">
                <a:solidFill>
                  <a:schemeClr val="tx1"/>
                </a:solidFill>
                <a:latin typeface="Futura MdCn BT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Char char="–"/>
              <a:defRPr sz="2800">
                <a:solidFill>
                  <a:schemeClr val="tx1"/>
                </a:solidFill>
                <a:latin typeface="Futura MdCn BT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00000"/>
              </a:buClr>
              <a:buChar char="•"/>
              <a:defRPr sz="2400">
                <a:solidFill>
                  <a:schemeClr val="tx1"/>
                </a:solidFill>
                <a:latin typeface="Futura MdCn BT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Futura MdCn BT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2400">
                <a:latin typeface="Futura Md BT" pitchFamily="34" charset="0"/>
              </a:rPr>
              <a:t>-1</a:t>
            </a:r>
          </a:p>
        </p:txBody>
      </p:sp>
      <p:sp>
        <p:nvSpPr>
          <p:cNvPr id="12" name="Line 14">
            <a:extLst>
              <a:ext uri="{FF2B5EF4-FFF2-40B4-BE49-F238E27FC236}">
                <a16:creationId xmlns:a16="http://schemas.microsoft.com/office/drawing/2014/main" id="{A94A02A0-48AC-462A-9543-D4BF7F8E3B0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050806" y="2213758"/>
            <a:ext cx="350054" cy="39133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Oval 18">
            <a:extLst>
              <a:ext uri="{FF2B5EF4-FFF2-40B4-BE49-F238E27FC236}">
                <a16:creationId xmlns:a16="http://schemas.microsoft.com/office/drawing/2014/main" id="{A3375062-EDAA-48DA-B92B-8AA2EE3DF8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206" y="3509158"/>
            <a:ext cx="609600" cy="609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6600"/>
              </a:buClr>
              <a:buChar char="•"/>
              <a:defRPr sz="3200">
                <a:solidFill>
                  <a:schemeClr val="tx1"/>
                </a:solidFill>
                <a:latin typeface="Futura MdCn BT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Char char="–"/>
              <a:defRPr sz="2800">
                <a:solidFill>
                  <a:schemeClr val="tx1"/>
                </a:solidFill>
                <a:latin typeface="Futura MdCn BT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00000"/>
              </a:buClr>
              <a:buChar char="•"/>
              <a:defRPr sz="2400">
                <a:solidFill>
                  <a:schemeClr val="tx1"/>
                </a:solidFill>
                <a:latin typeface="Futura MdCn BT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Futura MdCn BT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2400">
                <a:latin typeface="Futura Md BT" pitchFamily="34" charset="0"/>
              </a:rPr>
              <a:t>1</a:t>
            </a:r>
          </a:p>
        </p:txBody>
      </p:sp>
      <p:sp>
        <p:nvSpPr>
          <p:cNvPr id="14" name="Oval 19">
            <a:extLst>
              <a:ext uri="{FF2B5EF4-FFF2-40B4-BE49-F238E27FC236}">
                <a16:creationId xmlns:a16="http://schemas.microsoft.com/office/drawing/2014/main" id="{B1CACE91-A210-4ABE-B784-DD199C9C5B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40806" y="4499758"/>
            <a:ext cx="609600" cy="609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6600"/>
              </a:buClr>
              <a:buChar char="•"/>
              <a:defRPr sz="3200">
                <a:solidFill>
                  <a:schemeClr val="tx1"/>
                </a:solidFill>
                <a:latin typeface="Futura MdCn BT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Char char="–"/>
              <a:defRPr sz="2800">
                <a:solidFill>
                  <a:schemeClr val="tx1"/>
                </a:solidFill>
                <a:latin typeface="Futura MdCn BT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00000"/>
              </a:buClr>
              <a:buChar char="•"/>
              <a:defRPr sz="2400">
                <a:solidFill>
                  <a:schemeClr val="tx1"/>
                </a:solidFill>
                <a:latin typeface="Futura MdCn BT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Futura MdCn BT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2400">
                <a:latin typeface="Futura Md BT" pitchFamily="34" charset="0"/>
              </a:rPr>
              <a:t>0</a:t>
            </a:r>
          </a:p>
        </p:txBody>
      </p:sp>
      <p:sp>
        <p:nvSpPr>
          <p:cNvPr id="15" name="Line 20">
            <a:extLst>
              <a:ext uri="{FF2B5EF4-FFF2-40B4-BE49-F238E27FC236}">
                <a16:creationId xmlns:a16="http://schemas.microsoft.com/office/drawing/2014/main" id="{75874CB9-7C72-407B-85B5-FFBED30796E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88406" y="3204358"/>
            <a:ext cx="2286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" name="Line 21">
            <a:extLst>
              <a:ext uri="{FF2B5EF4-FFF2-40B4-BE49-F238E27FC236}">
                <a16:creationId xmlns:a16="http://schemas.microsoft.com/office/drawing/2014/main" id="{29691304-524D-49FB-B8F0-E30A74298E11}"/>
              </a:ext>
            </a:extLst>
          </p:cNvPr>
          <p:cNvSpPr>
            <a:spLocks noChangeShapeType="1"/>
          </p:cNvSpPr>
          <p:nvPr/>
        </p:nvSpPr>
        <p:spPr bwMode="auto">
          <a:xfrm>
            <a:off x="1088406" y="4118758"/>
            <a:ext cx="3048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" name="Oval 22">
            <a:extLst>
              <a:ext uri="{FF2B5EF4-FFF2-40B4-BE49-F238E27FC236}">
                <a16:creationId xmlns:a16="http://schemas.microsoft.com/office/drawing/2014/main" id="{74D00DF6-FB42-48E0-A054-10E98366D0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80527" y="2594758"/>
            <a:ext cx="609600" cy="609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6600"/>
              </a:buClr>
              <a:buChar char="•"/>
              <a:defRPr sz="3200">
                <a:solidFill>
                  <a:schemeClr val="tx1"/>
                </a:solidFill>
                <a:latin typeface="Futura MdCn BT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Char char="–"/>
              <a:defRPr sz="2800">
                <a:solidFill>
                  <a:schemeClr val="tx1"/>
                </a:solidFill>
                <a:latin typeface="Futura MdCn BT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00000"/>
              </a:buClr>
              <a:buChar char="•"/>
              <a:defRPr sz="2400">
                <a:solidFill>
                  <a:schemeClr val="tx1"/>
                </a:solidFill>
                <a:latin typeface="Futura MdCn BT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Futura MdCn BT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2400">
                <a:latin typeface="Futura Md BT" pitchFamily="34" charset="0"/>
              </a:rPr>
              <a:t>0</a:t>
            </a:r>
          </a:p>
        </p:txBody>
      </p:sp>
      <p:sp>
        <p:nvSpPr>
          <p:cNvPr id="18" name="Oval 23">
            <a:extLst>
              <a:ext uri="{FF2B5EF4-FFF2-40B4-BE49-F238E27FC236}">
                <a16:creationId xmlns:a16="http://schemas.microsoft.com/office/drawing/2014/main" id="{B7E4470B-E419-47CD-BE17-DCEA30B402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2909" y="3509158"/>
            <a:ext cx="609600" cy="609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6600"/>
              </a:buClr>
              <a:buChar char="•"/>
              <a:defRPr sz="3200">
                <a:solidFill>
                  <a:schemeClr val="tx1"/>
                </a:solidFill>
                <a:latin typeface="Futura MdCn BT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Char char="–"/>
              <a:defRPr sz="2800">
                <a:solidFill>
                  <a:schemeClr val="tx1"/>
                </a:solidFill>
                <a:latin typeface="Futura MdCn BT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00000"/>
              </a:buClr>
              <a:buChar char="•"/>
              <a:defRPr sz="2400">
                <a:solidFill>
                  <a:schemeClr val="tx1"/>
                </a:solidFill>
                <a:latin typeface="Futura MdCn BT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Futura MdCn BT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2400" dirty="0">
                <a:latin typeface="Futura Md BT" pitchFamily="34" charset="0"/>
              </a:rPr>
              <a:t>0</a:t>
            </a:r>
          </a:p>
        </p:txBody>
      </p:sp>
      <p:sp>
        <p:nvSpPr>
          <p:cNvPr id="19" name="Line 24">
            <a:extLst>
              <a:ext uri="{FF2B5EF4-FFF2-40B4-BE49-F238E27FC236}">
                <a16:creationId xmlns:a16="http://schemas.microsoft.com/office/drawing/2014/main" id="{5D1E8E73-ED16-4DA5-8E38-E9A7C6AFD5A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480327" y="3145648"/>
            <a:ext cx="314582" cy="36351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" name="Line 25">
            <a:extLst>
              <a:ext uri="{FF2B5EF4-FFF2-40B4-BE49-F238E27FC236}">
                <a16:creationId xmlns:a16="http://schemas.microsoft.com/office/drawing/2014/main" id="{54456300-CC84-4716-9ABD-3D08F70A02B5}"/>
              </a:ext>
            </a:extLst>
          </p:cNvPr>
          <p:cNvSpPr>
            <a:spLocks noChangeShapeType="1"/>
          </p:cNvSpPr>
          <p:nvPr/>
        </p:nvSpPr>
        <p:spPr bwMode="auto">
          <a:xfrm>
            <a:off x="6010460" y="2213758"/>
            <a:ext cx="350054" cy="39133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BB51C9F8-F6D6-470F-82CD-14BF5B3195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4041" y="3846787"/>
            <a:ext cx="6585819" cy="2646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53256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8C110-F484-41C3-8CF4-A44E24B0A8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E730CF-9629-4E36-9E40-3E783B952E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the balance of each node?</a:t>
            </a:r>
            <a:endParaRPr lang="en-CA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E855E34-559F-4C03-8D9F-5836A0EBC8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4115" y="2358431"/>
            <a:ext cx="528376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41308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28FE2-9F82-4C0F-92B5-E6079E9C38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AVL Trees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1FE6D3-8E03-4A40-AB6C-AA9E8A2AB7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Definition: a binary search tree where every node has a balance of -1, 0, or 1</a:t>
            </a:r>
          </a:p>
          <a:p>
            <a:pPr lvl="1"/>
            <a:r>
              <a:rPr lang="en-US" altLang="en-US" dirty="0"/>
              <a:t>Named after the inventors G. M. </a:t>
            </a:r>
            <a:r>
              <a:rPr lang="en-US" altLang="en-US" dirty="0" err="1"/>
              <a:t>Adel’son-Vel’skii</a:t>
            </a:r>
            <a:r>
              <a:rPr lang="en-US" altLang="en-US" dirty="0"/>
              <a:t> and E. M. Landis, who developed the idea in 1962</a:t>
            </a:r>
          </a:p>
          <a:p>
            <a:pPr lvl="1"/>
            <a:r>
              <a:rPr lang="en-CA" dirty="0"/>
              <a:t>First self-balancing tree invented</a:t>
            </a:r>
          </a:p>
          <a:p>
            <a:pPr lvl="1"/>
            <a:r>
              <a:rPr lang="en-CA" dirty="0"/>
              <a:t>If the tree is not balanced after an operation, re-balance the BST</a:t>
            </a:r>
          </a:p>
          <a:p>
            <a:pPr lvl="2"/>
            <a:endParaRPr lang="en-CA" dirty="0"/>
          </a:p>
          <a:p>
            <a:r>
              <a:rPr lang="en-CA" dirty="0"/>
              <a:t>Uses an idea called </a:t>
            </a:r>
            <a:r>
              <a:rPr lang="en-CA" b="1" dirty="0"/>
              <a:t>Rotations</a:t>
            </a:r>
          </a:p>
          <a:p>
            <a:pPr lvl="1"/>
            <a:r>
              <a:rPr lang="en-CA" dirty="0"/>
              <a:t>Changing the relationships between nodes</a:t>
            </a:r>
          </a:p>
        </p:txBody>
      </p:sp>
    </p:spTree>
    <p:extLst>
      <p:ext uri="{BB962C8B-B14F-4D97-AF65-F5344CB8AC3E}">
        <p14:creationId xmlns:p14="http://schemas.microsoft.com/office/powerpoint/2010/main" val="3319573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ECAB6C-DF63-4274-846B-99C343AC3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AVL Insertions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97308D-BF4E-4288-A10A-44C8C1D444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An AVL tree is a form of BSTs so insertion operations are exactly the same</a:t>
            </a:r>
          </a:p>
          <a:p>
            <a:pPr lvl="1"/>
            <a:r>
              <a:rPr lang="en-US" dirty="0"/>
              <a:t>Recall BSTs:</a:t>
            </a:r>
          </a:p>
          <a:p>
            <a:pPr lvl="2"/>
            <a:r>
              <a:rPr lang="en-CA" dirty="0"/>
              <a:t>All nodes in the left subtree, if not empty, contains elements less than or equals to the node element</a:t>
            </a:r>
          </a:p>
          <a:p>
            <a:pPr lvl="2"/>
            <a:r>
              <a:rPr lang="en-CA" dirty="0"/>
              <a:t>All nodes in the right subtree, if not empty, contains elements greater than the node element</a:t>
            </a:r>
          </a:p>
          <a:p>
            <a:pPr lvl="1"/>
            <a:r>
              <a:rPr lang="en-CA" dirty="0"/>
              <a:t>Recall BST Insertions:</a:t>
            </a:r>
          </a:p>
          <a:p>
            <a:pPr lvl="2"/>
            <a:r>
              <a:rPr lang="en-US" altLang="en-US" dirty="0">
                <a:cs typeface="Times New Roman" panose="02020603050405020304" pitchFamily="18" charset="0"/>
              </a:rPr>
              <a:t>To insert a new element into a BST, proceed as if searching for that element</a:t>
            </a:r>
          </a:p>
          <a:p>
            <a:pPr lvl="2"/>
            <a:endParaRPr lang="en-CA" altLang="en-US" dirty="0">
              <a:cs typeface="Times New Roman" panose="02020603050405020304" pitchFamily="18" charset="0"/>
            </a:endParaRPr>
          </a:p>
          <a:p>
            <a:r>
              <a:rPr lang="en-CA" altLang="en-US" dirty="0">
                <a:cs typeface="Times New Roman" panose="02020603050405020304" pitchFamily="18" charset="0"/>
              </a:rPr>
              <a:t>Since AVL are “self-balancing”, the key is what happens after an insertion operation!</a:t>
            </a:r>
            <a:endParaRPr lang="en-US" altLang="en-US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5219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9ED20-4810-48C7-A696-BD411B593C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Pivot Node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E1EA48-C389-48B4-80FA-6B3FAEA714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First step of rotations!</a:t>
            </a:r>
          </a:p>
          <a:p>
            <a:pPr lvl="1"/>
            <a:r>
              <a:rPr lang="en-US" dirty="0"/>
              <a:t>AVL trees adjusts the nodes based on the nature and position of the pivot node!</a:t>
            </a:r>
          </a:p>
          <a:p>
            <a:pPr lvl="5"/>
            <a:endParaRPr lang="en-US" dirty="0"/>
          </a:p>
          <a:p>
            <a:r>
              <a:rPr lang="en-US" dirty="0"/>
              <a:t>Definition: the ancestor node closest to the inserted node which is not in balance</a:t>
            </a:r>
          </a:p>
          <a:p>
            <a:pPr lvl="1"/>
            <a:r>
              <a:rPr lang="en-US" dirty="0"/>
              <a:t>i.e. not 0, -1, or +1</a:t>
            </a:r>
          </a:p>
          <a:p>
            <a:pPr lvl="4"/>
            <a:endParaRPr lang="en-CA" dirty="0"/>
          </a:p>
          <a:p>
            <a:r>
              <a:rPr lang="en-CA" dirty="0"/>
              <a:t>Identify the balance of each node bottom-up from the inserted node</a:t>
            </a:r>
          </a:p>
          <a:p>
            <a:pPr lvl="1"/>
            <a:r>
              <a:rPr lang="en-CA" dirty="0"/>
              <a:t>It is possible that there are no pivots after an operation</a:t>
            </a:r>
          </a:p>
        </p:txBody>
      </p:sp>
    </p:spTree>
    <p:extLst>
      <p:ext uri="{BB962C8B-B14F-4D97-AF65-F5344CB8AC3E}">
        <p14:creationId xmlns:p14="http://schemas.microsoft.com/office/powerpoint/2010/main" val="16768061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CBC779-621A-4906-8099-E7A892F5E4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Pivot Examples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ECCC96-10DD-4B01-B006-60607A710C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Add A:					Add 5: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CA" dirty="0"/>
              <a:t>							</a:t>
            </a:r>
            <a:endParaRPr lang="en-CA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EA561AC-DB67-4BBE-9B61-E86527D123A1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682354" y="2415145"/>
            <a:ext cx="2684736" cy="202770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5D0763A-D764-4336-8D5A-740D1FF0A234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7186532" y="2415145"/>
            <a:ext cx="3632474" cy="2964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83563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EF79F5-E6E6-4D04-ACBA-2BA3F9AC4D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Pivot Identification Exercise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26E3F8-F538-4157-B983-5924AA0A02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ct val="0"/>
              </a:spcBef>
            </a:pPr>
            <a:r>
              <a:rPr lang="en-US" altLang="en-US" dirty="0">
                <a:latin typeface="Verdana" panose="020B0604030504040204" pitchFamily="34" charset="0"/>
                <a:ea typeface="Verdana" panose="020B0604030504040204" pitchFamily="34" charset="0"/>
              </a:rPr>
              <a:t>What would the pivot be for each of the following insertions using this tree as the starting point? </a:t>
            </a:r>
          </a:p>
          <a:p>
            <a:pPr marL="0" indent="0">
              <a:spcBef>
                <a:spcPct val="0"/>
              </a:spcBef>
              <a:buNone/>
            </a:pPr>
            <a:r>
              <a:rPr lang="en-US" altLang="en-US" dirty="0">
                <a:latin typeface="Verdana" panose="020B0604030504040204" pitchFamily="34" charset="0"/>
                <a:ea typeface="Verdana" panose="020B0604030504040204" pitchFamily="34" charset="0"/>
              </a:rPr>
              <a:t>  5, 27, 41, 70</a:t>
            </a:r>
          </a:p>
          <a:p>
            <a:endParaRPr lang="en-CA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277DCDB-BF13-440C-A0AC-2329FEA31C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1400" y="2819400"/>
            <a:ext cx="609600" cy="5334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6600"/>
              </a:buClr>
              <a:buChar char="•"/>
              <a:defRPr sz="3200">
                <a:solidFill>
                  <a:schemeClr val="tx1"/>
                </a:solidFill>
                <a:latin typeface="Futura MdCn BT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Char char="–"/>
              <a:defRPr sz="2800">
                <a:solidFill>
                  <a:schemeClr val="tx1"/>
                </a:solidFill>
                <a:latin typeface="Futura MdCn BT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00000"/>
              </a:buClr>
              <a:buChar char="•"/>
              <a:defRPr sz="2400">
                <a:solidFill>
                  <a:schemeClr val="tx1"/>
                </a:solidFill>
                <a:latin typeface="Futura MdCn BT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Futura MdCn BT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2400">
                <a:latin typeface="Futura Md BT" pitchFamily="34" charset="0"/>
              </a:rPr>
              <a:t>40</a:t>
            </a:r>
            <a:r>
              <a:rPr lang="en-US" altLang="en-US" sz="2400" baseline="-25000">
                <a:latin typeface="Futura Md BT" pitchFamily="34" charset="0"/>
              </a:rPr>
              <a:t>-1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FC6A7631-2E33-4898-8439-666A52251F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0" y="4419600"/>
            <a:ext cx="609600" cy="5334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6600"/>
              </a:buClr>
              <a:buChar char="•"/>
              <a:defRPr sz="3200">
                <a:solidFill>
                  <a:schemeClr val="tx1"/>
                </a:solidFill>
                <a:latin typeface="Futura MdCn BT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Char char="–"/>
              <a:defRPr sz="2800">
                <a:solidFill>
                  <a:schemeClr val="tx1"/>
                </a:solidFill>
                <a:latin typeface="Futura MdCn BT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00000"/>
              </a:buClr>
              <a:buChar char="•"/>
              <a:defRPr sz="2400">
                <a:solidFill>
                  <a:schemeClr val="tx1"/>
                </a:solidFill>
                <a:latin typeface="Futura MdCn BT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Futura MdCn BT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2400">
                <a:latin typeface="Futura Md BT" pitchFamily="34" charset="0"/>
              </a:rPr>
              <a:t>20</a:t>
            </a:r>
            <a:r>
              <a:rPr lang="en-US" altLang="en-US" sz="2400" baseline="-25000">
                <a:latin typeface="Futura Md BT" pitchFamily="34" charset="0"/>
              </a:rPr>
              <a:t>0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663C500-A7F7-4476-AB2B-D58ED1D84B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58400" y="4495800"/>
            <a:ext cx="609600" cy="5334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6600"/>
              </a:buClr>
              <a:buChar char="•"/>
              <a:defRPr sz="3200">
                <a:solidFill>
                  <a:schemeClr val="tx1"/>
                </a:solidFill>
                <a:latin typeface="Futura MdCn BT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Char char="–"/>
              <a:defRPr sz="2800">
                <a:solidFill>
                  <a:schemeClr val="tx1"/>
                </a:solidFill>
                <a:latin typeface="Futura MdCn BT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00000"/>
              </a:buClr>
              <a:buChar char="•"/>
              <a:defRPr sz="2400">
                <a:solidFill>
                  <a:schemeClr val="tx1"/>
                </a:solidFill>
                <a:latin typeface="Futura MdCn BT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Futura MdCn BT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2400">
                <a:latin typeface="Futura Md BT" pitchFamily="34" charset="0"/>
              </a:rPr>
              <a:t>60</a:t>
            </a:r>
            <a:r>
              <a:rPr lang="en-US" altLang="en-US" sz="2400" baseline="-25000">
                <a:latin typeface="Futura Md BT" pitchFamily="34" charset="0"/>
              </a:rPr>
              <a:t>0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755D65C-5834-4989-87E0-8AD379721F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67800" y="3657600"/>
            <a:ext cx="609600" cy="5334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6600"/>
              </a:buClr>
              <a:buChar char="•"/>
              <a:defRPr sz="3200">
                <a:solidFill>
                  <a:schemeClr val="tx1"/>
                </a:solidFill>
                <a:latin typeface="Futura MdCn BT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Char char="–"/>
              <a:defRPr sz="2800">
                <a:solidFill>
                  <a:schemeClr val="tx1"/>
                </a:solidFill>
                <a:latin typeface="Futura MdCn BT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00000"/>
              </a:buClr>
              <a:buChar char="•"/>
              <a:defRPr sz="2400">
                <a:solidFill>
                  <a:schemeClr val="tx1"/>
                </a:solidFill>
                <a:latin typeface="Futura MdCn BT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Futura MdCn BT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2400">
                <a:latin typeface="Futura Md BT" pitchFamily="34" charset="0"/>
              </a:rPr>
              <a:t>50</a:t>
            </a:r>
            <a:r>
              <a:rPr lang="en-US" altLang="en-US" sz="2400" baseline="-25000">
                <a:latin typeface="Futura Md BT" pitchFamily="34" charset="0"/>
              </a:rPr>
              <a:t>0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495274B-A3A6-45C3-AC3F-8CF2C6FA84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0" y="3505200"/>
            <a:ext cx="609600" cy="5334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6600"/>
              </a:buClr>
              <a:buChar char="•"/>
              <a:defRPr sz="3200">
                <a:solidFill>
                  <a:schemeClr val="tx1"/>
                </a:solidFill>
                <a:latin typeface="Futura MdCn BT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Char char="–"/>
              <a:defRPr sz="2800">
                <a:solidFill>
                  <a:schemeClr val="tx1"/>
                </a:solidFill>
                <a:latin typeface="Futura MdCn BT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00000"/>
              </a:buClr>
              <a:buChar char="•"/>
              <a:defRPr sz="2400">
                <a:solidFill>
                  <a:schemeClr val="tx1"/>
                </a:solidFill>
                <a:latin typeface="Futura MdCn BT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Futura MdCn BT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2400">
                <a:latin typeface="Futura Md BT" pitchFamily="34" charset="0"/>
              </a:rPr>
              <a:t>30</a:t>
            </a:r>
            <a:r>
              <a:rPr lang="en-US" altLang="en-US" sz="2400" baseline="-25000">
                <a:latin typeface="Futura Md BT" pitchFamily="34" charset="0"/>
              </a:rPr>
              <a:t>-1</a:t>
            </a:r>
          </a:p>
        </p:txBody>
      </p:sp>
      <p:sp>
        <p:nvSpPr>
          <p:cNvPr id="9" name="Line 8">
            <a:extLst>
              <a:ext uri="{FF2B5EF4-FFF2-40B4-BE49-F238E27FC236}">
                <a16:creationId xmlns:a16="http://schemas.microsoft.com/office/drawing/2014/main" id="{6D3C7DCA-471D-4CA8-B4F5-F75D498C607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248400" y="3200400"/>
            <a:ext cx="11430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Line 9">
            <a:extLst>
              <a:ext uri="{FF2B5EF4-FFF2-40B4-BE49-F238E27FC236}">
                <a16:creationId xmlns:a16="http://schemas.microsoft.com/office/drawing/2014/main" id="{AF23FC32-8519-4391-B5D9-E028CD4E747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800600" y="3962400"/>
            <a:ext cx="9144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Line 10">
            <a:extLst>
              <a:ext uri="{FF2B5EF4-FFF2-40B4-BE49-F238E27FC236}">
                <a16:creationId xmlns:a16="http://schemas.microsoft.com/office/drawing/2014/main" id="{F3697712-C3F0-475B-B220-58F815EFBE02}"/>
              </a:ext>
            </a:extLst>
          </p:cNvPr>
          <p:cNvSpPr>
            <a:spLocks noChangeShapeType="1"/>
          </p:cNvSpPr>
          <p:nvPr/>
        </p:nvSpPr>
        <p:spPr bwMode="auto">
          <a:xfrm>
            <a:off x="8001000" y="3200400"/>
            <a:ext cx="11430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Line 11">
            <a:extLst>
              <a:ext uri="{FF2B5EF4-FFF2-40B4-BE49-F238E27FC236}">
                <a16:creationId xmlns:a16="http://schemas.microsoft.com/office/drawing/2014/main" id="{8784D99C-0442-40A1-AA98-7040F55A6091}"/>
              </a:ext>
            </a:extLst>
          </p:cNvPr>
          <p:cNvSpPr>
            <a:spLocks noChangeShapeType="1"/>
          </p:cNvSpPr>
          <p:nvPr/>
        </p:nvSpPr>
        <p:spPr bwMode="auto">
          <a:xfrm>
            <a:off x="9601200" y="4114800"/>
            <a:ext cx="5334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Oval 13">
            <a:extLst>
              <a:ext uri="{FF2B5EF4-FFF2-40B4-BE49-F238E27FC236}">
                <a16:creationId xmlns:a16="http://schemas.microsoft.com/office/drawing/2014/main" id="{66D45385-7361-4BBC-820A-2EA8C69C1A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800" y="5181600"/>
            <a:ext cx="609600" cy="5334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6600"/>
              </a:buClr>
              <a:buChar char="•"/>
              <a:defRPr sz="3200">
                <a:solidFill>
                  <a:schemeClr val="tx1"/>
                </a:solidFill>
                <a:latin typeface="Futura MdCn BT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Char char="–"/>
              <a:defRPr sz="2800">
                <a:solidFill>
                  <a:schemeClr val="tx1"/>
                </a:solidFill>
                <a:latin typeface="Futura MdCn BT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00000"/>
              </a:buClr>
              <a:buChar char="•"/>
              <a:defRPr sz="2400">
                <a:solidFill>
                  <a:schemeClr val="tx1"/>
                </a:solidFill>
                <a:latin typeface="Futura MdCn BT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Futura MdCn BT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2400">
                <a:latin typeface="Futura Md BT" pitchFamily="34" charset="0"/>
              </a:rPr>
              <a:t>25</a:t>
            </a:r>
            <a:r>
              <a:rPr lang="en-US" altLang="en-US" sz="2400" baseline="-25000">
                <a:latin typeface="Futura Md BT" pitchFamily="34" charset="0"/>
              </a:rPr>
              <a:t>0</a:t>
            </a:r>
          </a:p>
        </p:txBody>
      </p:sp>
      <p:sp>
        <p:nvSpPr>
          <p:cNvPr id="14" name="Oval 14">
            <a:extLst>
              <a:ext uri="{FF2B5EF4-FFF2-40B4-BE49-F238E27FC236}">
                <a16:creationId xmlns:a16="http://schemas.microsoft.com/office/drawing/2014/main" id="{1659E0A6-8D88-4001-8830-1745268778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5181600"/>
            <a:ext cx="609600" cy="5334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6600"/>
              </a:buClr>
              <a:buChar char="•"/>
              <a:defRPr sz="3200">
                <a:solidFill>
                  <a:schemeClr val="tx1"/>
                </a:solidFill>
                <a:latin typeface="Futura MdCn BT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Char char="–"/>
              <a:defRPr sz="2800">
                <a:solidFill>
                  <a:schemeClr val="tx1"/>
                </a:solidFill>
                <a:latin typeface="Futura MdCn BT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00000"/>
              </a:buClr>
              <a:buChar char="•"/>
              <a:defRPr sz="2400">
                <a:solidFill>
                  <a:schemeClr val="tx1"/>
                </a:solidFill>
                <a:latin typeface="Futura MdCn BT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Futura MdCn BT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2400">
                <a:latin typeface="Futura Md BT" pitchFamily="34" charset="0"/>
              </a:rPr>
              <a:t>10</a:t>
            </a:r>
            <a:r>
              <a:rPr lang="en-US" altLang="en-US" sz="2400" baseline="-25000">
                <a:latin typeface="Futura Md BT" pitchFamily="34" charset="0"/>
              </a:rPr>
              <a:t>0</a:t>
            </a:r>
          </a:p>
        </p:txBody>
      </p:sp>
      <p:sp>
        <p:nvSpPr>
          <p:cNvPr id="15" name="Line 15">
            <a:extLst>
              <a:ext uri="{FF2B5EF4-FFF2-40B4-BE49-F238E27FC236}">
                <a16:creationId xmlns:a16="http://schemas.microsoft.com/office/drawing/2014/main" id="{ADA24967-EC95-466C-9797-B25744C11E5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33800" y="4800600"/>
            <a:ext cx="5334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" name="Line 16">
            <a:extLst>
              <a:ext uri="{FF2B5EF4-FFF2-40B4-BE49-F238E27FC236}">
                <a16:creationId xmlns:a16="http://schemas.microsoft.com/office/drawing/2014/main" id="{CD3E81C0-EA67-454B-87DC-95015BD60E44}"/>
              </a:ext>
            </a:extLst>
          </p:cNvPr>
          <p:cNvSpPr>
            <a:spLocks noChangeShapeType="1"/>
          </p:cNvSpPr>
          <p:nvPr/>
        </p:nvSpPr>
        <p:spPr bwMode="auto">
          <a:xfrm>
            <a:off x="4800600" y="4800600"/>
            <a:ext cx="5334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" name="Oval 17">
            <a:extLst>
              <a:ext uri="{FF2B5EF4-FFF2-40B4-BE49-F238E27FC236}">
                <a16:creationId xmlns:a16="http://schemas.microsoft.com/office/drawing/2014/main" id="{615E9F79-AF31-40D6-848F-83037F4242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9600" y="4495800"/>
            <a:ext cx="609600" cy="5334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6600"/>
              </a:buClr>
              <a:buChar char="•"/>
              <a:defRPr sz="3200">
                <a:solidFill>
                  <a:schemeClr val="tx1"/>
                </a:solidFill>
                <a:latin typeface="Futura MdCn BT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Char char="–"/>
              <a:defRPr sz="2800">
                <a:solidFill>
                  <a:schemeClr val="tx1"/>
                </a:solidFill>
                <a:latin typeface="Futura MdCn BT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00000"/>
              </a:buClr>
              <a:buChar char="•"/>
              <a:defRPr sz="2400">
                <a:solidFill>
                  <a:schemeClr val="tx1"/>
                </a:solidFill>
                <a:latin typeface="Futura MdCn BT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Futura MdCn BT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2400">
                <a:latin typeface="Futura Md BT" pitchFamily="34" charset="0"/>
              </a:rPr>
              <a:t>45</a:t>
            </a:r>
            <a:r>
              <a:rPr lang="en-US" altLang="en-US" sz="2400" baseline="-25000">
                <a:latin typeface="Futura Md BT" pitchFamily="34" charset="0"/>
              </a:rPr>
              <a:t>0</a:t>
            </a:r>
          </a:p>
        </p:txBody>
      </p:sp>
      <p:sp>
        <p:nvSpPr>
          <p:cNvPr id="18" name="Line 18">
            <a:extLst>
              <a:ext uri="{FF2B5EF4-FFF2-40B4-BE49-F238E27FC236}">
                <a16:creationId xmlns:a16="http://schemas.microsoft.com/office/drawing/2014/main" id="{FF88F329-043C-4AF6-A2F8-85B78EA8E40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686800" y="4114800"/>
            <a:ext cx="4572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" name="Line 16">
            <a:extLst>
              <a:ext uri="{FF2B5EF4-FFF2-40B4-BE49-F238E27FC236}">
                <a16:creationId xmlns:a16="http://schemas.microsoft.com/office/drawing/2014/main" id="{1BEC422D-D0A8-4D1A-8079-5FFA238484C6}"/>
              </a:ext>
            </a:extLst>
          </p:cNvPr>
          <p:cNvSpPr>
            <a:spLocks noChangeShapeType="1"/>
          </p:cNvSpPr>
          <p:nvPr/>
        </p:nvSpPr>
        <p:spPr bwMode="auto">
          <a:xfrm>
            <a:off x="6248400" y="4038600"/>
            <a:ext cx="5334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" name="Oval 13">
            <a:extLst>
              <a:ext uri="{FF2B5EF4-FFF2-40B4-BE49-F238E27FC236}">
                <a16:creationId xmlns:a16="http://schemas.microsoft.com/office/drawing/2014/main" id="{2637098C-38A5-4E2F-8769-E27A2AEDBE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05600" y="4419600"/>
            <a:ext cx="609600" cy="5334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6600"/>
              </a:buClr>
              <a:buChar char="•"/>
              <a:defRPr sz="3200">
                <a:solidFill>
                  <a:schemeClr val="tx1"/>
                </a:solidFill>
                <a:latin typeface="Futura MdCn BT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Char char="–"/>
              <a:defRPr sz="2800">
                <a:solidFill>
                  <a:schemeClr val="tx1"/>
                </a:solidFill>
                <a:latin typeface="Futura MdCn BT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00000"/>
              </a:buClr>
              <a:buChar char="•"/>
              <a:defRPr sz="2400">
                <a:solidFill>
                  <a:schemeClr val="tx1"/>
                </a:solidFill>
                <a:latin typeface="Futura MdCn BT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Futura MdCn BT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utura MdCn BT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2400">
                <a:latin typeface="Futura Md BT" pitchFamily="34" charset="0"/>
              </a:rPr>
              <a:t>35</a:t>
            </a:r>
            <a:r>
              <a:rPr lang="en-US" altLang="en-US" sz="2400" baseline="-25000">
                <a:latin typeface="Futura Md BT" pitchFamily="34" charset="0"/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21432885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FE56B2-3F3F-4C02-AD76-5B7AD24D0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Other Nodes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243F58-79DE-42D1-8735-4E2B7BAA42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The rest of the nodes are defined in relations to the pivot</a:t>
            </a:r>
          </a:p>
          <a:p>
            <a:pPr lvl="1"/>
            <a:r>
              <a:rPr lang="en-US" dirty="0"/>
              <a:t>Ancestor/grandparent: parent of pivot</a:t>
            </a:r>
          </a:p>
          <a:p>
            <a:pPr lvl="1"/>
            <a:r>
              <a:rPr lang="en-US" dirty="0"/>
              <a:t>Son: children of pivot</a:t>
            </a:r>
          </a:p>
          <a:p>
            <a:pPr lvl="1"/>
            <a:r>
              <a:rPr lang="en-US" dirty="0"/>
              <a:t>Grandson: children of son</a:t>
            </a:r>
          </a:p>
          <a:p>
            <a:pPr lvl="1"/>
            <a:r>
              <a:rPr lang="en-US" dirty="0"/>
              <a:t>Great-grandson: children of grandson</a:t>
            </a:r>
          </a:p>
          <a:p>
            <a:pPr lvl="1"/>
            <a:r>
              <a:rPr lang="en-US" dirty="0"/>
              <a:t>Etc.</a:t>
            </a:r>
          </a:p>
          <a:p>
            <a:pPr lvl="1"/>
            <a:endParaRPr lang="en-US" dirty="0"/>
          </a:p>
          <a:p>
            <a:r>
              <a:rPr lang="en-US" dirty="0"/>
              <a:t>We will also need to differentiate the 2 possible children of each node</a:t>
            </a:r>
          </a:p>
          <a:p>
            <a:pPr lvl="1"/>
            <a:r>
              <a:rPr lang="en-US" dirty="0"/>
              <a:t>Good son: the child unaffected by the inserted node</a:t>
            </a:r>
          </a:p>
          <a:p>
            <a:pPr lvl="1"/>
            <a:r>
              <a:rPr lang="en-US" dirty="0"/>
              <a:t>Bad son: the child with the inserted node as its descendant</a:t>
            </a:r>
          </a:p>
          <a:p>
            <a:pPr lvl="2"/>
            <a:r>
              <a:rPr lang="en-US" dirty="0"/>
              <a:t>Same goes for grandson and great-grandson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9899864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C3F3F-E00E-415E-A74C-D11125B58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Rotations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7ACF3F-311A-46FC-8B87-CFCC4A5DF0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After identifying the pivot and the other related nodes, we must determine the structure of the AVL tree to perform the correct rotation to “re-balance” the tree</a:t>
            </a:r>
          </a:p>
          <a:p>
            <a:pPr lvl="2"/>
            <a:endParaRPr lang="en-US" dirty="0"/>
          </a:p>
          <a:p>
            <a:r>
              <a:rPr lang="en-US" dirty="0"/>
              <a:t>4 rotational cases: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Left-left – single rotation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Right-right – single rotation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Left-right – double rotation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Right-left – double rotation</a:t>
            </a:r>
          </a:p>
          <a:p>
            <a:pPr marL="914400" lvl="1" indent="-457200">
              <a:buFont typeface="+mj-lt"/>
              <a:buAutoNum type="arabicPeriod"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0588259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881CE5-0377-4B7A-B9A1-CB699369D6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Left-Left Case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DAD717-4CAE-4E41-92FC-59A83C7530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From the pivot, we travel down the left subtree to the bad son, then left subtree again to the bad grandson</a:t>
            </a:r>
          </a:p>
          <a:p>
            <a:pPr lvl="1"/>
            <a:r>
              <a:rPr lang="en-US" dirty="0"/>
              <a:t>Perform a right rotation: the pivot “rotates” down to become the right child of bad son, bad son replaces pivot’s position, all other nodes are unchanged</a:t>
            </a:r>
          </a:p>
          <a:p>
            <a:pPr lvl="6"/>
            <a:endParaRPr lang="en-US" dirty="0"/>
          </a:p>
          <a:p>
            <a:pPr marL="457200" lvl="1" indent="0">
              <a:buNone/>
            </a:pPr>
            <a:r>
              <a:rPr lang="en-US" dirty="0"/>
              <a:t>Before:					After:</a:t>
            </a:r>
            <a:endParaRPr lang="en-CA" dirty="0"/>
          </a:p>
        </p:txBody>
      </p:sp>
      <p:pic>
        <p:nvPicPr>
          <p:cNvPr id="4" name="Picture 5">
            <a:extLst>
              <a:ext uri="{FF2B5EF4-FFF2-40B4-BE49-F238E27FC236}">
                <a16:creationId xmlns:a16="http://schemas.microsoft.com/office/drawing/2014/main" id="{17D4F193-9EFD-4E61-B3B8-A55038F982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3796146"/>
            <a:ext cx="3352800" cy="288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35E1209-1632-4B1D-9B2D-296007B34E3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09340" y="3796146"/>
            <a:ext cx="2990850" cy="194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759054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881CE5-0377-4B7A-B9A1-CB699369D6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Right-Right Case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DAD717-4CAE-4E41-92FC-59A83C7530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From the pivot, we travel down the right subtree to the bad son, then right subtree again to the bad grandson</a:t>
            </a:r>
          </a:p>
          <a:p>
            <a:pPr lvl="1"/>
            <a:r>
              <a:rPr lang="en-US" dirty="0"/>
              <a:t>Perform a left rotation: the pivot “rotates” down to become the left child of bad son, bad son replaces pivot’s position, all other nodes are unchanged</a:t>
            </a:r>
          </a:p>
          <a:p>
            <a:pPr lvl="6"/>
            <a:endParaRPr lang="en-US" dirty="0"/>
          </a:p>
          <a:p>
            <a:pPr marL="457200" lvl="1" indent="0">
              <a:buNone/>
            </a:pPr>
            <a:r>
              <a:rPr lang="en-US" dirty="0"/>
              <a:t>Before:					After:</a:t>
            </a:r>
            <a:endParaRPr lang="en-CA" dirty="0"/>
          </a:p>
        </p:txBody>
      </p:sp>
      <p:pic>
        <p:nvPicPr>
          <p:cNvPr id="6" name="Picture 3">
            <a:extLst>
              <a:ext uri="{FF2B5EF4-FFF2-40B4-BE49-F238E27FC236}">
                <a16:creationId xmlns:a16="http://schemas.microsoft.com/office/drawing/2014/main" id="{497E3EC2-0D41-4AA0-8E2C-31B5CE6392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9841" y="3903244"/>
            <a:ext cx="3566159" cy="2754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B89342A9-4CFA-43EA-B295-F471BA96A00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8829" y="3903244"/>
            <a:ext cx="2812141" cy="1826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118113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02E58E-9AB0-4769-847B-15B696A381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Another Example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8D1502-AB4C-4268-8ECD-77CF844847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Before:					      After:</a:t>
            </a:r>
            <a:endParaRPr lang="en-CA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CEF8451-3D30-4625-ACFC-CF364B53D5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120" y="2375536"/>
            <a:ext cx="5686425" cy="3762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F7ED801-73CC-4788-B3E4-6994C8B85CD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3705" y="2375536"/>
            <a:ext cx="4829175" cy="290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332906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B0C4D2-BC27-42E6-8A00-F3FDAF2E1C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E92365-8746-4761-A4DE-3A643BB272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Start with an empty tree, add 55, 43, 27 and make notes of node balances after each insertion</a:t>
            </a:r>
          </a:p>
          <a:p>
            <a:r>
              <a:rPr lang="en-US" dirty="0"/>
              <a:t>Identify pivot, son and grandson</a:t>
            </a:r>
          </a:p>
          <a:p>
            <a:r>
              <a:rPr lang="en-US" dirty="0"/>
              <a:t>Perform the correct rotation</a:t>
            </a:r>
          </a:p>
          <a:p>
            <a:r>
              <a:rPr lang="en-US" dirty="0"/>
              <a:t>Add 68, 82 and rotate again</a:t>
            </a:r>
          </a:p>
          <a:p>
            <a:r>
              <a:rPr lang="en-US" dirty="0"/>
              <a:t>What is the resulting AVL tree?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7303464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67A8D-8220-4B1F-B318-B5656C557C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Single Rotations with Subtrees – Before rotation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D9489B-768B-42A2-AD27-B1256FC8FE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18744" y="1825625"/>
            <a:ext cx="3835056" cy="4351338"/>
          </a:xfrm>
        </p:spPr>
        <p:txBody>
          <a:bodyPr/>
          <a:lstStyle/>
          <a:p>
            <a:r>
              <a:rPr lang="en-US" dirty="0"/>
              <a:t>Right-right case</a:t>
            </a:r>
          </a:p>
          <a:p>
            <a:pPr lvl="1"/>
            <a:r>
              <a:rPr lang="en-US" dirty="0"/>
              <a:t>From pivot, search path towards inserted node</a:t>
            </a:r>
          </a:p>
          <a:p>
            <a:pPr lvl="1"/>
            <a:r>
              <a:rPr lang="en-US" dirty="0"/>
              <a:t>Bad son/grandson: balance changed after insertion</a:t>
            </a:r>
          </a:p>
          <a:p>
            <a:pPr lvl="1"/>
            <a:r>
              <a:rPr lang="en-US" dirty="0"/>
              <a:t>Good son/grandson: balance unaffected</a:t>
            </a:r>
            <a:endParaRPr lang="en-CA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3F2F350-FECE-4658-A899-4C5A7F7D49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788727"/>
            <a:ext cx="6680544" cy="44251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535587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70D0EA-7627-4C6F-B094-22410507D1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Single Rotations with Subtrees – After rotation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180FA9-0208-4BEA-9ADC-5848F5E9CA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80823" y="1825625"/>
            <a:ext cx="2672976" cy="4351338"/>
          </a:xfrm>
        </p:spPr>
        <p:txBody>
          <a:bodyPr/>
          <a:lstStyle/>
          <a:p>
            <a:r>
              <a:rPr lang="en-US" dirty="0"/>
              <a:t>Left rotation</a:t>
            </a:r>
          </a:p>
          <a:p>
            <a:pPr lvl="1"/>
            <a:r>
              <a:rPr lang="en-US" dirty="0"/>
              <a:t>Pivot takes good son and “adopts” good grandson to form a new left subtree of bad son</a:t>
            </a:r>
            <a:endParaRPr lang="en-CA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279481B8-E477-42BF-8F51-3D4C9E557A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1" y="1811780"/>
            <a:ext cx="7842622" cy="37508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446139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361AB-E9CF-49E9-AACE-8F07FDC136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BAE89C-2250-4335-BE6B-152537A9EF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Start with an empty tree, add 60, 40, 80, 20, 50 and make notes of node balances after each insertion</a:t>
            </a:r>
          </a:p>
          <a:p>
            <a:r>
              <a:rPr lang="en-US" dirty="0"/>
              <a:t>Add 10 and identify pivot, sons, grandsons and great-grandsons</a:t>
            </a:r>
          </a:p>
          <a:p>
            <a:r>
              <a:rPr lang="en-US" dirty="0"/>
              <a:t>Perform the correct rotation</a:t>
            </a:r>
          </a:p>
          <a:p>
            <a:r>
              <a:rPr lang="en-US" dirty="0"/>
              <a:t>Add 70, 85, 95 and rotate again</a:t>
            </a:r>
          </a:p>
          <a:p>
            <a:r>
              <a:rPr lang="en-US" dirty="0"/>
              <a:t>What is the resulting AVL tree?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5700276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33BF26-09C0-4E5D-B84C-B08A844FDE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altLang="en-US" dirty="0"/>
              <a:t>General Rotation Rule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279148-DF26-4BB2-A564-892B03C5A8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endParaRPr lang="en-US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r>
              <a:rPr lang="en-CA" sz="3300" dirty="0"/>
              <a:t>The B subtree is rotated with the pivot to maintain the strict order of BSTs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C0B616-1560-4F5C-8BD5-535432D0EC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6697" y="1690688"/>
            <a:ext cx="3535199" cy="3252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76B6C11-FA9E-48D8-B8DC-268920408A5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6105" y="1665983"/>
            <a:ext cx="3563890" cy="32775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ight Arrow 7">
            <a:extLst>
              <a:ext uri="{FF2B5EF4-FFF2-40B4-BE49-F238E27FC236}">
                <a16:creationId xmlns:a16="http://schemas.microsoft.com/office/drawing/2014/main" id="{8072CA91-6034-426F-8690-4BC4AEAFA653}"/>
              </a:ext>
            </a:extLst>
          </p:cNvPr>
          <p:cNvSpPr/>
          <p:nvPr/>
        </p:nvSpPr>
        <p:spPr bwMode="auto">
          <a:xfrm>
            <a:off x="5330687" y="2535703"/>
            <a:ext cx="1336627" cy="606119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r">
              <a:defRPr/>
            </a:pPr>
            <a:endParaRPr lang="en-CA"/>
          </a:p>
        </p:txBody>
      </p:sp>
      <p:sp>
        <p:nvSpPr>
          <p:cNvPr id="7" name="Right Arrow 8">
            <a:extLst>
              <a:ext uri="{FF2B5EF4-FFF2-40B4-BE49-F238E27FC236}">
                <a16:creationId xmlns:a16="http://schemas.microsoft.com/office/drawing/2014/main" id="{2C3312EA-DB6B-413D-B302-BF3560E43EC0}"/>
              </a:ext>
            </a:extLst>
          </p:cNvPr>
          <p:cNvSpPr/>
          <p:nvPr/>
        </p:nvSpPr>
        <p:spPr bwMode="auto">
          <a:xfrm rot="10800000">
            <a:off x="5273404" y="3618195"/>
            <a:ext cx="1336627" cy="604139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r">
              <a:defRPr/>
            </a:pPr>
            <a:endParaRPr lang="en-CA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A7E04D-81B9-4FEE-AA94-9D42C3BD68BA}"/>
              </a:ext>
            </a:extLst>
          </p:cNvPr>
          <p:cNvSpPr txBox="1"/>
          <p:nvPr/>
        </p:nvSpPr>
        <p:spPr>
          <a:xfrm>
            <a:off x="5119122" y="2076966"/>
            <a:ext cx="12348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/>
            </a:pPr>
            <a:r>
              <a:rPr lang="en-CA" sz="2400" dirty="0">
                <a:solidFill>
                  <a:schemeClr val="accent1"/>
                </a:solidFill>
              </a:rPr>
              <a:t>Right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876E1B4-E6D1-4A47-BE27-5E7A845E5EF6}"/>
              </a:ext>
            </a:extLst>
          </p:cNvPr>
          <p:cNvSpPr txBox="1"/>
          <p:nvPr/>
        </p:nvSpPr>
        <p:spPr>
          <a:xfrm>
            <a:off x="5310453" y="4227311"/>
            <a:ext cx="95102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/>
            </a:pPr>
            <a:r>
              <a:rPr lang="en-CA" sz="2400" dirty="0">
                <a:solidFill>
                  <a:schemeClr val="accent1"/>
                </a:solidFill>
              </a:rPr>
              <a:t>Left</a:t>
            </a:r>
          </a:p>
        </p:txBody>
      </p:sp>
    </p:spTree>
    <p:extLst>
      <p:ext uri="{BB962C8B-B14F-4D97-AF65-F5344CB8AC3E}">
        <p14:creationId xmlns:p14="http://schemas.microsoft.com/office/powerpoint/2010/main" val="37874420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881CE5-0377-4B7A-B9A1-CB699369D6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Left-Right Case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DAD717-4CAE-4E41-92FC-59A83C7530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From the pivot, we travel down the left subtree to the bad son, then right subtree to the bad grandson</a:t>
            </a:r>
          </a:p>
          <a:p>
            <a:pPr lvl="1"/>
            <a:r>
              <a:rPr lang="en-US" dirty="0"/>
              <a:t>Perform a left rotation on son: make it into a left-left case</a:t>
            </a:r>
          </a:p>
          <a:p>
            <a:pPr lvl="1"/>
            <a:r>
              <a:rPr lang="en-US" dirty="0"/>
              <a:t>Perform a right rotation on pivot</a:t>
            </a:r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327422BA-197D-4552-AA47-35E4443C3F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0291" y="3553937"/>
            <a:ext cx="2611427" cy="272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5">
            <a:extLst>
              <a:ext uri="{FF2B5EF4-FFF2-40B4-BE49-F238E27FC236}">
                <a16:creationId xmlns:a16="http://schemas.microsoft.com/office/drawing/2014/main" id="{1F8522FD-06E6-47B3-8B4B-47800C95AFB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5134" y="3553937"/>
            <a:ext cx="3105150" cy="272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6">
            <a:extLst>
              <a:ext uri="{FF2B5EF4-FFF2-40B4-BE49-F238E27FC236}">
                <a16:creationId xmlns:a16="http://schemas.microsoft.com/office/drawing/2014/main" id="{D7DBF667-BBF5-41A1-AB9B-438101E6121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3700" y="3541474"/>
            <a:ext cx="2961020" cy="18870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925295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F868F-5FD0-4D48-B857-DEAB158682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Right-Left Case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1D2DDA-9CF9-4CDE-B79D-7530422802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From the pivot, we travel down the right subtree to the bad son, then left subtree to the bad grandson</a:t>
            </a:r>
          </a:p>
          <a:p>
            <a:pPr lvl="1"/>
            <a:r>
              <a:rPr lang="en-US" dirty="0"/>
              <a:t>Perform a right rotation on son: make it into a right-right case</a:t>
            </a:r>
          </a:p>
          <a:p>
            <a:pPr lvl="1"/>
            <a:r>
              <a:rPr lang="en-US" dirty="0"/>
              <a:t>Perform a left rotation on pivot</a:t>
            </a:r>
          </a:p>
          <a:p>
            <a:endParaRPr lang="en-CA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E2C9F74E-96FB-45ED-A34E-0AD249F95D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8280" y="3429000"/>
            <a:ext cx="2112810" cy="288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6">
            <a:extLst>
              <a:ext uri="{FF2B5EF4-FFF2-40B4-BE49-F238E27FC236}">
                <a16:creationId xmlns:a16="http://schemas.microsoft.com/office/drawing/2014/main" id="{7772F6D0-FB23-44F9-A441-FF0C600863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1170" y="3424238"/>
            <a:ext cx="3028950" cy="275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F005694-7783-489E-AD85-B2BC67BF68E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0200" y="3429000"/>
            <a:ext cx="2752725" cy="178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6726155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92155-1580-4950-AA83-9655453DB2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Double Rotations with Subtrees – Before rotation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7EF9D4-C10F-4DA1-9CF8-431D0CA79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92476" y="1825625"/>
            <a:ext cx="4761324" cy="4351338"/>
          </a:xfrm>
        </p:spPr>
        <p:txBody>
          <a:bodyPr/>
          <a:lstStyle/>
          <a:p>
            <a:r>
              <a:rPr lang="en-US" dirty="0"/>
              <a:t>Right-left case</a:t>
            </a:r>
          </a:p>
          <a:p>
            <a:pPr lvl="1"/>
            <a:r>
              <a:rPr lang="en-CA" dirty="0"/>
              <a:t>1</a:t>
            </a:r>
            <a:r>
              <a:rPr lang="en-CA" baseline="30000" dirty="0"/>
              <a:t>st</a:t>
            </a:r>
            <a:r>
              <a:rPr lang="en-CA" dirty="0"/>
              <a:t> rotation: convert into right-right case by rotating bad grandson up to be the parent of bad son</a:t>
            </a:r>
          </a:p>
        </p:txBody>
      </p:sp>
      <p:pic>
        <p:nvPicPr>
          <p:cNvPr id="4" name="Picture 5">
            <a:extLst>
              <a:ext uri="{FF2B5EF4-FFF2-40B4-BE49-F238E27FC236}">
                <a16:creationId xmlns:a16="http://schemas.microsoft.com/office/drawing/2014/main" id="{E9DCDFEF-B080-4D89-863D-EC7FF7F6FC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779905"/>
            <a:ext cx="5754276" cy="44684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8283969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92155-1580-4950-AA83-9655453DB2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Double Rotations with Subtrees – After 1</a:t>
            </a:r>
            <a:r>
              <a:rPr lang="en-US" baseline="30000" dirty="0"/>
              <a:t>st</a:t>
            </a:r>
            <a:r>
              <a:rPr lang="en-US" dirty="0"/>
              <a:t> rotation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7EF9D4-C10F-4DA1-9CF8-431D0CA79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99912" y="1825625"/>
            <a:ext cx="3453888" cy="4351338"/>
          </a:xfrm>
        </p:spPr>
        <p:txBody>
          <a:bodyPr/>
          <a:lstStyle/>
          <a:p>
            <a:r>
              <a:rPr lang="en-US" dirty="0"/>
              <a:t>Right-right case</a:t>
            </a:r>
          </a:p>
          <a:p>
            <a:pPr lvl="1"/>
            <a:r>
              <a:rPr lang="en-CA" dirty="0"/>
              <a:t>2</a:t>
            </a:r>
            <a:r>
              <a:rPr lang="en-CA" baseline="30000" dirty="0"/>
              <a:t>nd</a:t>
            </a:r>
            <a:r>
              <a:rPr lang="en-CA" dirty="0"/>
              <a:t> rotation: pivot takes good son and good grandson to form new left subtree of bad son</a:t>
            </a:r>
          </a:p>
        </p:txBody>
      </p:sp>
      <p:pic>
        <p:nvPicPr>
          <p:cNvPr id="5" name="Picture 3">
            <a:extLst>
              <a:ext uri="{FF2B5EF4-FFF2-40B4-BE49-F238E27FC236}">
                <a16:creationId xmlns:a16="http://schemas.microsoft.com/office/drawing/2014/main" id="{B6E7369B-F9CC-4F57-8553-311562382A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871345"/>
            <a:ext cx="7061712" cy="43056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6588407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26F1EF-CAD2-4777-A426-5EBD201F28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Double Rotations with Subtrees – After 2</a:t>
            </a:r>
            <a:r>
              <a:rPr lang="en-US" baseline="30000" dirty="0"/>
              <a:t>nd</a:t>
            </a:r>
            <a:r>
              <a:rPr lang="en-US" dirty="0"/>
              <a:t> rotation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87DC06-DE5B-4A62-A637-502598BEB5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7E3C240-6505-4000-849A-E3D4FA7C9D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0001" y="1825624"/>
            <a:ext cx="7831998" cy="37522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3255767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40C95-F24F-42B6-8FC8-50A58BC405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AVL Deletions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657D55-71E6-47AC-928A-80EF857697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Works exactly like BST deletion operations</a:t>
            </a:r>
          </a:p>
          <a:p>
            <a:pPr lvl="1"/>
            <a:r>
              <a:rPr lang="en-US" dirty="0"/>
              <a:t>Using either the “next smaller” or “next bigger” approach</a:t>
            </a:r>
          </a:p>
          <a:p>
            <a:pPr lvl="1"/>
            <a:r>
              <a:rPr lang="en-US" dirty="0"/>
              <a:t>Must keep the tree balanced after removing a node!</a:t>
            </a:r>
          </a:p>
          <a:p>
            <a:pPr lvl="1"/>
            <a:endParaRPr lang="en-US" dirty="0"/>
          </a:p>
          <a:p>
            <a:r>
              <a:rPr lang="en-US" dirty="0"/>
              <a:t>Just like insertions, recalculate the balances of each node, identify the pivot if any and rotate according to the structure</a:t>
            </a:r>
          </a:p>
          <a:p>
            <a:pPr lvl="1"/>
            <a:r>
              <a:rPr lang="en-US" dirty="0"/>
              <a:t>We won’t cover this in the course, but if you’re interested – try out the “remove” function on visualgo.net! :D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850015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SAIT Colours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DA291C"/>
      </a:accent1>
      <a:accent2>
        <a:srgbClr val="A6192E"/>
      </a:accent2>
      <a:accent3>
        <a:srgbClr val="00A3E0"/>
      </a:accent3>
      <a:accent4>
        <a:srgbClr val="005EB8"/>
      </a:accent4>
      <a:accent5>
        <a:srgbClr val="6D2077"/>
      </a:accent5>
      <a:accent6>
        <a:srgbClr val="222222"/>
      </a:accent6>
      <a:hlink>
        <a:srgbClr val="515151"/>
      </a:hlink>
      <a:folHlink>
        <a:srgbClr val="919191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IT_PPT_Colour_16x9_Template" id="{9343D8A7-6800-F640-AE70-45A3E4AC5BF3}" vid="{216E120B-4FD9-D941-8FC7-0244918ABFF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26161</TotalTime>
  <Words>1686</Words>
  <Application>Microsoft Office PowerPoint</Application>
  <PresentationFormat>Widescreen</PresentationFormat>
  <Paragraphs>245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4" baseType="lpstr">
      <vt:lpstr>Arial</vt:lpstr>
      <vt:lpstr>Calibri</vt:lpstr>
      <vt:lpstr>Futura Md BT</vt:lpstr>
      <vt:lpstr>Times New Roman</vt:lpstr>
      <vt:lpstr>Verdana</vt:lpstr>
      <vt:lpstr>Office Theme</vt:lpstr>
      <vt:lpstr>Self-balancing Trees</vt:lpstr>
      <vt:lpstr>Balanced Trees</vt:lpstr>
      <vt:lpstr>Balancing a Tree</vt:lpstr>
      <vt:lpstr>Balance of a Node</vt:lpstr>
      <vt:lpstr>Balance of a Node</vt:lpstr>
      <vt:lpstr>Balance of a Node</vt:lpstr>
      <vt:lpstr>Exercise</vt:lpstr>
      <vt:lpstr>AVL Trees</vt:lpstr>
      <vt:lpstr>AVL Insertions</vt:lpstr>
      <vt:lpstr>The Pivot Node</vt:lpstr>
      <vt:lpstr>Pivot Examples</vt:lpstr>
      <vt:lpstr>Pivot Identification Exercise</vt:lpstr>
      <vt:lpstr>The Other Nodes</vt:lpstr>
      <vt:lpstr>Rotations</vt:lpstr>
      <vt:lpstr>Left-Left Case</vt:lpstr>
      <vt:lpstr>Right-Right Case</vt:lpstr>
      <vt:lpstr>Another Example</vt:lpstr>
      <vt:lpstr>Exercise</vt:lpstr>
      <vt:lpstr>Single Rotations with Subtrees – Before rotation</vt:lpstr>
      <vt:lpstr>Single Rotations with Subtrees – After rotation</vt:lpstr>
      <vt:lpstr>Exercise</vt:lpstr>
      <vt:lpstr>General Rotation Rule</vt:lpstr>
      <vt:lpstr>Left-Right Case</vt:lpstr>
      <vt:lpstr>Right-Left Case</vt:lpstr>
      <vt:lpstr>Double Rotations with Subtrees – Before rotation</vt:lpstr>
      <vt:lpstr>Double Rotations with Subtrees – After 1st rotation</vt:lpstr>
      <vt:lpstr>Double Rotations with Subtrees – After 2nd rotation</vt:lpstr>
      <vt:lpstr>AVL Deletions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Kitty Wong</dc:creator>
  <cp:lastModifiedBy>Kitty Wong</cp:lastModifiedBy>
  <cp:revision>381</cp:revision>
  <dcterms:created xsi:type="dcterms:W3CDTF">2016-04-05T14:17:30Z</dcterms:created>
  <dcterms:modified xsi:type="dcterms:W3CDTF">2026-08-26T05:00:44Z</dcterms:modified>
</cp:coreProperties>
</file>