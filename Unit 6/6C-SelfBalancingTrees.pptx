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8" r:id="rId2"/>
    <p:sldId id="266" r:id="rId3"/>
    <p:sldId id="304" r:id="rId4"/>
    <p:sldId id="305" r:id="rId5"/>
    <p:sldId id="306" r:id="rId6"/>
    <p:sldId id="307" r:id="rId7"/>
    <p:sldId id="308" r:id="rId8"/>
    <p:sldId id="309" r:id="rId9"/>
    <p:sldId id="330" r:id="rId10"/>
    <p:sldId id="310" r:id="rId11"/>
    <p:sldId id="311" r:id="rId12"/>
    <p:sldId id="312" r:id="rId13"/>
    <p:sldId id="313" r:id="rId14"/>
    <p:sldId id="314" r:id="rId15"/>
    <p:sldId id="315" r:id="rId16"/>
    <p:sldId id="317" r:id="rId17"/>
    <p:sldId id="318" r:id="rId18"/>
    <p:sldId id="319" r:id="rId19"/>
    <p:sldId id="320" r:id="rId20"/>
    <p:sldId id="321" r:id="rId21"/>
    <p:sldId id="322" r:id="rId22"/>
    <p:sldId id="316" r:id="rId23"/>
    <p:sldId id="324" r:id="rId24"/>
    <p:sldId id="323" r:id="rId25"/>
    <p:sldId id="325" r:id="rId26"/>
    <p:sldId id="326" r:id="rId27"/>
    <p:sldId id="327" r:id="rId28"/>
    <p:sldId id="32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4" autoAdjust="0"/>
    <p:restoredTop sz="56431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3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24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delSld modSld">
      <pc:chgData name="Kitty Wong" userId="934a16c2-3b82-4a04-8cf4-72a5c39a78f6" providerId="ADAL" clId="{6624BDA5-5E62-4DCD-AC58-5D64DFC703A6}" dt="2026-06-13T07:35:02.769" v="407" actId="20577"/>
      <pc:docMkLst>
        <pc:docMk/>
      </pc:docMkLst>
      <pc:sldChg chg="modNotesTx">
        <pc:chgData name="Kitty Wong" userId="934a16c2-3b82-4a04-8cf4-72a5c39a78f6" providerId="ADAL" clId="{6624BDA5-5E62-4DCD-AC58-5D64DFC703A6}" dt="2026-06-13T07:32:15.056" v="232" actId="20577"/>
        <pc:sldMkLst>
          <pc:docMk/>
          <pc:sldMk cId="1621771397" sldId="306"/>
        </pc:sldMkLst>
      </pc:sldChg>
      <pc:sldChg chg="modNotesTx">
        <pc:chgData name="Kitty Wong" userId="934a16c2-3b82-4a04-8cf4-72a5c39a78f6" providerId="ADAL" clId="{6624BDA5-5E62-4DCD-AC58-5D64DFC703A6}" dt="2026-06-13T07:33:33.353" v="382" actId="20577"/>
        <pc:sldMkLst>
          <pc:docMk/>
          <pc:sldMk cId="3595325615" sldId="307"/>
        </pc:sldMkLst>
      </pc:sldChg>
      <pc:sldChg chg="modNotesTx">
        <pc:chgData name="Kitty Wong" userId="934a16c2-3b82-4a04-8cf4-72a5c39a78f6" providerId="ADAL" clId="{6624BDA5-5E62-4DCD-AC58-5D64DFC703A6}" dt="2026-06-13T07:30:39.440" v="172" actId="20577"/>
        <pc:sldMkLst>
          <pc:docMk/>
          <pc:sldMk cId="1434130893" sldId="308"/>
        </pc:sldMkLst>
      </pc:sldChg>
      <pc:sldChg chg="modSp mod modNotesTx">
        <pc:chgData name="Kitty Wong" userId="934a16c2-3b82-4a04-8cf4-72a5c39a78f6" providerId="ADAL" clId="{6624BDA5-5E62-4DCD-AC58-5D64DFC703A6}" dt="2026-06-13T07:35:02.769" v="407" actId="20577"/>
        <pc:sldMkLst>
          <pc:docMk/>
          <pc:sldMk cId="2038356316" sldId="311"/>
        </pc:sldMkLst>
        <pc:spChg chg="mod">
          <ac:chgData name="Kitty Wong" userId="934a16c2-3b82-4a04-8cf4-72a5c39a78f6" providerId="ADAL" clId="{6624BDA5-5E62-4DCD-AC58-5D64DFC703A6}" dt="2026-06-13T07:34:28.030" v="383" actId="20577"/>
          <ac:spMkLst>
            <pc:docMk/>
            <pc:sldMk cId="2038356316" sldId="311"/>
            <ac:spMk id="3" creationId="{B0ECCC96-10DD-4B01-B006-60607A710C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2026-06-13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in A3 you can write the tree out using the in-order iterator and rebuild at minimum height.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462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left – right: doesn’t matter, we just need to know the difference!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04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Any -1 can be treated as +1, the sign does NOT matter here!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66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Same as before, the sign doesn’t matter! -2 == +2. -1 == +1.</a:t>
            </a:r>
          </a:p>
          <a:p>
            <a:endParaRPr lang="en-CA" dirty="0"/>
          </a:p>
          <a:p>
            <a:r>
              <a:rPr lang="en-CA" dirty="0"/>
              <a:t>As long as the number is &gt;1, then the node is not balanced!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43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A, C, H, K (leave nodes) = 0</a:t>
            </a:r>
          </a:p>
          <a:p>
            <a:endParaRPr lang="en-CA" dirty="0"/>
          </a:p>
          <a:p>
            <a:r>
              <a:rPr lang="en-CA" dirty="0"/>
              <a:t>Going from bottom-up, left to right:</a:t>
            </a:r>
          </a:p>
          <a:p>
            <a:r>
              <a:rPr lang="en-CA" dirty="0"/>
              <a:t>I = 1</a:t>
            </a:r>
          </a:p>
          <a:p>
            <a:r>
              <a:rPr lang="en-CA" dirty="0"/>
              <a:t>J = 1</a:t>
            </a:r>
          </a:p>
          <a:p>
            <a:r>
              <a:rPr lang="en-CA" dirty="0"/>
              <a:t>E = 1</a:t>
            </a:r>
          </a:p>
          <a:p>
            <a:r>
              <a:rPr lang="en-CA" dirty="0"/>
              <a:t>G = 3</a:t>
            </a:r>
          </a:p>
          <a:p>
            <a:r>
              <a:rPr lang="en-CA" dirty="0"/>
              <a:t>B = 1</a:t>
            </a:r>
          </a:p>
          <a:p>
            <a:r>
              <a:rPr lang="en-CA" dirty="0"/>
              <a:t>M = 4</a:t>
            </a:r>
          </a:p>
          <a:p>
            <a:r>
              <a:rPr lang="en-CA" dirty="0"/>
              <a:t>F = 2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4295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“self”-balancing = “programmed” </a:t>
            </a:r>
            <a:r>
              <a:rPr lang="en-US"/>
              <a:t>to re-balance = done by us!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530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37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new node and calculate the new balances of each ancestor node (parent, grandparent etc.)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120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A: No pivot (still balanced)</a:t>
            </a:r>
          </a:p>
          <a:p>
            <a:endParaRPr lang="en-US" dirty="0"/>
          </a:p>
          <a:p>
            <a:r>
              <a:rPr lang="en-US"/>
              <a:t>Add 5: pivot = 20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764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For 5 and 27 the pivot would be 30.</a:t>
            </a:r>
          </a:p>
          <a:p>
            <a:r>
              <a:rPr lang="en-US" altLang="en-US"/>
              <a:t>For 41 and </a:t>
            </a:r>
            <a:r>
              <a:rPr lang="en-US" altLang="en-US" dirty="0"/>
              <a:t>70 there would be no pivot.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229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Unaffected = balance did not change after adding the new node.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7916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It’ll be very obvious why they’re called these when you see it!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451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521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996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20 is unchanged and remains the left child of 50.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2613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https://visualgo.net/en/bst, click on “AVL tree” tab and check your </a:t>
            </a:r>
            <a:r>
              <a:rPr lang="en-CA"/>
              <a:t>answers!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215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follow the same rules to do a left rotation – pivot will rotate to be the left child of bad son, but it already has a left child, what do we do with it?</a:t>
            </a:r>
          </a:p>
          <a:p>
            <a:r>
              <a:rPr lang="en-US" dirty="0"/>
              <a:t>- reminder: AVL is still BST! Note the value 60 is greater than pivot 50!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3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 that 20 is unchanged and remains the left child of 50, and 90/95 remains on the right subtree on 80.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00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664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subtree is greater than X but less than Y. A and C remains unchanged.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224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1</a:t>
            </a:r>
            <a:r>
              <a:rPr lang="en-US" baseline="30000" dirty="0"/>
              <a:t>st</a:t>
            </a:r>
            <a:r>
              <a:rPr lang="en-US" dirty="0"/>
              <a:t> rotation, it may help to recalculate balances and rename the nodes – so son becomes bad grandson, and new node is now bad son.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6856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1</a:t>
            </a:r>
            <a:r>
              <a:rPr lang="en-US" baseline="30000" dirty="0"/>
              <a:t>st</a:t>
            </a:r>
            <a:r>
              <a:rPr lang="en-US" dirty="0"/>
              <a:t> rotation – son becomes bad grandson and new node becomes bad son.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3233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4035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900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60,50,90,80,95,70 into “create empty” on </a:t>
            </a:r>
            <a:r>
              <a:rPr lang="en-US" dirty="0" err="1"/>
              <a:t>visualgo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542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92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Self-balancing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Unit </a:t>
            </a:r>
            <a:r>
              <a:rPr lang="en-US" dirty="0"/>
              <a:t>6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232372" y="6390216"/>
            <a:ext cx="5435628" cy="3651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Kitty Wong © 2025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you have seen, the performance of a tree is dependent on whether it is balanced</a:t>
            </a:r>
          </a:p>
          <a:p>
            <a:pPr lvl="1"/>
            <a:r>
              <a:rPr lang="en-US" dirty="0"/>
              <a:t>Ill-balanced: O(n)</a:t>
            </a:r>
          </a:p>
          <a:p>
            <a:pPr lvl="1"/>
            <a:r>
              <a:rPr lang="en-US" dirty="0"/>
              <a:t>Balanced: O(log n)</a:t>
            </a:r>
          </a:p>
          <a:p>
            <a:pPr lvl="3"/>
            <a:endParaRPr lang="en-US" dirty="0"/>
          </a:p>
          <a:p>
            <a:r>
              <a:rPr lang="en-US" dirty="0"/>
              <a:t>But every insertion and deletion operation will affect the balance of a tree</a:t>
            </a:r>
          </a:p>
          <a:p>
            <a:pPr lvl="3"/>
            <a:endParaRPr lang="en-US" dirty="0"/>
          </a:p>
          <a:p>
            <a:r>
              <a:rPr lang="en-US" dirty="0"/>
              <a:t>Thus we want to make sure the balance of the tree is maintained after each operation</a:t>
            </a:r>
          </a:p>
          <a:p>
            <a:pPr lvl="1"/>
            <a:r>
              <a:rPr lang="en-US" dirty="0"/>
              <a:t>Height of tree is keep to a minimum</a:t>
            </a:r>
          </a:p>
        </p:txBody>
      </p:sp>
    </p:spTree>
    <p:extLst>
      <p:ext uri="{BB962C8B-B14F-4D97-AF65-F5344CB8AC3E}">
        <p14:creationId xmlns:p14="http://schemas.microsoft.com/office/powerpoint/2010/main" val="23036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8C6C-AC38-4201-A641-521C70A8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Balancing a Tree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54D6-174B-453F-96C4-7B1E8E56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2 approaches: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cs typeface="Times New Roman" panose="02020603050405020304" pitchFamily="18" charset="0"/>
              </a:rPr>
              <a:t>Deconstruct the tree by aligning the nodes in an array and sort them using one of the efficient algorithms 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Easy to implement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Inefficient space-wise, also requires deconstructing and then reconstructing the tree = time-consuming!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cs typeface="Times New Roman" panose="02020603050405020304" pitchFamily="18" charset="0"/>
              </a:rPr>
              <a:t>Use a “self-balancing” tree algorithm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Much less wasteful than the first approach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Requires each node to maintain a reference to its parent (small trade-off)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Automatically re-balances the tree after each operation if needed</a:t>
            </a:r>
          </a:p>
        </p:txBody>
      </p:sp>
    </p:spTree>
    <p:extLst>
      <p:ext uri="{BB962C8B-B14F-4D97-AF65-F5344CB8AC3E}">
        <p14:creationId xmlns:p14="http://schemas.microsoft.com/office/powerpoint/2010/main" val="152132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1479-0E26-458B-AA3A-F21A2AE6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F764-CDAC-4DF1-8BE6-87FF7BA1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The balance of a node is the height of the right sub-tree minus the height of the left sub-tree:</a:t>
            </a:r>
          </a:p>
          <a:p>
            <a:pPr lvl="2"/>
            <a:endParaRPr lang="en-US" altLang="en-US" dirty="0"/>
          </a:p>
          <a:p>
            <a:r>
              <a:rPr lang="en-US" altLang="en-US" sz="2800" dirty="0"/>
              <a:t>Balance(n) = right-height(n) - left-height(n)</a:t>
            </a:r>
          </a:p>
          <a:p>
            <a:pPr lvl="1"/>
            <a:r>
              <a:rPr lang="en-US" altLang="en-US" dirty="0"/>
              <a:t>Where n is some node in the tree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9CDD5-4C23-4DF9-837D-1A51FA7A3B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3788" y="4128135"/>
            <a:ext cx="7444423" cy="204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7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05F7-C454-4102-99F0-1B138A1E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FC69B-854C-4053-A378-F7034C004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important to identify the balance of each node to determine if the tree is balanced</a:t>
            </a:r>
            <a:endParaRPr lang="en-CA" dirty="0"/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ED3A1C78-9282-4257-8CF3-CFC7E9427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139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DCAF03DF-C90F-488B-ACCE-3D06D304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9C7DBF82-BFB7-4699-B3BF-2C51A3DB0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931D25C4-8824-4937-B999-685AA5A4B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047332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0F79D424-6A14-418B-B8BC-97ABF07D5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047332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1DBD37D3-A21D-400B-B1BB-22126AD1B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22664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-1</a:t>
            </a:r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1A63D722-1DFD-41C9-B621-B7D16E728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6BA3177C-588B-46B1-B77F-DEC176FC33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073608"/>
            <a:ext cx="457200" cy="5071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0DC981D7-17A9-4A55-9BA0-308BDF94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139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+1</a:t>
            </a: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2C75B1F2-9C7F-4602-9477-2B313524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09106D49-AC62-4DF0-A13B-DD0D49A23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073608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7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5473-ED18-46BC-9F43-5E071392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0132-0B11-4052-8F98-B7D4FE2A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D5F24B9C-DA93-4A70-9C9A-98E6D08A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806" y="17565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-2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911DFCCB-D088-4283-B30A-67334D4C5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06" y="2594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-2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BFF1B01-8E06-4476-9332-47531C92A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06" y="2747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E5AAFEA-EEB1-44D9-A990-5D973CC49F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8006" y="2289958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6C3D86EA-74FC-434B-9F14-1105FAB1B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006" y="2289958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2">
            <a:extLst>
              <a:ext uri="{FF2B5EF4-FFF2-40B4-BE49-F238E27FC236}">
                <a16:creationId xmlns:a16="http://schemas.microsoft.com/office/drawing/2014/main" id="{645EA835-2A32-4EEA-9A8F-0B1D2CC72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860" y="17565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-1</a:t>
            </a: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6A4795AB-BB65-4244-8E97-CC5F24643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806" y="2591611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-1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94A02A0-48AC-462A-9543-D4BF7F8E3B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0806" y="2213758"/>
            <a:ext cx="350054" cy="391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A3375062-EDAA-48DA-B92B-8AA2EE3DF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6" y="3509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1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B1CACE91-A210-4ABE-B784-DD199C9C5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806" y="4499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75874CB9-7C72-407B-85B5-FFBED3079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8406" y="320435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29691304-524D-49FB-B8F0-E30A74298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8406" y="4118758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74D00DF6-FB42-48E0-A054-10E98366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527" y="2594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8" name="Oval 23">
            <a:extLst>
              <a:ext uri="{FF2B5EF4-FFF2-40B4-BE49-F238E27FC236}">
                <a16:creationId xmlns:a16="http://schemas.microsoft.com/office/drawing/2014/main" id="{B7E4470B-E419-47CD-BE17-DCEA30B40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909" y="3509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0</a:t>
            </a: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D1E8E73-ED16-4DA5-8E38-E9A7C6AFD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0327" y="3145648"/>
            <a:ext cx="314582" cy="3635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54456300-CC84-4716-9ABD-3D08F70A0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460" y="2213758"/>
            <a:ext cx="350054" cy="391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B51C9F8-F6D6-470F-82CD-14BF5B31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041" y="3846787"/>
            <a:ext cx="6585819" cy="264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2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C110-F484-41C3-8CF4-A44E24B0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30CF-9629-4E36-9E40-3E783B9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balance of each node?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55E34-559F-4C03-8D9F-5836A0EB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15" y="2358431"/>
            <a:ext cx="5283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3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8FE2-9F82-4C0F-92B5-E6079E9C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FE6D3-8E03-4A40-AB6C-AA9E8A2AB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Definition: a binary search tree where every node has a balance of -1, 0, or 1</a:t>
            </a:r>
          </a:p>
          <a:p>
            <a:pPr lvl="1"/>
            <a:r>
              <a:rPr lang="en-US" altLang="en-US" dirty="0"/>
              <a:t>Named after the inventors G. M. </a:t>
            </a:r>
            <a:r>
              <a:rPr lang="en-US" altLang="en-US" dirty="0" err="1"/>
              <a:t>Adel’son-Vel’skii</a:t>
            </a:r>
            <a:r>
              <a:rPr lang="en-US" altLang="en-US" dirty="0"/>
              <a:t> and E. M. Landis, who developed the idea in 1962</a:t>
            </a:r>
          </a:p>
          <a:p>
            <a:pPr lvl="1"/>
            <a:r>
              <a:rPr lang="en-CA" dirty="0"/>
              <a:t>First self-balancing tree invented</a:t>
            </a:r>
          </a:p>
          <a:p>
            <a:pPr lvl="1"/>
            <a:r>
              <a:rPr lang="en-CA" dirty="0"/>
              <a:t>If the tree is not balanced after an operation, re-balance the BST</a:t>
            </a:r>
          </a:p>
          <a:p>
            <a:pPr lvl="2"/>
            <a:endParaRPr lang="en-CA" dirty="0"/>
          </a:p>
          <a:p>
            <a:r>
              <a:rPr lang="en-CA" dirty="0"/>
              <a:t>Uses an idea called </a:t>
            </a:r>
            <a:r>
              <a:rPr lang="en-CA" b="1" dirty="0"/>
              <a:t>Rotations</a:t>
            </a:r>
          </a:p>
          <a:p>
            <a:pPr lvl="1"/>
            <a:r>
              <a:rPr lang="en-CA" dirty="0"/>
              <a:t>Changing the relationships between nodes</a:t>
            </a:r>
          </a:p>
        </p:txBody>
      </p:sp>
    </p:spTree>
    <p:extLst>
      <p:ext uri="{BB962C8B-B14F-4D97-AF65-F5344CB8AC3E}">
        <p14:creationId xmlns:p14="http://schemas.microsoft.com/office/powerpoint/2010/main" val="33195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AB6C-DF63-4274-846B-99C343AC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Insertions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308D-BF4E-4288-A10A-44C8C1D4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AVL tree is a form of BSTs so insertion operations are exactly the same</a:t>
            </a:r>
          </a:p>
          <a:p>
            <a:pPr lvl="1"/>
            <a:r>
              <a:rPr lang="en-US" dirty="0"/>
              <a:t>Recall BSTs:</a:t>
            </a:r>
          </a:p>
          <a:p>
            <a:pPr lvl="2"/>
            <a:r>
              <a:rPr lang="en-CA" dirty="0"/>
              <a:t>All nodes in the left subtree, if not empty, contains elements less than or equals to the node element</a:t>
            </a:r>
          </a:p>
          <a:p>
            <a:pPr lvl="2"/>
            <a:r>
              <a:rPr lang="en-CA" dirty="0"/>
              <a:t>All nodes in the right subtree, if not empty, contains elements greater than the node element</a:t>
            </a:r>
          </a:p>
          <a:p>
            <a:pPr lvl="1"/>
            <a:r>
              <a:rPr lang="en-CA" dirty="0"/>
              <a:t>Recall BST Insertions: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To insert a new element into a BST, proceed as if searching for that element</a:t>
            </a:r>
          </a:p>
          <a:p>
            <a:pPr lvl="2"/>
            <a:endParaRPr lang="en-CA" altLang="en-US" dirty="0">
              <a:cs typeface="Times New Roman" panose="02020603050405020304" pitchFamily="18" charset="0"/>
            </a:endParaRPr>
          </a:p>
          <a:p>
            <a:r>
              <a:rPr lang="en-CA" altLang="en-US" dirty="0">
                <a:cs typeface="Times New Roman" panose="02020603050405020304" pitchFamily="18" charset="0"/>
              </a:rPr>
              <a:t>Since AVL are “self-balancing”, the key is what happens after an insertion operation!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ED20-4810-48C7-A696-BD411B59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Pivot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1EA48-C389-48B4-80FA-6B3FAEA7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step of rotations!</a:t>
            </a:r>
          </a:p>
          <a:p>
            <a:pPr lvl="1"/>
            <a:r>
              <a:rPr lang="en-US" dirty="0"/>
              <a:t>AVL trees adjusts the nodes based on the nature and position of the pivot node!</a:t>
            </a:r>
          </a:p>
          <a:p>
            <a:pPr lvl="5"/>
            <a:endParaRPr lang="en-US" dirty="0"/>
          </a:p>
          <a:p>
            <a:r>
              <a:rPr lang="en-US" dirty="0"/>
              <a:t>Definition: the ancestor node closest to the inserted node which is not in balance</a:t>
            </a:r>
          </a:p>
          <a:p>
            <a:pPr lvl="1"/>
            <a:r>
              <a:rPr lang="en-US" dirty="0"/>
              <a:t>i.e. not 0, -1, or +1</a:t>
            </a:r>
          </a:p>
          <a:p>
            <a:pPr lvl="4"/>
            <a:endParaRPr lang="en-CA" dirty="0"/>
          </a:p>
          <a:p>
            <a:r>
              <a:rPr lang="en-CA" dirty="0"/>
              <a:t>Identify the balance of each node bottom-up from the inserted node</a:t>
            </a:r>
          </a:p>
          <a:p>
            <a:pPr lvl="1"/>
            <a:r>
              <a:rPr lang="en-CA" dirty="0"/>
              <a:t>It is possible that there are no pivots after an operation</a:t>
            </a:r>
          </a:p>
        </p:txBody>
      </p:sp>
    </p:spTree>
    <p:extLst>
      <p:ext uri="{BB962C8B-B14F-4D97-AF65-F5344CB8AC3E}">
        <p14:creationId xmlns:p14="http://schemas.microsoft.com/office/powerpoint/2010/main" val="167680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C779-621A-4906-8099-E7A892F5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CC96-10DD-4B01-B006-60607A71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A:					Add 5: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							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561AC-DB67-4BBE-9B61-E86527D123A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82354" y="2415145"/>
            <a:ext cx="2684736" cy="2027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0763A-D764-4336-8D5A-740D1FF0A23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86532" y="2415145"/>
            <a:ext cx="3632474" cy="296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5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79F5-E6E6-4D04-ACBA-2BA3F9AC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Identification 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E3F8-F538-4157-B983-5924AA0A0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What would the pivot be for each of the following insertions using this tree as the starting point?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  5, 27, 41, 70</a:t>
            </a:r>
          </a:p>
          <a:p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77DCDB-BF13-440C-A0AC-2329FEA3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8194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40</a:t>
            </a:r>
            <a:r>
              <a:rPr lang="en-US" altLang="en-US" sz="2400" baseline="-25000">
                <a:latin typeface="Futura Md BT" pitchFamily="34" charset="0"/>
              </a:rPr>
              <a:t>-1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6A7631-2E33-4898-8439-666A5225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20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63C500-A7F7-4476-AB2B-D58ED1D84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0" y="44958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60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5D65C-5834-4989-87E0-8AD379721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657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50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95274B-A3A6-45C3-AC3F-8CF2C6FA8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5052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30</a:t>
            </a:r>
            <a:r>
              <a:rPr lang="en-US" altLang="en-US" sz="2400" baseline="-25000">
                <a:latin typeface="Futura Md BT" pitchFamily="34" charset="0"/>
              </a:rPr>
              <a:t>-1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6D3C7DCA-471D-4CA8-B4F5-F75D498C6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2004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AF23FC32-8519-4391-B5D9-E028CD4E74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962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F3697712-C3F0-475B-B220-58F815EFB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2004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8784D99C-0442-40A1-AA98-7040F55A6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4114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66D45385-7361-4BBC-820A-2EA8C69C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81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25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1659E0A6-8D88-4001-8830-174526877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181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10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ADA24967-EC95-466C-9797-B25744C11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80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CD3E81C0-EA67-454B-87DC-95015BD60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0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615E9F79-AF31-40D6-848F-83037F424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4958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45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FF88F329-043C-4AF6-A2F8-85B78EA8E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4114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1BEC422D-D0A8-4D1A-8079-5FFA23848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038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2637098C-38A5-4E2F-8769-E27A2AEDB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19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35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43288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56B2-3F3F-4C02-AD76-5B7AD24D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Other Nodes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43F58-79DE-42D1-8735-4E2B7BAA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rest of the nodes are defined in relations to the pivot</a:t>
            </a:r>
          </a:p>
          <a:p>
            <a:pPr lvl="1"/>
            <a:r>
              <a:rPr lang="en-US" dirty="0"/>
              <a:t>Ancestor/grandparent: parent of pivot</a:t>
            </a:r>
          </a:p>
          <a:p>
            <a:pPr lvl="1"/>
            <a:r>
              <a:rPr lang="en-US" dirty="0"/>
              <a:t>Son: children of pivot</a:t>
            </a:r>
          </a:p>
          <a:p>
            <a:pPr lvl="1"/>
            <a:r>
              <a:rPr lang="en-US" dirty="0"/>
              <a:t>Grandson: children of son</a:t>
            </a:r>
          </a:p>
          <a:p>
            <a:pPr lvl="1"/>
            <a:r>
              <a:rPr lang="en-US" dirty="0"/>
              <a:t>Great-grandson: children of grandson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dirty="0"/>
              <a:t>We will also need to differentiate the 2 possible children of each node</a:t>
            </a:r>
          </a:p>
          <a:p>
            <a:pPr lvl="1"/>
            <a:r>
              <a:rPr lang="en-US" dirty="0"/>
              <a:t>Good son: the child unaffected by the inserted node</a:t>
            </a:r>
          </a:p>
          <a:p>
            <a:pPr lvl="1"/>
            <a:r>
              <a:rPr lang="en-US" dirty="0"/>
              <a:t>Bad son: the child with the inserted node as its descendant</a:t>
            </a:r>
          </a:p>
          <a:p>
            <a:pPr lvl="2"/>
            <a:r>
              <a:rPr lang="en-US" dirty="0"/>
              <a:t>Same goes for grandson and great-grandson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998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3F3F-E00E-415E-A74C-D11125B5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F3F-311A-46FC-8B87-CFCC4A5D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identifying the pivot and the other related nodes, we must determine the structure of the AVL tree to perform the correct rotation to “re-balance” the tree</a:t>
            </a:r>
          </a:p>
          <a:p>
            <a:pPr lvl="2"/>
            <a:endParaRPr lang="en-US" dirty="0"/>
          </a:p>
          <a:p>
            <a:r>
              <a:rPr lang="en-US" dirty="0"/>
              <a:t>4 rotational cases: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Left-left – single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Right-right – single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Left-right – double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Right-left – double rotation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882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Left-Left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left subtree to the bad son, then left subtree again to the bad grandson</a:t>
            </a:r>
          </a:p>
          <a:p>
            <a:pPr lvl="1"/>
            <a:r>
              <a:rPr lang="en-US" dirty="0"/>
              <a:t>Perform a right rotation: the pivot “rotates” down to become the right child of bad son, bad son replaces pivot’s position, all other nodes are unchanged</a:t>
            </a:r>
          </a:p>
          <a:p>
            <a:pPr lvl="6"/>
            <a:endParaRPr lang="en-US" dirty="0"/>
          </a:p>
          <a:p>
            <a:pPr marL="457200" lvl="1" indent="0">
              <a:buNone/>
            </a:pPr>
            <a:r>
              <a:rPr lang="en-US" dirty="0"/>
              <a:t>Before:					After:</a:t>
            </a:r>
            <a:endParaRPr lang="en-CA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7D4F193-9EFD-4E61-B3B8-A55038F98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796146"/>
            <a:ext cx="335280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E1209-1632-4B1D-9B2D-296007B34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340" y="3796146"/>
            <a:ext cx="29908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90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Right-Right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right subtree to the bad son, then right subtree again to the bad grandson</a:t>
            </a:r>
          </a:p>
          <a:p>
            <a:pPr lvl="1"/>
            <a:r>
              <a:rPr lang="en-US" dirty="0"/>
              <a:t>Perform a left rotation: the pivot “rotates” down to become the left child of bad son, bad son replaces pivot’s position, all other nodes are unchanged</a:t>
            </a:r>
          </a:p>
          <a:p>
            <a:pPr lvl="6"/>
            <a:endParaRPr lang="en-US" dirty="0"/>
          </a:p>
          <a:p>
            <a:pPr marL="457200" lvl="1" indent="0">
              <a:buNone/>
            </a:pPr>
            <a:r>
              <a:rPr lang="en-US" dirty="0"/>
              <a:t>Before:					After:</a:t>
            </a:r>
            <a:endParaRPr lang="en-CA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497E3EC2-0D41-4AA0-8E2C-31B5CE639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41" y="3903244"/>
            <a:ext cx="3566159" cy="27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89342A9-4CFA-43EA-B295-F471BA96A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29" y="3903244"/>
            <a:ext cx="2812141" cy="182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81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E58E-9AB0-4769-847B-15B696A3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1502-AB4C-4268-8ECD-77CF8448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Before:					      After: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F8451-3D30-4625-ACFC-CF364B53D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2375536"/>
            <a:ext cx="56864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7ED801-73CC-4788-B3E4-6994C8B85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705" y="2375536"/>
            <a:ext cx="48291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29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C4D2-BC27-42E6-8A00-F3FDAF2E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92365-8746-4761-A4DE-3A643BB27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an empty tree, add 55, 43, 27 and make notes of node balances after each insertion</a:t>
            </a:r>
          </a:p>
          <a:p>
            <a:r>
              <a:rPr lang="en-US" dirty="0"/>
              <a:t>Identify pivot, son and grandson</a:t>
            </a:r>
          </a:p>
          <a:p>
            <a:r>
              <a:rPr lang="en-US" dirty="0"/>
              <a:t>Perform the correct rotation</a:t>
            </a:r>
          </a:p>
          <a:p>
            <a:r>
              <a:rPr lang="en-US" dirty="0"/>
              <a:t>Add 68, 82 and rotate again</a:t>
            </a:r>
          </a:p>
          <a:p>
            <a:r>
              <a:rPr lang="en-US" dirty="0"/>
              <a:t>What is the resulting AVL tree?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034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7A8D-8220-4B1F-B318-B5656C55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Rotations with Subtrees – Before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489B-768B-42A2-AD27-B1256FC8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744" y="1825625"/>
            <a:ext cx="3835056" cy="4351338"/>
          </a:xfrm>
        </p:spPr>
        <p:txBody>
          <a:bodyPr/>
          <a:lstStyle/>
          <a:p>
            <a:r>
              <a:rPr lang="en-US" dirty="0"/>
              <a:t>Right-right case</a:t>
            </a:r>
          </a:p>
          <a:p>
            <a:pPr lvl="1"/>
            <a:r>
              <a:rPr lang="en-US" dirty="0"/>
              <a:t>From pivot, search path towards inserted node</a:t>
            </a:r>
          </a:p>
          <a:p>
            <a:pPr lvl="1"/>
            <a:r>
              <a:rPr lang="en-US" dirty="0"/>
              <a:t>Bad son/grandson: balance changed after insertion</a:t>
            </a:r>
          </a:p>
          <a:p>
            <a:pPr lvl="1"/>
            <a:r>
              <a:rPr lang="en-US" dirty="0"/>
              <a:t>Good son/grandson: balance unaffected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2F350-FECE-4658-A899-4C5A7F7D4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88727"/>
            <a:ext cx="6680544" cy="4425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3558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D0EA-7627-4C6F-B094-22410507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Rotations with Subtrees – After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0FA9-0208-4BEA-9ADC-5848F5E9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823" y="1825625"/>
            <a:ext cx="2672976" cy="4351338"/>
          </a:xfrm>
        </p:spPr>
        <p:txBody>
          <a:bodyPr/>
          <a:lstStyle/>
          <a:p>
            <a:r>
              <a:rPr lang="en-US" dirty="0"/>
              <a:t>Left rotation</a:t>
            </a:r>
          </a:p>
          <a:p>
            <a:pPr lvl="1"/>
            <a:r>
              <a:rPr lang="en-US" dirty="0"/>
              <a:t>Pivot takes good son and “adopts” good grandson to form a new left subtree of bad son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79481B8-E477-42BF-8F51-3D4C9E557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11780"/>
            <a:ext cx="7842622" cy="3750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13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61AB-E9CF-49E9-AACE-8F07FDC1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E89C-2250-4335-BE6B-152537A9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an empty tree, add 60, 40, 80, 20, 50 and make notes of node balances after each insertion</a:t>
            </a:r>
          </a:p>
          <a:p>
            <a:r>
              <a:rPr lang="en-US" dirty="0"/>
              <a:t>Add 10 and identify pivot, sons, grandsons and great-grandsons</a:t>
            </a:r>
          </a:p>
          <a:p>
            <a:r>
              <a:rPr lang="en-US" dirty="0"/>
              <a:t>Perform the correct rotation</a:t>
            </a:r>
          </a:p>
          <a:p>
            <a:r>
              <a:rPr lang="en-US" dirty="0"/>
              <a:t>Add 70, 85, 95 and rotate again</a:t>
            </a:r>
          </a:p>
          <a:p>
            <a:r>
              <a:rPr lang="en-US" dirty="0"/>
              <a:t>What is the resulting AVL tree?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0027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BF26-09C0-4E5D-B84C-B08A844F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General Rotation Rule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9148-DF26-4BB2-A564-892B03C5A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sz="3300" dirty="0"/>
              <a:t>The B subtree is rotated with the pivot to maintain the strict order of BSTs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0B616-1560-4F5C-8BD5-535432D0E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697" y="1690688"/>
            <a:ext cx="3535199" cy="3252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B6C11-FA9E-48D8-B8DC-268920408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105" y="1665983"/>
            <a:ext cx="3563890" cy="327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7">
            <a:extLst>
              <a:ext uri="{FF2B5EF4-FFF2-40B4-BE49-F238E27FC236}">
                <a16:creationId xmlns:a16="http://schemas.microsoft.com/office/drawing/2014/main" id="{8072CA91-6034-426F-8690-4BC4AEAFA653}"/>
              </a:ext>
            </a:extLst>
          </p:cNvPr>
          <p:cNvSpPr/>
          <p:nvPr/>
        </p:nvSpPr>
        <p:spPr bwMode="auto">
          <a:xfrm>
            <a:off x="5330687" y="2535703"/>
            <a:ext cx="1336627" cy="60611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endParaRPr lang="en-CA"/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id="{2C3312EA-DB6B-413D-B302-BF3560E43EC0}"/>
              </a:ext>
            </a:extLst>
          </p:cNvPr>
          <p:cNvSpPr/>
          <p:nvPr/>
        </p:nvSpPr>
        <p:spPr bwMode="auto">
          <a:xfrm rot="10800000">
            <a:off x="5273404" y="3618195"/>
            <a:ext cx="1336627" cy="60413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7E04D-81B9-4FEE-AA94-9D42C3BD68BA}"/>
              </a:ext>
            </a:extLst>
          </p:cNvPr>
          <p:cNvSpPr txBox="1"/>
          <p:nvPr/>
        </p:nvSpPr>
        <p:spPr>
          <a:xfrm>
            <a:off x="5119122" y="2076966"/>
            <a:ext cx="1234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CA" sz="2400" dirty="0">
                <a:solidFill>
                  <a:schemeClr val="accent1"/>
                </a:solidFill>
              </a:rPr>
              <a:t>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6E1B4-E6D1-4A47-BE27-5E7A845E5EF6}"/>
              </a:ext>
            </a:extLst>
          </p:cNvPr>
          <p:cNvSpPr txBox="1"/>
          <p:nvPr/>
        </p:nvSpPr>
        <p:spPr>
          <a:xfrm>
            <a:off x="5310453" y="4227311"/>
            <a:ext cx="951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CA" sz="2400" dirty="0">
                <a:solidFill>
                  <a:schemeClr val="accent1"/>
                </a:solidFill>
              </a:rPr>
              <a:t>Left</a:t>
            </a:r>
          </a:p>
        </p:txBody>
      </p:sp>
    </p:spTree>
    <p:extLst>
      <p:ext uri="{BB962C8B-B14F-4D97-AF65-F5344CB8AC3E}">
        <p14:creationId xmlns:p14="http://schemas.microsoft.com/office/powerpoint/2010/main" val="3787442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Left-Right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left subtree to the bad son, then right subtree to the bad grandson</a:t>
            </a:r>
          </a:p>
          <a:p>
            <a:pPr lvl="1"/>
            <a:r>
              <a:rPr lang="en-US" dirty="0"/>
              <a:t>Perform a left rotation on son: make it into a left-left case</a:t>
            </a:r>
          </a:p>
          <a:p>
            <a:pPr lvl="1"/>
            <a:r>
              <a:rPr lang="en-US" dirty="0"/>
              <a:t>Perform a right rotation on pivot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27422BA-197D-4552-AA47-35E4443C3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291" y="3553937"/>
            <a:ext cx="2611427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1F8522FD-06E6-47B3-8B4B-47800C95A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134" y="3553937"/>
            <a:ext cx="31051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7DBF667-BBF5-41A1-AB9B-438101E61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700" y="3541474"/>
            <a:ext cx="2961020" cy="188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529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868F-5FD0-4D48-B857-DEAB1586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Right-Left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2DDA-9CF9-4CDE-B79D-753042280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right subtree to the bad son, then left subtree to the bad grandson</a:t>
            </a:r>
          </a:p>
          <a:p>
            <a:pPr lvl="1"/>
            <a:r>
              <a:rPr lang="en-US" dirty="0"/>
              <a:t>Perform a right rotation on son: make it into a right-right case</a:t>
            </a:r>
          </a:p>
          <a:p>
            <a:pPr lvl="1"/>
            <a:r>
              <a:rPr lang="en-US" dirty="0"/>
              <a:t>Perform a left rotation on pivot</a:t>
            </a:r>
          </a:p>
          <a:p>
            <a:endParaRPr lang="en-CA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C9F74E-96FB-45ED-A34E-0AD249F95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" y="3429000"/>
            <a:ext cx="211281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772F6D0-FB23-44F9-A441-FF0C60086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170" y="3424238"/>
            <a:ext cx="302895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005694-7783-489E-AD85-B2BC67BF6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200" y="3429000"/>
            <a:ext cx="27527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261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155-1580-4950-AA83-9655453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Before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F9D4-C10F-4DA1-9CF8-431D0CA79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476" y="1825625"/>
            <a:ext cx="4761324" cy="4351338"/>
          </a:xfrm>
        </p:spPr>
        <p:txBody>
          <a:bodyPr/>
          <a:lstStyle/>
          <a:p>
            <a:r>
              <a:rPr lang="en-US" dirty="0"/>
              <a:t>Right-left case</a:t>
            </a:r>
          </a:p>
          <a:p>
            <a:pPr lvl="1"/>
            <a:r>
              <a:rPr lang="en-CA" dirty="0"/>
              <a:t>1</a:t>
            </a:r>
            <a:r>
              <a:rPr lang="en-CA" baseline="30000" dirty="0"/>
              <a:t>st</a:t>
            </a:r>
            <a:r>
              <a:rPr lang="en-CA" dirty="0"/>
              <a:t> rotation: convert into right-right case by rotating bad grandson up to be the parent of bad son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9DCDFEF-B080-4D89-863D-EC7FF7F6F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79905"/>
            <a:ext cx="5754276" cy="446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839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155-1580-4950-AA83-9655453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After 1</a:t>
            </a:r>
            <a:r>
              <a:rPr lang="en-US" baseline="30000" dirty="0"/>
              <a:t>st</a:t>
            </a:r>
            <a:r>
              <a:rPr lang="en-US" dirty="0"/>
              <a:t>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F9D4-C10F-4DA1-9CF8-431D0CA79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9912" y="1825625"/>
            <a:ext cx="3453888" cy="4351338"/>
          </a:xfrm>
        </p:spPr>
        <p:txBody>
          <a:bodyPr/>
          <a:lstStyle/>
          <a:p>
            <a:r>
              <a:rPr lang="en-US" dirty="0"/>
              <a:t>Right-right case</a:t>
            </a:r>
          </a:p>
          <a:p>
            <a:pPr lvl="1"/>
            <a:r>
              <a:rPr lang="en-CA" dirty="0"/>
              <a:t>2</a:t>
            </a:r>
            <a:r>
              <a:rPr lang="en-CA" baseline="30000" dirty="0"/>
              <a:t>nd</a:t>
            </a:r>
            <a:r>
              <a:rPr lang="en-CA" dirty="0"/>
              <a:t> rotation: pivot takes good son and good grandson to form new left subtree of bad son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6E7369B-F9CC-4F57-8553-311562382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345"/>
            <a:ext cx="7061712" cy="4305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88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F1EF-CAD2-4777-A426-5EBD201F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After 2</a:t>
            </a:r>
            <a:r>
              <a:rPr lang="en-US" baseline="30000" dirty="0"/>
              <a:t>nd</a:t>
            </a:r>
            <a:r>
              <a:rPr lang="en-US" dirty="0"/>
              <a:t>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DC06-DE5B-4A62-A637-502598BE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3C240-6505-4000-849A-E3D4FA7C9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01" y="1825624"/>
            <a:ext cx="7831998" cy="375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55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0C95-F24F-42B6-8FC8-50A58BC4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Deletions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7D55-71E6-47AC-928A-80EF85769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exactly like BST deletion operations</a:t>
            </a:r>
          </a:p>
          <a:p>
            <a:pPr lvl="1"/>
            <a:r>
              <a:rPr lang="en-US" dirty="0"/>
              <a:t>Using either the “next smaller” or “next bigger” approach</a:t>
            </a:r>
          </a:p>
          <a:p>
            <a:pPr lvl="1"/>
            <a:r>
              <a:rPr lang="en-US" dirty="0"/>
              <a:t>Must keep the tree balanced after removing a node!</a:t>
            </a:r>
          </a:p>
          <a:p>
            <a:pPr lvl="1"/>
            <a:endParaRPr lang="en-US" dirty="0"/>
          </a:p>
          <a:p>
            <a:r>
              <a:rPr lang="en-US" dirty="0"/>
              <a:t>Just like insertions, recalculate the balances of each node, identify the pivot if any and rotate according to the structure</a:t>
            </a:r>
          </a:p>
          <a:p>
            <a:pPr lvl="1"/>
            <a:r>
              <a:rPr lang="en-US" dirty="0"/>
              <a:t>We won’t cover this in the course, but if you’re interested – try out the “remove” function on visualgo.net! :D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00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26161</TotalTime>
  <Words>1686</Words>
  <Application>Microsoft Office PowerPoint</Application>
  <PresentationFormat>Widescreen</PresentationFormat>
  <Paragraphs>245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Futura Md BT</vt:lpstr>
      <vt:lpstr>Times New Roman</vt:lpstr>
      <vt:lpstr>Verdana</vt:lpstr>
      <vt:lpstr>Office Theme</vt:lpstr>
      <vt:lpstr>Self-balancing Trees</vt:lpstr>
      <vt:lpstr>Balanced Trees</vt:lpstr>
      <vt:lpstr>Balancing a Tree</vt:lpstr>
      <vt:lpstr>Balance of a Node</vt:lpstr>
      <vt:lpstr>Balance of a Node</vt:lpstr>
      <vt:lpstr>Balance of a Node</vt:lpstr>
      <vt:lpstr>Exercise</vt:lpstr>
      <vt:lpstr>AVL Trees</vt:lpstr>
      <vt:lpstr>AVL Insertions</vt:lpstr>
      <vt:lpstr>The Pivot Node</vt:lpstr>
      <vt:lpstr>Pivot Examples</vt:lpstr>
      <vt:lpstr>Pivot Identification Exercise</vt:lpstr>
      <vt:lpstr>The Other Nodes</vt:lpstr>
      <vt:lpstr>Rotations</vt:lpstr>
      <vt:lpstr>Left-Left Case</vt:lpstr>
      <vt:lpstr>Right-Right Case</vt:lpstr>
      <vt:lpstr>Another Example</vt:lpstr>
      <vt:lpstr>Exercise</vt:lpstr>
      <vt:lpstr>Single Rotations with Subtrees – Before rotation</vt:lpstr>
      <vt:lpstr>Single Rotations with Subtrees – After rotation</vt:lpstr>
      <vt:lpstr>Exercise</vt:lpstr>
      <vt:lpstr>General Rotation Rule</vt:lpstr>
      <vt:lpstr>Left-Right Case</vt:lpstr>
      <vt:lpstr>Right-Left Case</vt:lpstr>
      <vt:lpstr>Double Rotations with Subtrees – Before rotation</vt:lpstr>
      <vt:lpstr>Double Rotations with Subtrees – After 1st rotation</vt:lpstr>
      <vt:lpstr>Double Rotations with Subtrees – After 2nd rotation</vt:lpstr>
      <vt:lpstr>AVL Deletions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381</cp:revision>
  <dcterms:created xsi:type="dcterms:W3CDTF">2016-04-05T14:17:30Z</dcterms:created>
  <dcterms:modified xsi:type="dcterms:W3CDTF">2026-06-13T07:35:03Z</dcterms:modified>
</cp:coreProperties>
</file>