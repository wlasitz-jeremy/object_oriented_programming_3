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8" r:id="rId2"/>
    <p:sldId id="327" r:id="rId3"/>
    <p:sldId id="328" r:id="rId4"/>
    <p:sldId id="329" r:id="rId5"/>
    <p:sldId id="331" r:id="rId6"/>
    <p:sldId id="332" r:id="rId7"/>
    <p:sldId id="266" r:id="rId8"/>
    <p:sldId id="304" r:id="rId9"/>
    <p:sldId id="305" r:id="rId10"/>
    <p:sldId id="306" r:id="rId11"/>
    <p:sldId id="307" r:id="rId12"/>
    <p:sldId id="308" r:id="rId13"/>
    <p:sldId id="309" r:id="rId14"/>
    <p:sldId id="311" r:id="rId15"/>
    <p:sldId id="310" r:id="rId16"/>
    <p:sldId id="312" r:id="rId17"/>
    <p:sldId id="313" r:id="rId18"/>
    <p:sldId id="314" r:id="rId19"/>
    <p:sldId id="315" r:id="rId20"/>
    <p:sldId id="316" r:id="rId21"/>
    <p:sldId id="317" r:id="rId22"/>
    <p:sldId id="318" r:id="rId23"/>
    <p:sldId id="319" r:id="rId24"/>
    <p:sldId id="320" r:id="rId25"/>
    <p:sldId id="32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59091" autoAdjust="0"/>
  </p:normalViewPr>
  <p:slideViewPr>
    <p:cSldViewPr snapToGrid="0" snapToObjects="1" showGuides="1">
      <p:cViewPr varScale="1">
        <p:scale>
          <a:sx n="62" d="100"/>
          <a:sy n="62" d="100"/>
        </p:scale>
        <p:origin x="66"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tty Wong" userId="934a16c2-3b82-4a04-8cf4-72a5c39a78f6" providerId="ADAL" clId="{6624BDA5-5E62-4DCD-AC58-5D64DFC703A6}"/>
    <pc:docChg chg="undo custSel addSld delSld modSld">
      <pc:chgData name="Kitty Wong" userId="934a16c2-3b82-4a04-8cf4-72a5c39a78f6" providerId="ADAL" clId="{6624BDA5-5E62-4DCD-AC58-5D64DFC703A6}" dt="2026-09-26T09:10:28.431" v="496" actId="20577"/>
      <pc:docMkLst>
        <pc:docMk/>
      </pc:docMkLst>
      <pc:sldChg chg="modSp mod">
        <pc:chgData name="Kitty Wong" userId="934a16c2-3b82-4a04-8cf4-72a5c39a78f6" providerId="ADAL" clId="{6624BDA5-5E62-4DCD-AC58-5D64DFC703A6}" dt="2026-09-26T09:09:48.261" v="494" actId="20577"/>
        <pc:sldMkLst>
          <pc:docMk/>
          <pc:sldMk cId="712547841" sldId="258"/>
        </pc:sldMkLst>
        <pc:spChg chg="mod">
          <ac:chgData name="Kitty Wong" userId="934a16c2-3b82-4a04-8cf4-72a5c39a78f6" providerId="ADAL" clId="{6624BDA5-5E62-4DCD-AC58-5D64DFC703A6}" dt="2026-09-26T09:09:48.261" v="494" actId="20577"/>
          <ac:spMkLst>
            <pc:docMk/>
            <pc:sldMk cId="712547841" sldId="258"/>
            <ac:spMk id="2" creationId="{00000000-0000-0000-0000-000000000000}"/>
          </ac:spMkLst>
        </pc:spChg>
      </pc:sldChg>
      <pc:sldChg chg="modNotesTx">
        <pc:chgData name="Kitty Wong" userId="934a16c2-3b82-4a04-8cf4-72a5c39a78f6" providerId="ADAL" clId="{6624BDA5-5E62-4DCD-AC58-5D64DFC703A6}" dt="2026-09-26T09:10:28.431" v="496" actId="20577"/>
        <pc:sldMkLst>
          <pc:docMk/>
          <pc:sldMk cId="404936318" sldId="321"/>
        </pc:sldMkLst>
      </pc:sldChg>
      <pc:sldChg chg="del">
        <pc:chgData name="Kitty Wong" userId="934a16c2-3b82-4a04-8cf4-72a5c39a78f6" providerId="ADAL" clId="{6624BDA5-5E62-4DCD-AC58-5D64DFC703A6}" dt="2026-09-26T09:10:14.406" v="495" actId="47"/>
        <pc:sldMkLst>
          <pc:docMk/>
          <pc:sldMk cId="2538874026" sldId="322"/>
        </pc:sldMkLst>
      </pc:sldChg>
      <pc:sldChg chg="del">
        <pc:chgData name="Kitty Wong" userId="934a16c2-3b82-4a04-8cf4-72a5c39a78f6" providerId="ADAL" clId="{6624BDA5-5E62-4DCD-AC58-5D64DFC703A6}" dt="2026-09-26T09:10:14.406" v="495" actId="47"/>
        <pc:sldMkLst>
          <pc:docMk/>
          <pc:sldMk cId="3921942857" sldId="323"/>
        </pc:sldMkLst>
      </pc:sldChg>
      <pc:sldChg chg="del">
        <pc:chgData name="Kitty Wong" userId="934a16c2-3b82-4a04-8cf4-72a5c39a78f6" providerId="ADAL" clId="{6624BDA5-5E62-4DCD-AC58-5D64DFC703A6}" dt="2026-09-26T09:10:14.406" v="495" actId="47"/>
        <pc:sldMkLst>
          <pc:docMk/>
          <pc:sldMk cId="2886860221" sldId="324"/>
        </pc:sldMkLst>
      </pc:sldChg>
      <pc:sldChg chg="del">
        <pc:chgData name="Kitty Wong" userId="934a16c2-3b82-4a04-8cf4-72a5c39a78f6" providerId="ADAL" clId="{6624BDA5-5E62-4DCD-AC58-5D64DFC703A6}" dt="2026-09-26T09:10:14.406" v="495" actId="47"/>
        <pc:sldMkLst>
          <pc:docMk/>
          <pc:sldMk cId="230420976" sldId="325"/>
        </pc:sldMkLst>
      </pc:sldChg>
      <pc:sldChg chg="del">
        <pc:chgData name="Kitty Wong" userId="934a16c2-3b82-4a04-8cf4-72a5c39a78f6" providerId="ADAL" clId="{6624BDA5-5E62-4DCD-AC58-5D64DFC703A6}" dt="2026-09-26T09:10:14.406" v="495" actId="47"/>
        <pc:sldMkLst>
          <pc:docMk/>
          <pc:sldMk cId="1433593814" sldId="32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7C5150-9119-490A-A216-3D2FA22F7FFC}" type="datetimeFigureOut">
              <a:rPr lang="en-CA" smtClean="0"/>
              <a:t>2026-09-26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F01B0-FE71-4C35-BC11-34BCAF52C437}" type="slidenum">
              <a:rPr lang="en-CA" smtClean="0"/>
              <a:t>‹#›</a:t>
            </a:fld>
            <a:endParaRPr lang="en-CA"/>
          </a:p>
        </p:txBody>
      </p:sp>
    </p:spTree>
    <p:extLst>
      <p:ext uri="{BB962C8B-B14F-4D97-AF65-F5344CB8AC3E}">
        <p14:creationId xmlns:p14="http://schemas.microsoft.com/office/powerpoint/2010/main" val="2518715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DF01B0-FE71-4C35-BC11-34BCAF52C437}" type="slidenum">
              <a:rPr lang="en-CA" smtClean="0"/>
              <a:t>1</a:t>
            </a:fld>
            <a:endParaRPr lang="en-CA"/>
          </a:p>
        </p:txBody>
      </p:sp>
    </p:spTree>
    <p:extLst>
      <p:ext uri="{BB962C8B-B14F-4D97-AF65-F5344CB8AC3E}">
        <p14:creationId xmlns:p14="http://schemas.microsoft.com/office/powerpoint/2010/main" val="1884458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Search” Tree – built to perform binary searches!</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a:t>
            </a:fld>
            <a:endParaRPr lang="en-CA"/>
          </a:p>
        </p:txBody>
      </p:sp>
    </p:spTree>
    <p:extLst>
      <p:ext uri="{BB962C8B-B14F-4D97-AF65-F5344CB8AC3E}">
        <p14:creationId xmlns:p14="http://schemas.microsoft.com/office/powerpoint/2010/main" val="280735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Img</a:t>
            </a:r>
            <a:r>
              <a:rPr lang="en-US" dirty="0"/>
              <a:t> stolen from Wikipedia :D</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3</a:t>
            </a:fld>
            <a:endParaRPr lang="en-CA"/>
          </a:p>
        </p:txBody>
      </p:sp>
    </p:spTree>
    <p:extLst>
      <p:ext uri="{BB962C8B-B14F-4D97-AF65-F5344CB8AC3E}">
        <p14:creationId xmlns:p14="http://schemas.microsoft.com/office/powerpoint/2010/main" val="3225721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Very similar to a DLL node!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4</a:t>
            </a:fld>
            <a:endParaRPr lang="en-CA"/>
          </a:p>
        </p:txBody>
      </p:sp>
    </p:spTree>
    <p:extLst>
      <p:ext uri="{BB962C8B-B14F-4D97-AF65-F5344CB8AC3E}">
        <p14:creationId xmlns:p14="http://schemas.microsoft.com/office/powerpoint/2010/main" val="2105004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5</a:t>
            </a:fld>
            <a:endParaRPr lang="en-CA"/>
          </a:p>
        </p:txBody>
      </p:sp>
    </p:spTree>
    <p:extLst>
      <p:ext uri="{BB962C8B-B14F-4D97-AF65-F5344CB8AC3E}">
        <p14:creationId xmlns:p14="http://schemas.microsoft.com/office/powerpoint/2010/main" val="1645110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6</a:t>
            </a:fld>
            <a:endParaRPr lang="en-CA"/>
          </a:p>
        </p:txBody>
      </p:sp>
    </p:spTree>
    <p:extLst>
      <p:ext uri="{BB962C8B-B14F-4D97-AF65-F5344CB8AC3E}">
        <p14:creationId xmlns:p14="http://schemas.microsoft.com/office/powerpoint/2010/main" val="3212292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Recall definition of traversal vs iteration – means the same thing in linear data structures (from one end to the other end) but very different in trees! What would you define as the start/head/first element? What about the end/tail/last? And what order of each node comes in-between??</a:t>
            </a:r>
          </a:p>
          <a:p>
            <a:endParaRPr lang="en-US"/>
          </a:p>
          <a:p>
            <a:r>
              <a:rPr lang="en-US" dirty="0"/>
              <a:t>For trees, the process of traversing (walkthrough) can pass through the same nodes multiple times. To iterate through a tree, we need to traverse it (in whichever way) to give us a “list” of each element.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From each node, we can follow left/right child to either subtree… which path you take would end up taking you through the tree in different ways!</a:t>
            </a:r>
          </a:p>
          <a:p>
            <a:endParaRPr lang="en-US" dirty="0"/>
          </a:p>
        </p:txBody>
      </p:sp>
      <p:sp>
        <p:nvSpPr>
          <p:cNvPr id="4" name="Slide Number Placeholder 3"/>
          <p:cNvSpPr>
            <a:spLocks noGrp="1"/>
          </p:cNvSpPr>
          <p:nvPr>
            <p:ph type="sldNum" sz="quarter" idx="5"/>
          </p:nvPr>
        </p:nvSpPr>
        <p:spPr/>
        <p:txBody>
          <a:bodyPr/>
          <a:lstStyle/>
          <a:p>
            <a:fld id="{D9DF01B0-FE71-4C35-BC11-34BCAF52C437}" type="slidenum">
              <a:rPr lang="en-CA" smtClean="0"/>
              <a:t>7</a:t>
            </a:fld>
            <a:endParaRPr lang="en-CA"/>
          </a:p>
        </p:txBody>
      </p:sp>
    </p:spTree>
    <p:extLst>
      <p:ext uri="{BB962C8B-B14F-4D97-AF65-F5344CB8AC3E}">
        <p14:creationId xmlns:p14="http://schemas.microsoft.com/office/powerpoint/2010/main" val="894497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Breadth-first is more intuitive to us humans, especially when we draw it out and look at the tree visually… but not so much for dumb computers! It’s very expensive and inefficient to go from one sibling to another! (Imagine going from 7 to 13)</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8</a:t>
            </a:fld>
            <a:endParaRPr lang="en-CA"/>
          </a:p>
        </p:txBody>
      </p:sp>
    </p:spTree>
    <p:extLst>
      <p:ext uri="{BB962C8B-B14F-4D97-AF65-F5344CB8AC3E}">
        <p14:creationId xmlns:p14="http://schemas.microsoft.com/office/powerpoint/2010/main" val="1310718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“Visiting a node” = retrieving the element in our iterator… we can access a node without visiting it!</a:t>
            </a:r>
          </a:p>
          <a:p>
            <a:r>
              <a:rPr lang="en-US" dirty="0"/>
              <a:t>- Like a simple getter i.e. </a:t>
            </a:r>
            <a:r>
              <a:rPr lang="en-US" dirty="0" err="1"/>
              <a:t>getElement</a:t>
            </a:r>
            <a:r>
              <a:rPr lang="en-US"/>
              <a: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9</a:t>
            </a:fld>
            <a:endParaRPr lang="en-CA"/>
          </a:p>
        </p:txBody>
      </p:sp>
    </p:spTree>
    <p:extLst>
      <p:ext uri="{BB962C8B-B14F-4D97-AF65-F5344CB8AC3E}">
        <p14:creationId xmlns:p14="http://schemas.microsoft.com/office/powerpoint/2010/main" val="1592341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10</a:t>
            </a:fld>
            <a:endParaRPr lang="en-CA"/>
          </a:p>
        </p:txBody>
      </p:sp>
    </p:spTree>
    <p:extLst>
      <p:ext uri="{BB962C8B-B14F-4D97-AF65-F5344CB8AC3E}">
        <p14:creationId xmlns:p14="http://schemas.microsoft.com/office/powerpoint/2010/main" val="2322325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solidFill>
                  <a:schemeClr val="tx1"/>
                </a:solidFill>
                <a:latin typeface="Futura MdCn BT" pitchFamily="34" charset="0"/>
              </a:rPr>
              <a:t>In-order traversal of a BST visits the elements in sorted </a:t>
            </a:r>
            <a:r>
              <a:rPr lang="en-US" altLang="en-US" sz="1200" b="0" u="none" dirty="0">
                <a:solidFill>
                  <a:schemeClr val="tx1"/>
                </a:solidFill>
                <a:latin typeface="Futura MdCn BT" pitchFamily="34" charset="0"/>
              </a:rPr>
              <a:t>ascending 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0" u="none" dirty="0">
              <a:solidFill>
                <a:schemeClr val="tx1"/>
              </a:solidFill>
              <a:latin typeface="Futura MdCn BT" pitchFamily="34" charset="0"/>
            </a:endParaRPr>
          </a:p>
          <a:p>
            <a:pPr marL="285750" lvl="0" indent="-285750">
              <a:lnSpc>
                <a:spcPct val="107000"/>
              </a:lnSpc>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you write out the tree in preorder to the file, reading the file back into the program will let you restore the tree to its original form</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buFontTx/>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If you write out the tree in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inorder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you restore the tree to minimum height, this improves performance on the next round!</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buFontTx/>
              <a:buChar cha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Postorder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is probably not very useful for the assignment, but keep in mind that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postorder</a:t>
            </a:r>
            <a:r>
              <a:rPr lang="en-US" sz="1800" dirty="0">
                <a:effectLst/>
                <a:latin typeface="Calibri" panose="020F0502020204030204" pitchFamily="34" charset="0"/>
                <a:ea typeface="Calibri" panose="020F0502020204030204" pitchFamily="34" charset="0"/>
                <a:cs typeface="Times New Roman" panose="02020603050405020304" pitchFamily="18" charset="0"/>
              </a:rPr>
              <a:t> traversal will generate a postfix representation of the tree, useful for creating the reverse polish notation if you’re working with expression trees!</a:t>
            </a:r>
            <a:endParaRPr lang="en-CA"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D9DF01B0-FE71-4C35-BC11-34BCAF52C437}" type="slidenum">
              <a:rPr lang="en-CA" smtClean="0"/>
              <a:t>11</a:t>
            </a:fld>
            <a:endParaRPr lang="en-CA"/>
          </a:p>
        </p:txBody>
      </p:sp>
    </p:spTree>
    <p:extLst>
      <p:ext uri="{BB962C8B-B14F-4D97-AF65-F5344CB8AC3E}">
        <p14:creationId xmlns:p14="http://schemas.microsoft.com/office/powerpoint/2010/main" val="1777033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Pre: D, B, A, C, F, E, H, G, I</a:t>
            </a:r>
          </a:p>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In: A, B, C, D, E, F, G, H, I</a:t>
            </a:r>
          </a:p>
          <a:p>
            <a:pPr>
              <a:lnSpc>
                <a:spcPct val="107000"/>
              </a:lnSpc>
              <a:spcAft>
                <a:spcPts val="800"/>
              </a:spcAft>
            </a:pPr>
            <a:r>
              <a:rPr lang="en-CA" sz="1800" dirty="0">
                <a:effectLst/>
                <a:latin typeface="Calibri" panose="020F0502020204030204" pitchFamily="34" charset="0"/>
                <a:ea typeface="Calibri" panose="020F0502020204030204" pitchFamily="34" charset="0"/>
                <a:cs typeface="Times New Roman" panose="02020603050405020304" pitchFamily="18" charset="0"/>
              </a:rPr>
              <a:t>Post: A, C, B, E, G, I, H, F, D</a:t>
            </a:r>
          </a:p>
        </p:txBody>
      </p:sp>
      <p:sp>
        <p:nvSpPr>
          <p:cNvPr id="4" name="Slide Number Placeholder 3"/>
          <p:cNvSpPr>
            <a:spLocks noGrp="1"/>
          </p:cNvSpPr>
          <p:nvPr>
            <p:ph type="sldNum" sz="quarter" idx="5"/>
          </p:nvPr>
        </p:nvSpPr>
        <p:spPr/>
        <p:txBody>
          <a:bodyPr/>
          <a:lstStyle/>
          <a:p>
            <a:fld id="{D9DF01B0-FE71-4C35-BC11-34BCAF52C437}" type="slidenum">
              <a:rPr lang="en-CA" smtClean="0"/>
              <a:t>12</a:t>
            </a:fld>
            <a:endParaRPr lang="en-CA"/>
          </a:p>
        </p:txBody>
      </p:sp>
    </p:spTree>
    <p:extLst>
      <p:ext uri="{BB962C8B-B14F-4D97-AF65-F5344CB8AC3E}">
        <p14:creationId xmlns:p14="http://schemas.microsoft.com/office/powerpoint/2010/main" val="710116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pPr>
            <a:r>
              <a:rPr lang="en-US" altLang="en-US" sz="1200" dirty="0"/>
              <a:t>3 tasks (L, V, R) performed separately, 2 recursive calls – inefficiency doubles!</a:t>
            </a:r>
          </a:p>
          <a:p>
            <a:pPr>
              <a:lnSpc>
                <a:spcPct val="80000"/>
              </a:lnSpc>
            </a:pPr>
            <a:r>
              <a:rPr lang="en-US" altLang="en-US" sz="1200" dirty="0"/>
              <a:t>Run-time stack is being used, what if n is huge? STACK OVERFLOW!</a:t>
            </a:r>
          </a:p>
        </p:txBody>
      </p:sp>
      <p:sp>
        <p:nvSpPr>
          <p:cNvPr id="4" name="Slide Number Placeholder 3"/>
          <p:cNvSpPr>
            <a:spLocks noGrp="1"/>
          </p:cNvSpPr>
          <p:nvPr>
            <p:ph type="sldNum" sz="quarter" idx="5"/>
          </p:nvPr>
        </p:nvSpPr>
        <p:spPr/>
        <p:txBody>
          <a:bodyPr/>
          <a:lstStyle/>
          <a:p>
            <a:fld id="{D9DF01B0-FE71-4C35-BC11-34BCAF52C437}" type="slidenum">
              <a:rPr lang="en-CA" smtClean="0"/>
              <a:t>13</a:t>
            </a:fld>
            <a:endParaRPr lang="en-CA"/>
          </a:p>
        </p:txBody>
      </p:sp>
    </p:spTree>
    <p:extLst>
      <p:ext uri="{BB962C8B-B14F-4D97-AF65-F5344CB8AC3E}">
        <p14:creationId xmlns:p14="http://schemas.microsoft.com/office/powerpoint/2010/main" val="1862976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right is pushed before left so it will be on the top of the stack which will be processed first!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14</a:t>
            </a:fld>
            <a:endParaRPr lang="en-CA"/>
          </a:p>
        </p:txBody>
      </p:sp>
    </p:spTree>
    <p:extLst>
      <p:ext uri="{BB962C8B-B14F-4D97-AF65-F5344CB8AC3E}">
        <p14:creationId xmlns:p14="http://schemas.microsoft.com/office/powerpoint/2010/main" val="3666815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15</a:t>
            </a:fld>
            <a:endParaRPr lang="en-CA"/>
          </a:p>
        </p:txBody>
      </p:sp>
    </p:spTree>
    <p:extLst>
      <p:ext uri="{BB962C8B-B14F-4D97-AF65-F5344CB8AC3E}">
        <p14:creationId xmlns:p14="http://schemas.microsoft.com/office/powerpoint/2010/main" val="537282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start</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16</a:t>
            </a:fld>
            <a:endParaRPr lang="en-CA"/>
          </a:p>
        </p:txBody>
      </p:sp>
    </p:spTree>
    <p:extLst>
      <p:ext uri="{BB962C8B-B14F-4D97-AF65-F5344CB8AC3E}">
        <p14:creationId xmlns:p14="http://schemas.microsoft.com/office/powerpoint/2010/main" val="3283169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17</a:t>
            </a:fld>
            <a:endParaRPr lang="en-CA"/>
          </a:p>
        </p:txBody>
      </p:sp>
    </p:spTree>
    <p:extLst>
      <p:ext uri="{BB962C8B-B14F-4D97-AF65-F5344CB8AC3E}">
        <p14:creationId xmlns:p14="http://schemas.microsoft.com/office/powerpoint/2010/main" val="1739092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18</a:t>
            </a:fld>
            <a:endParaRPr lang="en-CA"/>
          </a:p>
        </p:txBody>
      </p:sp>
    </p:spTree>
    <p:extLst>
      <p:ext uri="{BB962C8B-B14F-4D97-AF65-F5344CB8AC3E}">
        <p14:creationId xmlns:p14="http://schemas.microsoft.com/office/powerpoint/2010/main" val="42710223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19</a:t>
            </a:fld>
            <a:endParaRPr lang="en-CA"/>
          </a:p>
        </p:txBody>
      </p:sp>
    </p:spTree>
    <p:extLst>
      <p:ext uri="{BB962C8B-B14F-4D97-AF65-F5344CB8AC3E}">
        <p14:creationId xmlns:p14="http://schemas.microsoft.com/office/powerpoint/2010/main" val="32438531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20</a:t>
            </a:fld>
            <a:endParaRPr lang="en-CA"/>
          </a:p>
        </p:txBody>
      </p:sp>
    </p:spTree>
    <p:extLst>
      <p:ext uri="{BB962C8B-B14F-4D97-AF65-F5344CB8AC3E}">
        <p14:creationId xmlns:p14="http://schemas.microsoft.com/office/powerpoint/2010/main" val="984485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21</a:t>
            </a:fld>
            <a:endParaRPr lang="en-CA"/>
          </a:p>
        </p:txBody>
      </p:sp>
    </p:spTree>
    <p:extLst>
      <p:ext uri="{BB962C8B-B14F-4D97-AF65-F5344CB8AC3E}">
        <p14:creationId xmlns:p14="http://schemas.microsoft.com/office/powerpoint/2010/main" val="283554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22</a:t>
            </a:fld>
            <a:endParaRPr lang="en-CA"/>
          </a:p>
        </p:txBody>
      </p:sp>
    </p:spTree>
    <p:extLst>
      <p:ext uri="{BB962C8B-B14F-4D97-AF65-F5344CB8AC3E}">
        <p14:creationId xmlns:p14="http://schemas.microsoft.com/office/powerpoint/2010/main" val="237527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23</a:t>
            </a:fld>
            <a:endParaRPr lang="en-CA"/>
          </a:p>
        </p:txBody>
      </p:sp>
    </p:spTree>
    <p:extLst>
      <p:ext uri="{BB962C8B-B14F-4D97-AF65-F5344CB8AC3E}">
        <p14:creationId xmlns:p14="http://schemas.microsoft.com/office/powerpoint/2010/main" val="6373201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common implementations would use the “next smaller” (</a:t>
            </a:r>
            <a:r>
              <a:rPr lang="en-US" dirty="0" err="1"/>
              <a:t>inorder</a:t>
            </a:r>
            <a:r>
              <a:rPr lang="en-US" dirty="0"/>
              <a:t> predecessor) approach because the left subtree can contain another element of the same value as the deleted node.</a:t>
            </a:r>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24</a:t>
            </a:fld>
            <a:endParaRPr lang="en-CA"/>
          </a:p>
        </p:txBody>
      </p:sp>
    </p:spTree>
    <p:extLst>
      <p:ext uri="{BB962C8B-B14F-4D97-AF65-F5344CB8AC3E}">
        <p14:creationId xmlns:p14="http://schemas.microsoft.com/office/powerpoint/2010/main" val="1635646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9DF01B0-FE71-4C35-BC11-34BCAF52C437}" type="slidenum">
              <a:rPr lang="en-CA" smtClean="0"/>
              <a:t>25</a:t>
            </a:fld>
            <a:endParaRPr lang="en-CA"/>
          </a:p>
        </p:txBody>
      </p:sp>
    </p:spTree>
    <p:extLst>
      <p:ext uri="{BB962C8B-B14F-4D97-AF65-F5344CB8AC3E}">
        <p14:creationId xmlns:p14="http://schemas.microsoft.com/office/powerpoint/2010/main" val="5294369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2" name="Title 1"/>
          <p:cNvSpPr>
            <a:spLocks noGrp="1"/>
          </p:cNvSpPr>
          <p:nvPr>
            <p:ph type="ctrTitle"/>
          </p:nvPr>
        </p:nvSpPr>
        <p:spPr>
          <a:xfrm>
            <a:off x="3822672" y="1122363"/>
            <a:ext cx="6845328" cy="2387600"/>
          </a:xfrm>
        </p:spPr>
        <p:txBody>
          <a:bodyPr anchor="b">
            <a:normAutofit/>
          </a:bodyPr>
          <a:lstStyle>
            <a:lvl1pPr algn="l">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Subtitle 2"/>
          <p:cNvSpPr>
            <a:spLocks noGrp="1"/>
          </p:cNvSpPr>
          <p:nvPr>
            <p:ph type="subTitle" idx="1"/>
          </p:nvPr>
        </p:nvSpPr>
        <p:spPr>
          <a:xfrm>
            <a:off x="3822672" y="3602038"/>
            <a:ext cx="6845328" cy="1655762"/>
          </a:xfrm>
        </p:spPr>
        <p:txBody>
          <a:bodyPr>
            <a:normAutofit/>
          </a:bodyPr>
          <a:lstStyle>
            <a:lvl1pPr marL="0" indent="0" algn="l">
              <a:buNone/>
              <a:defRPr sz="3000">
                <a:solidFill>
                  <a:schemeClr val="accent1"/>
                </a:solidFill>
                <a:latin typeface="Verdana" charset="0"/>
                <a:ea typeface="Verdana" charset="0"/>
                <a:cs typeface="Verdana"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822672" y="6390216"/>
            <a:ext cx="1231900" cy="365125"/>
          </a:xfrm>
        </p:spPr>
        <p:txBody>
          <a:bodyPr anchor="b"/>
          <a:lstStyle>
            <a:lvl1pPr>
              <a:defRPr>
                <a:solidFill>
                  <a:schemeClr val="accent6"/>
                </a:solidFill>
              </a:defRPr>
            </a:lvl1pPr>
          </a:lstStyle>
          <a:p>
            <a:fld id="{E4A6AB35-C22C-4755-9BC8-96579CB63199}" type="datetime1">
              <a:rPr lang="en-US" smtClean="0"/>
              <a:t>9/26/2026</a:t>
            </a:fld>
            <a:endParaRPr lang="en-US" dirty="0"/>
          </a:p>
        </p:txBody>
      </p:sp>
      <p:sp>
        <p:nvSpPr>
          <p:cNvPr id="6" name="Slide Number Placeholder 5"/>
          <p:cNvSpPr>
            <a:spLocks noGrp="1"/>
          </p:cNvSpPr>
          <p:nvPr>
            <p:ph type="sldNum" sz="quarter" idx="12"/>
          </p:nvPr>
        </p:nvSpPr>
        <p:spPr>
          <a:xfrm>
            <a:off x="10477500" y="6390216"/>
            <a:ext cx="876300" cy="365125"/>
          </a:xfrm>
        </p:spPr>
        <p:txBody>
          <a:bodyPr anchor="b"/>
          <a:lstStyle>
            <a:lvl1pPr>
              <a:defRPr>
                <a:solidFill>
                  <a:schemeClr val="accent6"/>
                </a:solidFill>
              </a:defRPr>
            </a:lvl1pPr>
          </a:lstStyle>
          <a:p>
            <a:fld id="{FDDB6027-878D-A249-A7C0-2BF119D95C83}" type="slidenum">
              <a:rPr lang="en-US" smtClean="0"/>
              <a:pPr/>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300" y="904252"/>
            <a:ext cx="3708372" cy="4718090"/>
          </a:xfrm>
          <a:prstGeom prst="rect">
            <a:avLst/>
          </a:prstGeom>
        </p:spPr>
      </p:pic>
    </p:spTree>
    <p:extLst>
      <p:ext uri="{BB962C8B-B14F-4D97-AF65-F5344CB8AC3E}">
        <p14:creationId xmlns:p14="http://schemas.microsoft.com/office/powerpoint/2010/main" val="1282279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Title 2">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defRPr sz="5400" b="1" i="0">
                <a:solidFill>
                  <a:schemeClr val="accent1"/>
                </a:solidFill>
                <a:latin typeface="Verdana" charset="0"/>
                <a:ea typeface="Verdana" charset="0"/>
                <a:cs typeface="Verdana" charset="0"/>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normAutofit/>
          </a:bodyPr>
          <a:lstStyle>
            <a:lvl1pPr marL="0" indent="0">
              <a:buNone/>
              <a:defRPr sz="30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822672" y="6390216"/>
            <a:ext cx="1231900" cy="365125"/>
          </a:xfrm>
        </p:spPr>
        <p:txBody>
          <a:bodyPr anchor="b"/>
          <a:lstStyle/>
          <a:p>
            <a:fld id="{3E21CB55-4C39-4DF9-B29B-0DDB979E079F}" type="datetime1">
              <a:rPr lang="en-US" smtClean="0"/>
              <a:t>9/26/2026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3700" y="-27337"/>
            <a:ext cx="2311400" cy="2940749"/>
          </a:xfrm>
          <a:prstGeom prst="rect">
            <a:avLst/>
          </a:prstGeom>
        </p:spPr>
      </p:pic>
    </p:spTree>
    <p:extLst>
      <p:ext uri="{BB962C8B-B14F-4D97-AF65-F5344CB8AC3E}">
        <p14:creationId xmlns:p14="http://schemas.microsoft.com/office/powerpoint/2010/main" val="1555110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822672" y="6390216"/>
            <a:ext cx="1231900" cy="365125"/>
          </a:xfrm>
        </p:spPr>
        <p:txBody>
          <a:bodyPr anchor="b"/>
          <a:lstStyle/>
          <a:p>
            <a:fld id="{E9DC3DE2-2DBA-41B6-ABDF-9E46BDE3E6CB}" type="datetime1">
              <a:rPr lang="en-US" smtClean="0"/>
              <a:t>9/26/2026</a:t>
            </a:fld>
            <a:endParaRPr lang="en-US"/>
          </a:p>
        </p:txBody>
      </p:sp>
      <p:sp>
        <p:nvSpPr>
          <p:cNvPr id="6" name="Slide Number Placeholder 5"/>
          <p:cNvSpPr>
            <a:spLocks noGrp="1"/>
          </p:cNvSpPr>
          <p:nvPr>
            <p:ph type="sldNum" sz="quarter" idx="12"/>
          </p:nvPr>
        </p:nvSpPr>
        <p:spPr>
          <a:xfrm>
            <a:off x="10477500" y="6390216"/>
            <a:ext cx="876300" cy="365125"/>
          </a:xfrm>
        </p:spPr>
        <p:txBody>
          <a:bodyPr anchor="b"/>
          <a:lstStyle/>
          <a:p>
            <a:fld id="{FDDB6027-878D-A249-A7C0-2BF119D95C83}" type="slidenum">
              <a:rPr lang="en-US" smtClean="0"/>
              <a:t>‹#›</a:t>
            </a:fld>
            <a:endParaRPr lang="en-US"/>
          </a:p>
        </p:txBody>
      </p:sp>
      <p:pic>
        <p:nvPicPr>
          <p:cNvPr id="7" name="Picture 6" descr="sait_icon_wordmark_horiz_colour.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98528" y="6176963"/>
            <a:ext cx="1650972" cy="681037"/>
          </a:xfrm>
          <a:prstGeom prst="rect">
            <a:avLst/>
          </a:prstGeom>
        </p:spPr>
      </p:pic>
    </p:spTree>
    <p:extLst>
      <p:ext uri="{BB962C8B-B14F-4D97-AF65-F5344CB8AC3E}">
        <p14:creationId xmlns:p14="http://schemas.microsoft.com/office/powerpoint/2010/main" val="470681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b="0" i="0">
                <a:solidFill>
                  <a:schemeClr val="bg1"/>
                </a:solidFill>
                <a:latin typeface="Verdana" charset="0"/>
                <a:ea typeface="Verdana" charset="0"/>
                <a:cs typeface="Verdana" charset="0"/>
              </a:defRPr>
            </a:lvl1pPr>
          </a:lstStyle>
          <a:p>
            <a:r>
              <a:rPr lang="en-CA" dirty="0"/>
              <a:t>Headline</a:t>
            </a:r>
            <a:endParaRPr lang="en-US" dirty="0"/>
          </a:p>
        </p:txBody>
      </p:sp>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312668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BLUE">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477500" y="6390216"/>
            <a:ext cx="876300" cy="365125"/>
          </a:xfrm>
        </p:spPr>
        <p:txBody>
          <a:bodyPr anchor="b"/>
          <a:lstStyle>
            <a:lvl1pPr>
              <a:defRPr>
                <a:solidFill>
                  <a:schemeClr val="bg1"/>
                </a:solidFill>
              </a:defRPr>
            </a:lvl1pPr>
          </a:lstStyle>
          <a:p>
            <a:fld id="{FDDB6027-878D-A249-A7C0-2BF119D95C83}" type="slidenum">
              <a:rPr lang="en-US" smtClean="0"/>
              <a:pPr/>
              <a:t>‹#›</a:t>
            </a:fld>
            <a:endParaRPr lang="en-US"/>
          </a:p>
        </p:txBody>
      </p:sp>
      <p:sp>
        <p:nvSpPr>
          <p:cNvPr id="5" name="Title 1"/>
          <p:cNvSpPr>
            <a:spLocks noGrp="1"/>
          </p:cNvSpPr>
          <p:nvPr>
            <p:ph type="title" hasCustomPrompt="1"/>
          </p:nvPr>
        </p:nvSpPr>
        <p:spPr>
          <a:xfrm>
            <a:off x="831850" y="1709738"/>
            <a:ext cx="10515600" cy="2852737"/>
          </a:xfrm>
        </p:spPr>
        <p:txBody>
          <a:bodyPr anchor="b"/>
          <a:lstStyle>
            <a:lvl1pPr>
              <a:defRPr sz="6000">
                <a:solidFill>
                  <a:schemeClr val="bg1"/>
                </a:solidFill>
              </a:defRPr>
            </a:lvl1pPr>
          </a:lstStyle>
          <a:p>
            <a:r>
              <a:rPr lang="en-CA"/>
              <a:t>Headline</a:t>
            </a:r>
            <a:endParaRPr lang="en-US" dirty="0"/>
          </a:p>
        </p:txBody>
      </p:sp>
      <p:pic>
        <p:nvPicPr>
          <p:cNvPr id="6" name="Picture 5"/>
          <p:cNvPicPr>
            <a:picLocks noChangeAspect="1"/>
          </p:cNvPicPr>
          <p:nvPr userDrawn="1"/>
        </p:nvPicPr>
        <p:blipFill rotWithShape="1">
          <a:blip r:embed="rId2">
            <a:extLst>
              <a:ext uri="{28A0092B-C50C-407E-A947-70E740481C1C}">
                <a14:useLocalDpi xmlns:a14="http://schemas.microsoft.com/office/drawing/2010/main" val="0"/>
              </a:ext>
            </a:extLst>
          </a:blip>
          <a:srcRect t="28238" r="35724"/>
          <a:stretch/>
        </p:blipFill>
        <p:spPr>
          <a:xfrm>
            <a:off x="7118407" y="-21266"/>
            <a:ext cx="5066505" cy="5708133"/>
          </a:xfrm>
          <a:prstGeom prst="rect">
            <a:avLst/>
          </a:prstGeom>
        </p:spPr>
      </p:pic>
    </p:spTree>
    <p:extLst>
      <p:ext uri="{BB962C8B-B14F-4D97-AF65-F5344CB8AC3E}">
        <p14:creationId xmlns:p14="http://schemas.microsoft.com/office/powerpoint/2010/main" val="156617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971621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22672" y="6356350"/>
            <a:ext cx="1231900" cy="365125"/>
          </a:xfrm>
          <a:prstGeom prst="rect">
            <a:avLst/>
          </a:prstGeom>
        </p:spPr>
        <p:txBody>
          <a:bodyPr vert="horz" lIns="91440" tIns="45720" rIns="91440" bIns="45720" rtlCol="0" anchor="ctr"/>
          <a:lstStyle>
            <a:lvl1pPr algn="l">
              <a:defRPr sz="900">
                <a:solidFill>
                  <a:schemeClr val="accent6"/>
                </a:solidFill>
                <a:latin typeface="Verdana" charset="0"/>
                <a:ea typeface="Verdana" charset="0"/>
                <a:cs typeface="Verdana" charset="0"/>
              </a:defRPr>
            </a:lvl1pPr>
          </a:lstStyle>
          <a:p>
            <a:fld id="{F0FE8BCE-6DE9-499B-B47E-840C645FA6F5}" type="datetime1">
              <a:rPr lang="en-US" smtClean="0"/>
              <a:t>9/26/2026</a:t>
            </a:fld>
            <a:endParaRPr lang="en-US"/>
          </a:p>
        </p:txBody>
      </p:sp>
      <p:sp>
        <p:nvSpPr>
          <p:cNvPr id="6" name="Slide Number Placeholder 5"/>
          <p:cNvSpPr>
            <a:spLocks noGrp="1"/>
          </p:cNvSpPr>
          <p:nvPr>
            <p:ph type="sldNum" sz="quarter" idx="4"/>
          </p:nvPr>
        </p:nvSpPr>
        <p:spPr>
          <a:xfrm>
            <a:off x="10477500" y="6356350"/>
            <a:ext cx="876300" cy="365125"/>
          </a:xfrm>
          <a:prstGeom prst="rect">
            <a:avLst/>
          </a:prstGeom>
        </p:spPr>
        <p:txBody>
          <a:bodyPr vert="horz" lIns="91440" tIns="45720" rIns="91440" bIns="45720" rtlCol="0" anchor="ctr"/>
          <a:lstStyle>
            <a:lvl1pPr algn="r">
              <a:defRPr sz="900">
                <a:solidFill>
                  <a:schemeClr val="accent6"/>
                </a:solidFill>
                <a:latin typeface="Verdana" charset="0"/>
                <a:ea typeface="Verdana" charset="0"/>
                <a:cs typeface="Verdana" charset="0"/>
              </a:defRPr>
            </a:lvl1pPr>
          </a:lstStyle>
          <a:p>
            <a:fld id="{FDDB6027-878D-A249-A7C0-2BF119D95C83}" type="slidenum">
              <a:rPr lang="en-US" smtClean="0"/>
              <a:pPr/>
              <a:t>‹#›</a:t>
            </a:fld>
            <a:endParaRPr lang="en-US"/>
          </a:p>
        </p:txBody>
      </p:sp>
    </p:spTree>
    <p:extLst>
      <p:ext uri="{BB962C8B-B14F-4D97-AF65-F5344CB8AC3E}">
        <p14:creationId xmlns:p14="http://schemas.microsoft.com/office/powerpoint/2010/main" val="1796694820"/>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5" r:id="rId4"/>
    <p:sldLayoutId id="2147483657" r:id="rId5"/>
    <p:sldLayoutId id="2147483654" r:id="rId6"/>
  </p:sldLayoutIdLst>
  <p:hf sldNum="0" hdr="0" dt="0"/>
  <p:txStyles>
    <p:titleStyle>
      <a:lvl1pPr algn="l" defTabSz="914400" rtl="0" eaLnBrk="1" latinLnBrk="0" hangingPunct="1">
        <a:lnSpc>
          <a:spcPct val="90000"/>
        </a:lnSpc>
        <a:spcBef>
          <a:spcPct val="0"/>
        </a:spcBef>
        <a:buNone/>
        <a:defRPr sz="4400" kern="1200">
          <a:solidFill>
            <a:schemeClr val="tx1"/>
          </a:solidFill>
          <a:latin typeface="Verdana" charset="0"/>
          <a:ea typeface="Verdana" charset="0"/>
          <a:cs typeface="Verdana"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Verdana" charset="0"/>
          <a:ea typeface="Verdana" charset="0"/>
          <a:cs typeface="Verdana"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Verdana" charset="0"/>
          <a:ea typeface="Verdana" charset="0"/>
          <a:cs typeface="Verdana"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Verdana" charset="0"/>
          <a:ea typeface="Verdana" charset="0"/>
          <a:cs typeface="Verdana"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Verdana" charset="0"/>
          <a:ea typeface="Verdana" charset="0"/>
          <a:cs typeface="Verdana"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Search Trees (BST)</a:t>
            </a:r>
          </a:p>
        </p:txBody>
      </p:sp>
      <p:sp>
        <p:nvSpPr>
          <p:cNvPr id="3" name="Subtitle 2"/>
          <p:cNvSpPr>
            <a:spLocks noGrp="1"/>
          </p:cNvSpPr>
          <p:nvPr>
            <p:ph type="subTitle" idx="1"/>
          </p:nvPr>
        </p:nvSpPr>
        <p:spPr/>
        <p:txBody>
          <a:bodyPr>
            <a:normAutofit/>
          </a:bodyPr>
          <a:lstStyle/>
          <a:p>
            <a:r>
              <a:rPr lang="en-US" dirty="0"/>
              <a:t>Unit 6</a:t>
            </a:r>
          </a:p>
          <a:p>
            <a:r>
              <a:rPr lang="en-US" dirty="0"/>
              <a:t>CPRG304 – Object-Oriented Programming III</a:t>
            </a:r>
          </a:p>
        </p:txBody>
      </p:sp>
      <p:sp>
        <p:nvSpPr>
          <p:cNvPr id="4" name="Footer Placeholder 4">
            <a:extLst>
              <a:ext uri="{FF2B5EF4-FFF2-40B4-BE49-F238E27FC236}">
                <a16:creationId xmlns:a16="http://schemas.microsoft.com/office/drawing/2014/main" id="{CE4D4B33-3A5F-4979-822B-8FAADD5E5A7F}"/>
              </a:ext>
            </a:extLst>
          </p:cNvPr>
          <p:cNvSpPr>
            <a:spLocks noGrp="1"/>
          </p:cNvSpPr>
          <p:nvPr>
            <p:ph type="ftr" sz="quarter" idx="4294967295"/>
          </p:nvPr>
        </p:nvSpPr>
        <p:spPr>
          <a:xfrm>
            <a:off x="5232372" y="6390216"/>
            <a:ext cx="5435628" cy="365125"/>
          </a:xfrm>
          <a:prstGeom prst="rect">
            <a:avLst/>
          </a:prstGeom>
        </p:spPr>
        <p:txBody>
          <a:bodyPr/>
          <a:lstStyle/>
          <a:p>
            <a:pPr algn="r"/>
            <a:r>
              <a:rPr lang="en-US" dirty="0"/>
              <a:t>Kitty Wong © 2026</a:t>
            </a:r>
          </a:p>
        </p:txBody>
      </p:sp>
    </p:spTree>
    <p:extLst>
      <p:ext uri="{BB962C8B-B14F-4D97-AF65-F5344CB8AC3E}">
        <p14:creationId xmlns:p14="http://schemas.microsoft.com/office/powerpoint/2010/main" val="712547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F713B-7382-48DA-B6B3-BD3949D6E5E1}"/>
              </a:ext>
            </a:extLst>
          </p:cNvPr>
          <p:cNvSpPr>
            <a:spLocks noGrp="1"/>
          </p:cNvSpPr>
          <p:nvPr>
            <p:ph type="title"/>
          </p:nvPr>
        </p:nvSpPr>
        <p:spPr/>
        <p:txBody>
          <a:bodyPr/>
          <a:lstStyle/>
          <a:p>
            <a:r>
              <a:rPr lang="en-US" dirty="0"/>
              <a:t>Binary Search Trees (BST)</a:t>
            </a:r>
            <a:endParaRPr lang="en-CA" dirty="0"/>
          </a:p>
        </p:txBody>
      </p:sp>
      <p:sp>
        <p:nvSpPr>
          <p:cNvPr id="3" name="Content Placeholder 2">
            <a:extLst>
              <a:ext uri="{FF2B5EF4-FFF2-40B4-BE49-F238E27FC236}">
                <a16:creationId xmlns:a16="http://schemas.microsoft.com/office/drawing/2014/main" id="{FC2CF976-CD08-42EB-AA06-B0CAEB02EEAB}"/>
              </a:ext>
            </a:extLst>
          </p:cNvPr>
          <p:cNvSpPr>
            <a:spLocks noGrp="1"/>
          </p:cNvSpPr>
          <p:nvPr>
            <p:ph idx="1"/>
          </p:nvPr>
        </p:nvSpPr>
        <p:spPr/>
        <p:txBody>
          <a:bodyPr/>
          <a:lstStyle/>
          <a:p>
            <a:pPr>
              <a:lnSpc>
                <a:spcPct val="90000"/>
              </a:lnSpc>
            </a:pPr>
            <a:r>
              <a:rPr lang="en-US" altLang="en-US" dirty="0">
                <a:cs typeface="Times New Roman" panose="02020603050405020304" pitchFamily="18" charset="0"/>
              </a:rPr>
              <a:t>A</a:t>
            </a:r>
            <a:r>
              <a:rPr lang="en-US" altLang="en-US" sz="2800" dirty="0">
                <a:cs typeface="Times New Roman" panose="02020603050405020304" pitchFamily="18" charset="0"/>
              </a:rPr>
              <a:t> binary tree that is organized in a special way!</a:t>
            </a:r>
          </a:p>
          <a:p>
            <a:pPr lvl="1"/>
            <a:r>
              <a:rPr lang="en-US" dirty="0">
                <a:cs typeface="Times New Roman" panose="02020603050405020304" pitchFamily="18" charset="0"/>
              </a:rPr>
              <a:t>Binary “Sorted” Tree</a:t>
            </a:r>
          </a:p>
          <a:p>
            <a:pPr>
              <a:lnSpc>
                <a:spcPct val="90000"/>
              </a:lnSpc>
            </a:pPr>
            <a:r>
              <a:rPr lang="en-CA" dirty="0"/>
              <a:t>For any node in the tree:</a:t>
            </a:r>
          </a:p>
          <a:p>
            <a:pPr lvl="1"/>
            <a:r>
              <a:rPr lang="en-CA" dirty="0"/>
              <a:t>All nodes in the left subtree, if not empty, contains elements less than or equals to the node element</a:t>
            </a:r>
          </a:p>
          <a:p>
            <a:pPr lvl="1"/>
            <a:r>
              <a:rPr lang="en-CA" dirty="0"/>
              <a:t>All nodes in the right subtree, if not empty, contains elements greater than the node element</a:t>
            </a:r>
          </a:p>
          <a:p>
            <a:pPr lvl="1"/>
            <a:endParaRPr lang="en-CA" dirty="0"/>
          </a:p>
        </p:txBody>
      </p:sp>
      <p:pic>
        <p:nvPicPr>
          <p:cNvPr id="5" name="Picture 4">
            <a:extLst>
              <a:ext uri="{FF2B5EF4-FFF2-40B4-BE49-F238E27FC236}">
                <a16:creationId xmlns:a16="http://schemas.microsoft.com/office/drawing/2014/main" id="{692A46FB-E171-470E-8721-AF8EFA9CE400}"/>
              </a:ext>
            </a:extLst>
          </p:cNvPr>
          <p:cNvPicPr>
            <a:picLocks noChangeAspect="1"/>
          </p:cNvPicPr>
          <p:nvPr/>
        </p:nvPicPr>
        <p:blipFill>
          <a:blip r:embed="rId3"/>
          <a:stretch>
            <a:fillRect/>
          </a:stretch>
        </p:blipFill>
        <p:spPr>
          <a:xfrm>
            <a:off x="2372822" y="4617720"/>
            <a:ext cx="7446356" cy="2209800"/>
          </a:xfrm>
          <a:prstGeom prst="rect">
            <a:avLst/>
          </a:prstGeom>
        </p:spPr>
      </p:pic>
    </p:spTree>
    <p:extLst>
      <p:ext uri="{BB962C8B-B14F-4D97-AF65-F5344CB8AC3E}">
        <p14:creationId xmlns:p14="http://schemas.microsoft.com/office/powerpoint/2010/main" val="3619561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CE833-7A5B-4598-8285-2C11DDFB01A1}"/>
              </a:ext>
            </a:extLst>
          </p:cNvPr>
          <p:cNvSpPr>
            <a:spLocks noGrp="1"/>
          </p:cNvSpPr>
          <p:nvPr>
            <p:ph type="title"/>
          </p:nvPr>
        </p:nvSpPr>
        <p:spPr/>
        <p:txBody>
          <a:bodyPr/>
          <a:lstStyle/>
          <a:p>
            <a:r>
              <a:rPr lang="en-US" dirty="0"/>
              <a:t>Searching in a BST</a:t>
            </a:r>
            <a:endParaRPr lang="en-CA" dirty="0"/>
          </a:p>
        </p:txBody>
      </p:sp>
      <p:sp>
        <p:nvSpPr>
          <p:cNvPr id="3" name="Content Placeholder 2">
            <a:extLst>
              <a:ext uri="{FF2B5EF4-FFF2-40B4-BE49-F238E27FC236}">
                <a16:creationId xmlns:a16="http://schemas.microsoft.com/office/drawing/2014/main" id="{98650996-A1D3-4867-B275-051EB8D2BBAA}"/>
              </a:ext>
            </a:extLst>
          </p:cNvPr>
          <p:cNvSpPr>
            <a:spLocks noGrp="1"/>
          </p:cNvSpPr>
          <p:nvPr>
            <p:ph idx="1"/>
          </p:nvPr>
        </p:nvSpPr>
        <p:spPr>
          <a:xfrm>
            <a:off x="838200" y="1825625"/>
            <a:ext cx="5958840" cy="4351338"/>
          </a:xfrm>
        </p:spPr>
        <p:txBody>
          <a:bodyPr/>
          <a:lstStyle/>
          <a:p>
            <a:r>
              <a:rPr lang="en-US" dirty="0"/>
              <a:t>Find “7”</a:t>
            </a:r>
          </a:p>
          <a:p>
            <a:pPr lvl="1"/>
            <a:r>
              <a:rPr lang="en-US" dirty="0"/>
              <a:t>Start at the root node</a:t>
            </a:r>
          </a:p>
          <a:p>
            <a:pPr lvl="1"/>
            <a:r>
              <a:rPr lang="en-US" dirty="0"/>
              <a:t>Compare node element to target element</a:t>
            </a:r>
          </a:p>
          <a:p>
            <a:pPr lvl="2"/>
            <a:r>
              <a:rPr lang="en-US" dirty="0"/>
              <a:t>If target is less than or equals, go down left subtree</a:t>
            </a:r>
          </a:p>
          <a:p>
            <a:pPr lvl="2"/>
            <a:r>
              <a:rPr lang="en-US" dirty="0"/>
              <a:t>If target is greater than, go down right subtree</a:t>
            </a:r>
          </a:p>
          <a:p>
            <a:pPr lvl="1"/>
            <a:r>
              <a:rPr lang="en-US" dirty="0"/>
              <a:t>Repeat until target element is found</a:t>
            </a:r>
            <a:endParaRPr lang="en-CA" dirty="0"/>
          </a:p>
        </p:txBody>
      </p:sp>
      <p:pic>
        <p:nvPicPr>
          <p:cNvPr id="5" name="Picture 4">
            <a:extLst>
              <a:ext uri="{FF2B5EF4-FFF2-40B4-BE49-F238E27FC236}">
                <a16:creationId xmlns:a16="http://schemas.microsoft.com/office/drawing/2014/main" id="{CB7F1479-0E2A-4CE2-9430-75742EDA3A8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78015" y="1954212"/>
            <a:ext cx="4375785" cy="3613151"/>
          </a:xfrm>
          <a:prstGeom prst="rect">
            <a:avLst/>
          </a:prstGeom>
          <a:noFill/>
          <a:ln>
            <a:noFill/>
          </a:ln>
        </p:spPr>
      </p:pic>
    </p:spTree>
    <p:extLst>
      <p:ext uri="{BB962C8B-B14F-4D97-AF65-F5344CB8AC3E}">
        <p14:creationId xmlns:p14="http://schemas.microsoft.com/office/powerpoint/2010/main" val="3257239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ABE1E-18FB-4245-916F-51F208792163}"/>
              </a:ext>
            </a:extLst>
          </p:cNvPr>
          <p:cNvSpPr>
            <a:spLocks noGrp="1"/>
          </p:cNvSpPr>
          <p:nvPr>
            <p:ph type="title"/>
          </p:nvPr>
        </p:nvSpPr>
        <p:spPr/>
        <p:txBody>
          <a:bodyPr/>
          <a:lstStyle/>
          <a:p>
            <a:r>
              <a:rPr lang="en-US" dirty="0" err="1"/>
              <a:t>BSTreeNode</a:t>
            </a:r>
            <a:r>
              <a:rPr lang="en-US" dirty="0"/>
              <a:t> for Strings</a:t>
            </a:r>
            <a:endParaRPr lang="en-CA" dirty="0"/>
          </a:p>
        </p:txBody>
      </p:sp>
      <p:sp>
        <p:nvSpPr>
          <p:cNvPr id="3" name="Content Placeholder 2">
            <a:extLst>
              <a:ext uri="{FF2B5EF4-FFF2-40B4-BE49-F238E27FC236}">
                <a16:creationId xmlns:a16="http://schemas.microsoft.com/office/drawing/2014/main" id="{A8632E5B-DF3E-4B46-9B2B-5701A2F48820}"/>
              </a:ext>
            </a:extLst>
          </p:cNvPr>
          <p:cNvSpPr>
            <a:spLocks noGrp="1"/>
          </p:cNvSpPr>
          <p:nvPr>
            <p:ph idx="1"/>
          </p:nvPr>
        </p:nvSpPr>
        <p:spPr/>
        <p:txBody>
          <a:bodyPr>
            <a:normAutofit fontScale="92500" lnSpcReduction="20000"/>
          </a:bodyPr>
          <a:lstStyle/>
          <a:p>
            <a:pPr>
              <a:tabLst>
                <a:tab pos="762000" algn="l"/>
                <a:tab pos="1143000" algn="l"/>
                <a:tab pos="1524000" algn="l"/>
                <a:tab pos="1905000" algn="l"/>
                <a:tab pos="2286000" algn="l"/>
              </a:tabLst>
            </a:pPr>
            <a:r>
              <a:rPr lang="en-US" altLang="en-US" dirty="0"/>
              <a:t>Java class implementing BST nodes:</a:t>
            </a:r>
          </a:p>
          <a:p>
            <a:pPr lvl="1">
              <a:buClr>
                <a:schemeClr val="tx1"/>
              </a:buClr>
              <a:buNone/>
              <a:tabLst>
                <a:tab pos="762000" algn="l"/>
                <a:tab pos="1143000" algn="l"/>
                <a:tab pos="1524000" algn="l"/>
                <a:tab pos="1905000" algn="l"/>
                <a:tab pos="2286000" algn="l"/>
              </a:tabLst>
            </a:pPr>
            <a:endParaRPr lang="en-US" altLang="en-US" dirty="0">
              <a:solidFill>
                <a:schemeClr val="accent2"/>
              </a:solidFill>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private</a:t>
            </a:r>
            <a:r>
              <a:rPr lang="en-US" altLang="en-US" dirty="0">
                <a:latin typeface="Courier New" panose="02070309020205020404" pitchFamily="49" charset="0"/>
                <a:cs typeface="Times New Roman" panose="02020603050405020304" pitchFamily="18" charset="0"/>
              </a:rPr>
              <a:t> String element;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left, right;</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(String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left,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right){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.element</a:t>
            </a:r>
            <a:r>
              <a:rPr lang="en-US" altLang="en-US" dirty="0">
                <a:latin typeface="Courier New" panose="02070309020205020404" pitchFamily="49" charset="0"/>
                <a:cs typeface="Times New Roman" panose="02020603050405020304" pitchFamily="18" charset="0"/>
              </a:rPr>
              <a:t> = </a:t>
            </a:r>
            <a:r>
              <a:rPr lang="en-US" altLang="en-US" dirty="0" err="1">
                <a:latin typeface="Courier New" panose="02070309020205020404" pitchFamily="49" charset="0"/>
                <a:cs typeface="Times New Roman" panose="02020603050405020304" pitchFamily="18" charset="0"/>
              </a:rPr>
              <a:t>elem</a:t>
            </a:r>
            <a:r>
              <a:rPr lang="en-US" altLang="en-US" dirty="0">
                <a:latin typeface="Courier New" panose="02070309020205020404" pitchFamily="49" charset="0"/>
                <a:cs typeface="Times New Roman" panose="02020603050405020304" pitchFamily="18"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.left</a:t>
            </a:r>
            <a:r>
              <a:rPr lang="en-US" altLang="en-US" dirty="0">
                <a:latin typeface="Courier New" panose="02070309020205020404" pitchFamily="49" charset="0"/>
                <a:cs typeface="Times New Roman" panose="02020603050405020304" pitchFamily="18" charset="0"/>
              </a:rPr>
              <a:t> = left;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b="1" dirty="0" err="1">
                <a:latin typeface="Courier New" panose="02070309020205020404" pitchFamily="49" charset="0"/>
                <a:cs typeface="Times New Roman" panose="02020603050405020304" pitchFamily="18" charset="0"/>
              </a:rPr>
              <a:t>this</a:t>
            </a:r>
            <a:r>
              <a:rPr lang="en-US" altLang="en-US" dirty="0" err="1">
                <a:latin typeface="Courier New" panose="02070309020205020404" pitchFamily="49" charset="0"/>
                <a:cs typeface="Times New Roman" panose="02020603050405020304" pitchFamily="18" charset="0"/>
              </a:rPr>
              <a:t>.right</a:t>
            </a:r>
            <a:r>
              <a:rPr lang="en-US" altLang="en-US" dirty="0">
                <a:latin typeface="Courier New" panose="02070309020205020404" pitchFamily="49" charset="0"/>
                <a:cs typeface="Times New Roman" panose="02020603050405020304" pitchFamily="18" charset="0"/>
              </a:rPr>
              <a:t> = right;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a:t>
            </a:r>
            <a:r>
              <a:rPr lang="en-US" altLang="en-US" dirty="0" err="1">
                <a:latin typeface="Courier New" panose="02070309020205020404" pitchFamily="49" charset="0"/>
                <a:cs typeface="Courier New" panose="02070309020205020404" pitchFamily="49" charset="0"/>
              </a:rPr>
              <a:t>BSTreeNode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a:p>
            <a:endParaRPr lang="en-CA" dirty="0"/>
          </a:p>
        </p:txBody>
      </p:sp>
    </p:spTree>
    <p:extLst>
      <p:ext uri="{BB962C8B-B14F-4D97-AF65-F5344CB8AC3E}">
        <p14:creationId xmlns:p14="http://schemas.microsoft.com/office/powerpoint/2010/main" val="934649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05363-D56E-435A-B4BD-31C3EC2EDFD1}"/>
              </a:ext>
            </a:extLst>
          </p:cNvPr>
          <p:cNvSpPr>
            <a:spLocks noGrp="1"/>
          </p:cNvSpPr>
          <p:nvPr>
            <p:ph type="title"/>
          </p:nvPr>
        </p:nvSpPr>
        <p:spPr/>
        <p:txBody>
          <a:bodyPr/>
          <a:lstStyle/>
          <a:p>
            <a:r>
              <a:rPr lang="en-US" dirty="0"/>
              <a:t>BST of </a:t>
            </a:r>
            <a:r>
              <a:rPr lang="en-US" dirty="0" err="1"/>
              <a:t>BSTNode</a:t>
            </a:r>
            <a:r>
              <a:rPr lang="en-US" dirty="0"/>
              <a:t> for Strings</a:t>
            </a:r>
            <a:endParaRPr lang="en-CA" dirty="0"/>
          </a:p>
        </p:txBody>
      </p:sp>
      <p:sp>
        <p:nvSpPr>
          <p:cNvPr id="3" name="Content Placeholder 2">
            <a:extLst>
              <a:ext uri="{FF2B5EF4-FFF2-40B4-BE49-F238E27FC236}">
                <a16:creationId xmlns:a16="http://schemas.microsoft.com/office/drawing/2014/main" id="{F1FE30CA-CBEA-4A54-B968-B91DBF46880D}"/>
              </a:ext>
            </a:extLst>
          </p:cNvPr>
          <p:cNvSpPr>
            <a:spLocks noGrp="1"/>
          </p:cNvSpPr>
          <p:nvPr>
            <p:ph idx="1"/>
          </p:nvPr>
        </p:nvSpPr>
        <p:spPr/>
        <p:txBody>
          <a:bodyPr>
            <a:normAutofit fontScale="92500" lnSpcReduction="20000"/>
          </a:bodyPr>
          <a:lstStyle/>
          <a:p>
            <a:pPr>
              <a:tabLst>
                <a:tab pos="762000" algn="l"/>
                <a:tab pos="1143000" algn="l"/>
                <a:tab pos="1524000" algn="l"/>
                <a:tab pos="1905000" algn="l"/>
                <a:tab pos="2286000" algn="l"/>
              </a:tabLst>
            </a:pPr>
            <a:r>
              <a:rPr lang="en-US" altLang="en-US" dirty="0"/>
              <a:t>Java class implementing BST:</a:t>
            </a:r>
          </a:p>
          <a:p>
            <a:pPr lvl="1">
              <a:buClr>
                <a:schemeClr val="tx1"/>
              </a:buClr>
              <a:buNone/>
              <a:tabLst>
                <a:tab pos="762000" algn="l"/>
                <a:tab pos="1143000" algn="l"/>
                <a:tab pos="1524000" algn="l"/>
                <a:tab pos="1905000" algn="l"/>
                <a:tab pos="2286000" algn="l"/>
              </a:tabLst>
            </a:pPr>
            <a:r>
              <a:rPr lang="en-US" altLang="en-US" dirty="0">
                <a:solidFill>
                  <a:schemeClr val="accent2"/>
                </a:solidFill>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solidFill>
                  <a:schemeClr val="accent2"/>
                </a:solidFill>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public</a:t>
            </a: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class</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 {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Times New Roman" panose="02020603050405020304" pitchFamily="18" charset="0"/>
              </a:rPr>
              <a:t>private</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 root;</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 {</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Construct an empty BST.</a:t>
            </a:r>
            <a:br>
              <a:rPr lang="en-US" altLang="en-US" sz="2000" dirty="0">
                <a:latin typeface="Futura LtCn BT" pitchFamily="34" charset="0"/>
              </a:rPr>
            </a:b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.root</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null</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endParaRPr lang="en-US" altLang="en-US" dirty="0">
              <a:latin typeface="Courier New" panose="02070309020205020404" pitchFamily="49" charset="0"/>
              <a:cs typeface="Times New Roman" panose="02020603050405020304" pitchFamily="18" charset="0"/>
            </a:endParaRPr>
          </a:p>
          <a:p>
            <a:pPr lvl="1">
              <a:buClr>
                <a:schemeClr val="tx1"/>
              </a:buClr>
              <a:buNone/>
              <a:tabLst>
                <a:tab pos="762000" algn="l"/>
                <a:tab pos="1143000" algn="l"/>
                <a:tab pos="1524000" algn="l"/>
                <a:tab pos="1905000" algn="l"/>
                <a:tab pos="2286000" algn="l"/>
              </a:tabLst>
            </a:pPr>
            <a:r>
              <a:rPr lang="en-US" altLang="en-US" b="1" dirty="0">
                <a:latin typeface="Courier New" panose="02070309020205020404" pitchFamily="49" charset="0"/>
                <a:cs typeface="Times New Roman" panose="02020603050405020304" pitchFamily="18" charset="0"/>
              </a:rPr>
              <a:t>			public</a:t>
            </a:r>
            <a:r>
              <a:rPr lang="en-US" altLang="en-US" dirty="0">
                <a:latin typeface="Courier New" panose="02070309020205020404" pitchFamily="49" charset="0"/>
                <a:cs typeface="Times New Roman" panose="02020603050405020304" pitchFamily="18" charset="0"/>
              </a:rPr>
              <a:t> </a:t>
            </a:r>
            <a:r>
              <a:rPr lang="en-US" altLang="en-US" dirty="0" err="1">
                <a:latin typeface="Courier New" panose="02070309020205020404" pitchFamily="49" charset="0"/>
                <a:cs typeface="Times New Roman" panose="02020603050405020304" pitchFamily="18" charset="0"/>
              </a:rPr>
              <a:t>BSTree</a:t>
            </a:r>
            <a:r>
              <a:rPr lang="en-US" altLang="en-US" dirty="0">
                <a:latin typeface="Courier New" panose="02070309020205020404" pitchFamily="49" charset="0"/>
                <a:cs typeface="Times New Roman" panose="02020603050405020304" pitchFamily="18" charset="0"/>
              </a:rPr>
              <a:t>(String element)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b="1" dirty="0">
                <a:latin typeface="Courier New" panose="02070309020205020404" pitchFamily="49" charset="0"/>
                <a:cs typeface="Courier New" panose="02070309020205020404" pitchFamily="49" charset="0"/>
              </a:rPr>
              <a:t> </a:t>
            </a:r>
            <a:r>
              <a:rPr lang="en-US" altLang="en-US" b="1" dirty="0" err="1">
                <a:latin typeface="Courier New" panose="02070309020205020404" pitchFamily="49" charset="0"/>
                <a:cs typeface="Courier New" panose="02070309020205020404" pitchFamily="49" charset="0"/>
              </a:rPr>
              <a:t>this</a:t>
            </a:r>
            <a:r>
              <a:rPr lang="en-US" altLang="en-US" dirty="0" err="1">
                <a:latin typeface="Courier New" panose="02070309020205020404" pitchFamily="49" charset="0"/>
                <a:cs typeface="Courier New" panose="02070309020205020404" pitchFamily="49" charset="0"/>
              </a:rPr>
              <a:t>.root</a:t>
            </a:r>
            <a:r>
              <a:rPr lang="en-US" altLang="en-US" dirty="0">
                <a:latin typeface="Courier New" panose="02070309020205020404" pitchFamily="49" charset="0"/>
                <a:cs typeface="Courier New" panose="02070309020205020404" pitchFamily="49" charset="0"/>
              </a:rPr>
              <a:t> = </a:t>
            </a:r>
            <a:r>
              <a:rPr lang="en-US" altLang="en-US" b="1" dirty="0">
                <a:latin typeface="Courier New" panose="02070309020205020404" pitchFamily="49" charset="0"/>
                <a:cs typeface="Courier New" panose="02070309020205020404" pitchFamily="49" charset="0"/>
              </a:rPr>
              <a:t>new </a:t>
            </a:r>
            <a:r>
              <a:rPr lang="en-US" altLang="en-US" dirty="0" err="1">
                <a:latin typeface="Courier New" panose="02070309020205020404" pitchFamily="49" charset="0"/>
                <a:cs typeface="Times New Roman" panose="02020603050405020304" pitchFamily="18" charset="0"/>
              </a:rPr>
              <a:t>BSTreeNode</a:t>
            </a:r>
            <a:r>
              <a:rPr lang="en-US" altLang="en-US" dirty="0">
                <a:latin typeface="Courier New" panose="02070309020205020404" pitchFamily="49" charset="0"/>
                <a:cs typeface="Times New Roman" panose="02020603050405020304" pitchFamily="18" charset="0"/>
              </a:rPr>
              <a:t>(element, </a:t>
            </a:r>
            <a:r>
              <a:rPr lang="en-US" altLang="en-US" b="1" dirty="0">
                <a:latin typeface="Courier New" panose="02070309020205020404" pitchFamily="49" charset="0"/>
                <a:cs typeface="Courier New" panose="02070309020205020404" pitchFamily="49" charset="0"/>
              </a:rPr>
              <a:t>null, null</a:t>
            </a:r>
            <a:r>
              <a:rPr lang="en-US" altLang="en-US" dirty="0">
                <a:latin typeface="Courier New" panose="02070309020205020404" pitchFamily="49" charset="0"/>
                <a:cs typeface="Times New Roman" panose="02020603050405020304" pitchFamily="18" charset="0"/>
              </a:rPr>
              <a:t>)</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Times New Roman" panose="02020603050405020304" pitchFamily="18" charset="0"/>
              </a:rPr>
            </a:br>
            <a:r>
              <a:rPr lang="en-US" altLang="en-US" dirty="0">
                <a:latin typeface="Courier New" panose="02070309020205020404" pitchFamily="49" charset="0"/>
                <a:cs typeface="Times New Roman" panose="02020603050405020304" pitchFamily="18" charset="0"/>
              </a:rPr>
              <a:t>		}</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r>
              <a:rPr lang="en-US" altLang="en-US" dirty="0">
                <a:latin typeface="Courier New" panose="02070309020205020404" pitchFamily="49" charset="0"/>
                <a:cs typeface="Courier New" panose="02070309020205020404" pitchFamily="49" charset="0"/>
              </a:rPr>
              <a:t>// other </a:t>
            </a:r>
            <a:r>
              <a:rPr lang="en-US" altLang="en-US" dirty="0" err="1">
                <a:latin typeface="Courier New" panose="02070309020205020404" pitchFamily="49" charset="0"/>
                <a:cs typeface="Courier New" panose="02070309020205020404" pitchFamily="49" charset="0"/>
              </a:rPr>
              <a:t>BSTree</a:t>
            </a:r>
            <a:r>
              <a:rPr lang="en-US" altLang="en-US" dirty="0">
                <a:latin typeface="Courier New" panose="02070309020205020404" pitchFamily="49" charset="0"/>
                <a:cs typeface="Courier New" panose="02070309020205020404" pitchFamily="49" charset="0"/>
              </a:rPr>
              <a:t> methods</a:t>
            </a:r>
          </a:p>
          <a:p>
            <a:pPr lvl="1">
              <a:buClr>
                <a:schemeClr val="tx1"/>
              </a:buClr>
              <a:buNone/>
              <a:tabLst>
                <a:tab pos="762000" algn="l"/>
                <a:tab pos="1143000" algn="l"/>
                <a:tab pos="1524000" algn="l"/>
                <a:tab pos="1905000" algn="l"/>
                <a:tab pos="2286000" algn="l"/>
              </a:tabLst>
            </a:pPr>
            <a:r>
              <a:rPr lang="en-US" altLang="en-US" dirty="0">
                <a:latin typeface="Courier New" panose="02070309020205020404" pitchFamily="49" charset="0"/>
                <a:cs typeface="Times New Roman" panose="02020603050405020304" pitchFamily="18" charset="0"/>
              </a:rPr>
              <a:t>	}</a:t>
            </a:r>
            <a:endParaRPr lang="en-CA" dirty="0"/>
          </a:p>
          <a:p>
            <a:endParaRPr lang="en-CA" dirty="0"/>
          </a:p>
        </p:txBody>
      </p:sp>
    </p:spTree>
    <p:extLst>
      <p:ext uri="{BB962C8B-B14F-4D97-AF65-F5344CB8AC3E}">
        <p14:creationId xmlns:p14="http://schemas.microsoft.com/office/powerpoint/2010/main" val="1247448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1887-0F9C-479D-BB39-726E203FFA74}"/>
              </a:ext>
            </a:extLst>
          </p:cNvPr>
          <p:cNvSpPr>
            <a:spLocks noGrp="1"/>
          </p:cNvSpPr>
          <p:nvPr>
            <p:ph type="title"/>
          </p:nvPr>
        </p:nvSpPr>
        <p:spPr/>
        <p:txBody>
          <a:bodyPr/>
          <a:lstStyle/>
          <a:p>
            <a:r>
              <a:rPr lang="en-US" dirty="0" err="1"/>
              <a:t>BSTreeADT</a:t>
            </a:r>
            <a:r>
              <a:rPr lang="en-US" dirty="0"/>
              <a:t> Requirements</a:t>
            </a:r>
            <a:endParaRPr lang="en-CA" dirty="0"/>
          </a:p>
        </p:txBody>
      </p:sp>
      <p:sp>
        <p:nvSpPr>
          <p:cNvPr id="3" name="Content Placeholder 2">
            <a:extLst>
              <a:ext uri="{FF2B5EF4-FFF2-40B4-BE49-F238E27FC236}">
                <a16:creationId xmlns:a16="http://schemas.microsoft.com/office/drawing/2014/main" id="{CC2E9D86-9E6A-4EF0-B619-571B325E7D7E}"/>
              </a:ext>
            </a:extLst>
          </p:cNvPr>
          <p:cNvSpPr>
            <a:spLocks noGrp="1"/>
          </p:cNvSpPr>
          <p:nvPr>
            <p:ph idx="1"/>
          </p:nvPr>
        </p:nvSpPr>
        <p:spPr/>
        <p:txBody>
          <a:bodyPr/>
          <a:lstStyle/>
          <a:p>
            <a:r>
              <a:rPr lang="en-CA" dirty="0"/>
              <a:t>Check out the ADT for assignment 3!</a:t>
            </a:r>
          </a:p>
          <a:p>
            <a:pPr lvl="1"/>
            <a:r>
              <a:rPr lang="en-CA" dirty="0"/>
              <a:t>Many “normal” operations you would expect…</a:t>
            </a:r>
          </a:p>
          <a:p>
            <a:pPr lvl="1"/>
            <a:endParaRPr lang="en-CA" dirty="0"/>
          </a:p>
          <a:p>
            <a:r>
              <a:rPr lang="en-CA" dirty="0"/>
              <a:t>Except: </a:t>
            </a:r>
          </a:p>
        </p:txBody>
      </p:sp>
      <p:pic>
        <p:nvPicPr>
          <p:cNvPr id="5" name="Picture 4">
            <a:extLst>
              <a:ext uri="{FF2B5EF4-FFF2-40B4-BE49-F238E27FC236}">
                <a16:creationId xmlns:a16="http://schemas.microsoft.com/office/drawing/2014/main" id="{BA06C503-18E2-1003-B55A-3D35B87F481E}"/>
              </a:ext>
            </a:extLst>
          </p:cNvPr>
          <p:cNvPicPr>
            <a:picLocks noChangeAspect="1"/>
          </p:cNvPicPr>
          <p:nvPr/>
        </p:nvPicPr>
        <p:blipFill>
          <a:blip r:embed="rId3"/>
          <a:stretch>
            <a:fillRect/>
          </a:stretch>
        </p:blipFill>
        <p:spPr>
          <a:xfrm>
            <a:off x="3075219" y="3752263"/>
            <a:ext cx="6041561" cy="1801869"/>
          </a:xfrm>
          <a:prstGeom prst="rect">
            <a:avLst/>
          </a:prstGeom>
        </p:spPr>
      </p:pic>
    </p:spTree>
    <p:extLst>
      <p:ext uri="{BB962C8B-B14F-4D97-AF65-F5344CB8AC3E}">
        <p14:creationId xmlns:p14="http://schemas.microsoft.com/office/powerpoint/2010/main" val="2542090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Tree Traversal</a:t>
            </a:r>
          </a:p>
        </p:txBody>
      </p:sp>
      <p:sp>
        <p:nvSpPr>
          <p:cNvPr id="3" name="Content Placeholder 2"/>
          <p:cNvSpPr>
            <a:spLocks noGrp="1"/>
          </p:cNvSpPr>
          <p:nvPr>
            <p:ph idx="1"/>
          </p:nvPr>
        </p:nvSpPr>
        <p:spPr/>
        <p:txBody>
          <a:bodyPr>
            <a:normAutofit/>
          </a:bodyPr>
          <a:lstStyle/>
          <a:p>
            <a:r>
              <a:rPr lang="en-US" dirty="0"/>
              <a:t>Definition: the process of visiting each node (element) of the tree </a:t>
            </a:r>
            <a:r>
              <a:rPr lang="en-US" u="sng" dirty="0"/>
              <a:t>exactly one time</a:t>
            </a:r>
          </a:p>
          <a:p>
            <a:pPr lvl="1"/>
            <a:r>
              <a:rPr lang="en-US" dirty="0"/>
              <a:t>“Linearizing” a tree</a:t>
            </a:r>
          </a:p>
          <a:p>
            <a:pPr lvl="1"/>
            <a:endParaRPr lang="en-US" dirty="0"/>
          </a:p>
          <a:p>
            <a:r>
              <a:rPr lang="en-US" dirty="0"/>
              <a:t>Order is not specified by the definition</a:t>
            </a:r>
          </a:p>
          <a:p>
            <a:pPr lvl="1"/>
            <a:r>
              <a:rPr lang="en-US" dirty="0"/>
              <a:t>There are as many tree traversals as there are permutations of nodes!</a:t>
            </a:r>
          </a:p>
          <a:p>
            <a:pPr lvl="2"/>
            <a:r>
              <a:rPr lang="en-US" dirty="0"/>
              <a:t>For a tree with n nodes, there are n! different traversals</a:t>
            </a:r>
          </a:p>
          <a:p>
            <a:pPr lvl="2"/>
            <a:r>
              <a:rPr lang="en-US" dirty="0"/>
              <a:t>Most are chaotic and useless</a:t>
            </a:r>
          </a:p>
          <a:p>
            <a:pPr lvl="2"/>
            <a:r>
              <a:rPr lang="en-US" dirty="0"/>
              <a:t>Some will provide us a meaningful walkthrough of all elements</a:t>
            </a:r>
          </a:p>
        </p:txBody>
      </p:sp>
    </p:spTree>
    <p:extLst>
      <p:ext uri="{BB962C8B-B14F-4D97-AF65-F5344CB8AC3E}">
        <p14:creationId xmlns:p14="http://schemas.microsoft.com/office/powerpoint/2010/main" val="230369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8C6C-AC38-4201-A641-521C70A8212A}"/>
              </a:ext>
            </a:extLst>
          </p:cNvPr>
          <p:cNvSpPr>
            <a:spLocks noGrp="1"/>
          </p:cNvSpPr>
          <p:nvPr>
            <p:ph type="title"/>
          </p:nvPr>
        </p:nvSpPr>
        <p:spPr/>
        <p:txBody>
          <a:bodyPr/>
          <a:lstStyle/>
          <a:p>
            <a:r>
              <a:rPr lang="en-US" dirty="0"/>
              <a:t>General Tree Traversal Classes</a:t>
            </a:r>
            <a:endParaRPr lang="en-CA" dirty="0"/>
          </a:p>
        </p:txBody>
      </p:sp>
      <p:sp>
        <p:nvSpPr>
          <p:cNvPr id="3" name="Content Placeholder 2">
            <a:extLst>
              <a:ext uri="{FF2B5EF4-FFF2-40B4-BE49-F238E27FC236}">
                <a16:creationId xmlns:a16="http://schemas.microsoft.com/office/drawing/2014/main" id="{F37954D6-174B-453F-96C4-7B1E8E5672EF}"/>
              </a:ext>
            </a:extLst>
          </p:cNvPr>
          <p:cNvSpPr>
            <a:spLocks noGrp="1"/>
          </p:cNvSpPr>
          <p:nvPr>
            <p:ph idx="1"/>
          </p:nvPr>
        </p:nvSpPr>
        <p:spPr/>
        <p:txBody>
          <a:bodyPr/>
          <a:lstStyle/>
          <a:p>
            <a:pPr marL="514350" indent="-514350">
              <a:buFont typeface="+mj-lt"/>
              <a:buAutoNum type="arabicPeriod"/>
            </a:pPr>
            <a:r>
              <a:rPr lang="en-US" dirty="0"/>
              <a:t>Breadth-first</a:t>
            </a:r>
          </a:p>
          <a:p>
            <a:pPr marL="914400" lvl="1" indent="-457200">
              <a:buFont typeface="+mj-lt"/>
              <a:buAutoNum type="arabicPeriod"/>
            </a:pPr>
            <a:r>
              <a:rPr lang="en-US" dirty="0"/>
              <a:t>Top-down, left-right: 8 3 10 1 6 14 4 7 13</a:t>
            </a:r>
          </a:p>
          <a:p>
            <a:pPr marL="914400" lvl="1" indent="-457200">
              <a:buFont typeface="+mj-lt"/>
              <a:buAutoNum type="arabicPeriod"/>
            </a:pPr>
            <a:r>
              <a:rPr lang="en-US" dirty="0"/>
              <a:t>Top-down, right-left: 8 10 3 14 6 1 13 7 4</a:t>
            </a:r>
          </a:p>
          <a:p>
            <a:pPr marL="914400" lvl="1" indent="-457200">
              <a:buFont typeface="+mj-lt"/>
              <a:buAutoNum type="arabicPeriod"/>
            </a:pPr>
            <a:r>
              <a:rPr lang="en-US" dirty="0"/>
              <a:t>Bottom-up, left-right: 4 7 13 1 6 14 3 10 8</a:t>
            </a:r>
          </a:p>
          <a:p>
            <a:pPr marL="914400" lvl="1" indent="-457200">
              <a:buFont typeface="+mj-lt"/>
              <a:buAutoNum type="arabicPeriod"/>
            </a:pPr>
            <a:r>
              <a:rPr lang="en-US" dirty="0"/>
              <a:t>Bottom-up, right-left: 13 7 4 14 6 1 10 3 8</a:t>
            </a:r>
          </a:p>
          <a:p>
            <a:pPr marL="914400" lvl="1" indent="-457200">
              <a:buFont typeface="+mj-lt"/>
              <a:buAutoNum type="arabicPeriod"/>
            </a:pPr>
            <a:endParaRPr lang="en-US" dirty="0"/>
          </a:p>
          <a:p>
            <a:pPr marL="514350" indent="-514350">
              <a:buFont typeface="+mj-lt"/>
              <a:buAutoNum type="arabicPeriod"/>
            </a:pPr>
            <a:r>
              <a:rPr lang="en-US" dirty="0"/>
              <a:t>Height/Depth-first</a:t>
            </a:r>
          </a:p>
          <a:p>
            <a:pPr lvl="1"/>
            <a:r>
              <a:rPr lang="en-US" dirty="0"/>
              <a:t>Follow the links!</a:t>
            </a:r>
          </a:p>
          <a:p>
            <a:pPr lvl="2"/>
            <a:r>
              <a:rPr lang="en-US" dirty="0"/>
              <a:t>Better performance</a:t>
            </a:r>
            <a:endParaRPr lang="en-CA" dirty="0"/>
          </a:p>
        </p:txBody>
      </p:sp>
      <p:pic>
        <p:nvPicPr>
          <p:cNvPr id="4" name="Picture 3">
            <a:extLst>
              <a:ext uri="{FF2B5EF4-FFF2-40B4-BE49-F238E27FC236}">
                <a16:creationId xmlns:a16="http://schemas.microsoft.com/office/drawing/2014/main" id="{9D7719A0-559D-4D8F-8E03-7277CADBDF4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8640" y="3250247"/>
            <a:ext cx="3796665" cy="3242628"/>
          </a:xfrm>
          <a:prstGeom prst="rect">
            <a:avLst/>
          </a:prstGeom>
          <a:noFill/>
          <a:ln>
            <a:noFill/>
          </a:ln>
        </p:spPr>
      </p:pic>
    </p:spTree>
    <p:extLst>
      <p:ext uri="{BB962C8B-B14F-4D97-AF65-F5344CB8AC3E}">
        <p14:creationId xmlns:p14="http://schemas.microsoft.com/office/powerpoint/2010/main" val="1521329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D2EF-6CEF-42F7-BB98-774022D04EE7}"/>
              </a:ext>
            </a:extLst>
          </p:cNvPr>
          <p:cNvSpPr>
            <a:spLocks noGrp="1"/>
          </p:cNvSpPr>
          <p:nvPr>
            <p:ph type="title"/>
          </p:nvPr>
        </p:nvSpPr>
        <p:spPr/>
        <p:txBody>
          <a:bodyPr/>
          <a:lstStyle/>
          <a:p>
            <a:r>
              <a:rPr lang="en-US" altLang="en-US" dirty="0"/>
              <a:t>Height-First Traversal</a:t>
            </a:r>
            <a:endParaRPr lang="en-CA" dirty="0"/>
          </a:p>
        </p:txBody>
      </p:sp>
      <p:sp>
        <p:nvSpPr>
          <p:cNvPr id="3" name="Content Placeholder 2">
            <a:extLst>
              <a:ext uri="{FF2B5EF4-FFF2-40B4-BE49-F238E27FC236}">
                <a16:creationId xmlns:a16="http://schemas.microsoft.com/office/drawing/2014/main" id="{7DC398BF-5EEC-4927-BEE1-E0D0AA149812}"/>
              </a:ext>
            </a:extLst>
          </p:cNvPr>
          <p:cNvSpPr>
            <a:spLocks noGrp="1"/>
          </p:cNvSpPr>
          <p:nvPr>
            <p:ph idx="1"/>
          </p:nvPr>
        </p:nvSpPr>
        <p:spPr/>
        <p:txBody>
          <a:bodyPr>
            <a:normAutofit lnSpcReduction="10000"/>
          </a:bodyPr>
          <a:lstStyle/>
          <a:p>
            <a:r>
              <a:rPr lang="en-US" altLang="en-US" sz="2800" dirty="0">
                <a:cs typeface="Times New Roman" panose="02020603050405020304" pitchFamily="18" charset="0"/>
              </a:rPr>
              <a:t>Proceeds as far as possible to the left (</a:t>
            </a:r>
            <a:r>
              <a:rPr lang="en-US" altLang="en-US" dirty="0">
                <a:cs typeface="Times New Roman" panose="02020603050405020304" pitchFamily="18" charset="0"/>
              </a:rPr>
              <a:t>or right</a:t>
            </a:r>
            <a:r>
              <a:rPr lang="en-US" altLang="en-US" sz="2800" dirty="0">
                <a:cs typeface="Times New Roman" panose="02020603050405020304" pitchFamily="18" charset="0"/>
              </a:rPr>
              <a:t>), then backs up until the first crossroad, goes one step to the right (</a:t>
            </a:r>
            <a:r>
              <a:rPr lang="en-US" altLang="en-US" dirty="0">
                <a:cs typeface="Times New Roman" panose="02020603050405020304" pitchFamily="18" charset="0"/>
              </a:rPr>
              <a:t>or left</a:t>
            </a:r>
            <a:r>
              <a:rPr lang="en-US" altLang="en-US" sz="2800" dirty="0">
                <a:cs typeface="Times New Roman" panose="02020603050405020304" pitchFamily="18" charset="0"/>
              </a:rPr>
              <a:t>), and again as far as possible to the left (</a:t>
            </a:r>
            <a:r>
              <a:rPr lang="en-US" altLang="en-US" dirty="0">
                <a:cs typeface="Times New Roman" panose="02020603050405020304" pitchFamily="18" charset="0"/>
              </a:rPr>
              <a:t>or right</a:t>
            </a:r>
            <a:r>
              <a:rPr lang="en-US" altLang="en-US" sz="2800" dirty="0">
                <a:cs typeface="Times New Roman" panose="02020603050405020304" pitchFamily="18" charset="0"/>
              </a:rPr>
              <a:t>)</a:t>
            </a:r>
          </a:p>
          <a:p>
            <a:pPr lvl="1"/>
            <a:r>
              <a:rPr lang="en-US" altLang="en-US" dirty="0">
                <a:cs typeface="Times New Roman" panose="02020603050405020304" pitchFamily="18" charset="0"/>
              </a:rPr>
              <a:t>Repeat this process till all nodes are visited</a:t>
            </a:r>
          </a:p>
          <a:p>
            <a:pPr lvl="6"/>
            <a:endParaRPr lang="en-US" altLang="en-US" dirty="0">
              <a:cs typeface="Times New Roman" panose="02020603050405020304" pitchFamily="18" charset="0"/>
            </a:endParaRPr>
          </a:p>
          <a:p>
            <a:r>
              <a:rPr lang="en-US" altLang="en-US" dirty="0">
                <a:cs typeface="Times New Roman" panose="02020603050405020304" pitchFamily="18" charset="0"/>
              </a:rPr>
              <a:t>Three tasks of interest:</a:t>
            </a:r>
          </a:p>
          <a:p>
            <a:pPr lvl="2"/>
            <a:r>
              <a:rPr lang="en-US" altLang="en-US" sz="2000" b="1" dirty="0">
                <a:latin typeface="Tahoma" panose="020B0604030504040204" pitchFamily="34" charset="0"/>
                <a:cs typeface="Times New Roman" panose="02020603050405020304" pitchFamily="18" charset="0"/>
              </a:rPr>
              <a:t>V</a:t>
            </a:r>
            <a:r>
              <a:rPr lang="en-US" altLang="en-US" sz="2000" b="1" dirty="0">
                <a:cs typeface="Times New Roman" panose="02020603050405020304" pitchFamily="18" charset="0"/>
              </a:rPr>
              <a:t> </a:t>
            </a:r>
            <a:r>
              <a:rPr lang="en-US" altLang="en-US" sz="2000" dirty="0">
                <a:cs typeface="Times New Roman" panose="02020603050405020304" pitchFamily="18" charset="0"/>
              </a:rPr>
              <a:t>– visiting a node</a:t>
            </a:r>
          </a:p>
          <a:p>
            <a:pPr lvl="2"/>
            <a:r>
              <a:rPr lang="en-US" altLang="en-US" sz="2000" b="1" dirty="0">
                <a:latin typeface="Tahoma" panose="020B0604030504040204" pitchFamily="34" charset="0"/>
                <a:cs typeface="Times New Roman" panose="02020603050405020304" pitchFamily="18" charset="0"/>
              </a:rPr>
              <a:t>L</a:t>
            </a:r>
            <a:r>
              <a:rPr lang="en-US" altLang="en-US" sz="2000" dirty="0">
                <a:cs typeface="Times New Roman" panose="02020603050405020304" pitchFamily="18" charset="0"/>
              </a:rPr>
              <a:t> – traversing the left subtree</a:t>
            </a:r>
          </a:p>
          <a:p>
            <a:pPr lvl="2"/>
            <a:r>
              <a:rPr lang="en-US" altLang="en-US" sz="2000" b="1" dirty="0">
                <a:latin typeface="Tahoma" panose="020B0604030504040204" pitchFamily="34" charset="0"/>
                <a:cs typeface="Times New Roman" panose="02020603050405020304" pitchFamily="18" charset="0"/>
              </a:rPr>
              <a:t>R</a:t>
            </a:r>
            <a:r>
              <a:rPr lang="en-US" altLang="en-US" sz="2000" dirty="0">
                <a:cs typeface="Times New Roman" panose="02020603050405020304" pitchFamily="18" charset="0"/>
              </a:rPr>
              <a:t> – traversing the right subtree</a:t>
            </a:r>
          </a:p>
          <a:p>
            <a:pPr lvl="1"/>
            <a:r>
              <a:rPr lang="en-US" altLang="en-US" dirty="0">
                <a:cs typeface="Times New Roman" panose="02020603050405020304" pitchFamily="18" charset="0"/>
              </a:rPr>
              <a:t>T</a:t>
            </a:r>
            <a:r>
              <a:rPr lang="en-US" altLang="en-US" sz="2400" dirty="0">
                <a:cs typeface="Times New Roman" panose="02020603050405020304" pitchFamily="18" charset="0"/>
              </a:rPr>
              <a:t>hese task should be performed in the same order for each node, but which order?</a:t>
            </a:r>
          </a:p>
        </p:txBody>
      </p:sp>
    </p:spTree>
    <p:extLst>
      <p:ext uri="{BB962C8B-B14F-4D97-AF65-F5344CB8AC3E}">
        <p14:creationId xmlns:p14="http://schemas.microsoft.com/office/powerpoint/2010/main" val="13672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8D3DC-F4AF-4CC8-882D-27FB1D9BAC62}"/>
              </a:ext>
            </a:extLst>
          </p:cNvPr>
          <p:cNvSpPr>
            <a:spLocks noGrp="1"/>
          </p:cNvSpPr>
          <p:nvPr>
            <p:ph type="title"/>
          </p:nvPr>
        </p:nvSpPr>
        <p:spPr/>
        <p:txBody>
          <a:bodyPr/>
          <a:lstStyle/>
          <a:p>
            <a:r>
              <a:rPr lang="en-US" altLang="en-US" dirty="0"/>
              <a:t>Height-First Traversal Variations</a:t>
            </a:r>
            <a:endParaRPr lang="en-CA" dirty="0"/>
          </a:p>
        </p:txBody>
      </p:sp>
      <p:sp>
        <p:nvSpPr>
          <p:cNvPr id="3" name="Content Placeholder 2">
            <a:extLst>
              <a:ext uri="{FF2B5EF4-FFF2-40B4-BE49-F238E27FC236}">
                <a16:creationId xmlns:a16="http://schemas.microsoft.com/office/drawing/2014/main" id="{C14EC01B-74FB-482A-B765-D84C758EB56C}"/>
              </a:ext>
            </a:extLst>
          </p:cNvPr>
          <p:cNvSpPr>
            <a:spLocks noGrp="1"/>
          </p:cNvSpPr>
          <p:nvPr>
            <p:ph idx="1"/>
          </p:nvPr>
        </p:nvSpPr>
        <p:spPr/>
        <p:txBody>
          <a:bodyPr/>
          <a:lstStyle/>
          <a:p>
            <a:r>
              <a:rPr lang="en-US" altLang="en-US" dirty="0">
                <a:cs typeface="Times New Roman" panose="02020603050405020304" pitchFamily="18" charset="0"/>
              </a:rPr>
              <a:t>3 tasks = 3! permutations </a:t>
            </a:r>
          </a:p>
          <a:p>
            <a:pPr marL="0" indent="0">
              <a:buNone/>
            </a:pPr>
            <a:r>
              <a:rPr lang="en-US" altLang="en-US" dirty="0">
                <a:cs typeface="Times New Roman" panose="02020603050405020304" pitchFamily="18" charset="0"/>
              </a:rPr>
              <a:t> = 6 ordered height-first traversals:</a:t>
            </a:r>
          </a:p>
          <a:p>
            <a:pPr lvl="1"/>
            <a:endParaRPr lang="en-US" altLang="en-US" dirty="0">
              <a:cs typeface="Times New Roman" panose="02020603050405020304" pitchFamily="18" charset="0"/>
            </a:endParaRPr>
          </a:p>
          <a:p>
            <a:pPr lvl="1">
              <a:buFontTx/>
              <a:buNone/>
            </a:pPr>
            <a:r>
              <a:rPr lang="en-US" altLang="en-US" b="1" dirty="0">
                <a:latin typeface="Tahoma" panose="020B0604030504040204" pitchFamily="34" charset="0"/>
                <a:cs typeface="Times New Roman" panose="02020603050405020304" pitchFamily="18" charset="0"/>
              </a:rPr>
              <a:t>		</a:t>
            </a:r>
            <a:r>
              <a:rPr lang="en-US" altLang="en-US" sz="2800" b="1" dirty="0">
                <a:latin typeface="Tahoma" panose="020B0604030504040204" pitchFamily="34" charset="0"/>
                <a:cs typeface="Times New Roman" panose="02020603050405020304" pitchFamily="18" charset="0"/>
              </a:rPr>
              <a:t>1) VLR		4) VRL</a:t>
            </a:r>
          </a:p>
          <a:p>
            <a:pPr lvl="1">
              <a:buFontTx/>
              <a:buNone/>
            </a:pPr>
            <a:r>
              <a:rPr lang="en-US" altLang="en-US" sz="2800" b="1" dirty="0">
                <a:latin typeface="Tahoma" panose="020B0604030504040204" pitchFamily="34" charset="0"/>
                <a:cs typeface="Times New Roman" panose="02020603050405020304" pitchFamily="18" charset="0"/>
              </a:rPr>
              <a:t>		2) LVR		5) RVL</a:t>
            </a:r>
          </a:p>
          <a:p>
            <a:pPr lvl="1">
              <a:buFontTx/>
              <a:buNone/>
            </a:pPr>
            <a:r>
              <a:rPr lang="en-US" altLang="en-US" sz="2800" b="1" dirty="0">
                <a:latin typeface="Tahoma" panose="020B0604030504040204" pitchFamily="34" charset="0"/>
                <a:cs typeface="Times New Roman" panose="02020603050405020304" pitchFamily="18" charset="0"/>
              </a:rPr>
              <a:t>		3) LRV		6) RLV</a:t>
            </a:r>
            <a:endParaRPr lang="en-US" altLang="en-US" sz="2800" dirty="0">
              <a:cs typeface="Times New Roman" panose="02020603050405020304" pitchFamily="18" charset="0"/>
            </a:endParaRPr>
          </a:p>
          <a:p>
            <a:endParaRPr lang="en-CA" dirty="0"/>
          </a:p>
        </p:txBody>
      </p:sp>
      <p:sp>
        <p:nvSpPr>
          <p:cNvPr id="4" name="Rectangle 8">
            <a:extLst>
              <a:ext uri="{FF2B5EF4-FFF2-40B4-BE49-F238E27FC236}">
                <a16:creationId xmlns:a16="http://schemas.microsoft.com/office/drawing/2014/main" id="{66184544-4260-4C88-A06C-A5DF9A60A9E5}"/>
              </a:ext>
            </a:extLst>
          </p:cNvPr>
          <p:cNvSpPr>
            <a:spLocks noChangeArrowheads="1"/>
          </p:cNvSpPr>
          <p:nvPr/>
        </p:nvSpPr>
        <p:spPr bwMode="auto">
          <a:xfrm>
            <a:off x="1447800" y="3096768"/>
            <a:ext cx="1828800"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Futura Md BT" pitchFamily="34" charset="0"/>
              </a:defRPr>
            </a:lvl1pPr>
            <a:lvl2pPr marL="742950" indent="-285750">
              <a:defRPr sz="2400" b="1">
                <a:solidFill>
                  <a:schemeClr val="bg1"/>
                </a:solidFill>
                <a:latin typeface="Futura Md BT" pitchFamily="34" charset="0"/>
              </a:defRPr>
            </a:lvl2pPr>
            <a:lvl3pPr marL="1143000" indent="-228600">
              <a:defRPr sz="2400" b="1">
                <a:solidFill>
                  <a:schemeClr val="bg1"/>
                </a:solidFill>
                <a:latin typeface="Futura Md BT" pitchFamily="34" charset="0"/>
              </a:defRPr>
            </a:lvl3pPr>
            <a:lvl4pPr marL="1600200" indent="-228600">
              <a:defRPr sz="2400" b="1">
                <a:solidFill>
                  <a:schemeClr val="bg1"/>
                </a:solidFill>
                <a:latin typeface="Futura Md BT" pitchFamily="34" charset="0"/>
              </a:defRPr>
            </a:lvl4pPr>
            <a:lvl5pPr marL="2057400" indent="-228600">
              <a:defRPr sz="2400" b="1">
                <a:solidFill>
                  <a:schemeClr val="bg1"/>
                </a:solidFill>
                <a:latin typeface="Futura Md BT" pitchFamily="34" charset="0"/>
              </a:defRPr>
            </a:lvl5pPr>
            <a:lvl6pPr marL="2514600" indent="-228600" eaLnBrk="0" fontAlgn="base" hangingPunct="0">
              <a:spcBef>
                <a:spcPct val="0"/>
              </a:spcBef>
              <a:spcAft>
                <a:spcPct val="0"/>
              </a:spcAft>
              <a:defRPr sz="2400" b="1">
                <a:solidFill>
                  <a:schemeClr val="bg1"/>
                </a:solidFill>
                <a:latin typeface="Futura Md BT" pitchFamily="34" charset="0"/>
              </a:defRPr>
            </a:lvl6pPr>
            <a:lvl7pPr marL="2971800" indent="-228600" eaLnBrk="0" fontAlgn="base" hangingPunct="0">
              <a:spcBef>
                <a:spcPct val="0"/>
              </a:spcBef>
              <a:spcAft>
                <a:spcPct val="0"/>
              </a:spcAft>
              <a:defRPr sz="2400" b="1">
                <a:solidFill>
                  <a:schemeClr val="bg1"/>
                </a:solidFill>
                <a:latin typeface="Futura Md BT" pitchFamily="34" charset="0"/>
              </a:defRPr>
            </a:lvl7pPr>
            <a:lvl8pPr marL="3429000" indent="-228600" eaLnBrk="0" fontAlgn="base" hangingPunct="0">
              <a:spcBef>
                <a:spcPct val="0"/>
              </a:spcBef>
              <a:spcAft>
                <a:spcPct val="0"/>
              </a:spcAft>
              <a:defRPr sz="2400" b="1">
                <a:solidFill>
                  <a:schemeClr val="bg1"/>
                </a:solidFill>
                <a:latin typeface="Futura Md BT" pitchFamily="34" charset="0"/>
              </a:defRPr>
            </a:lvl8pPr>
            <a:lvl9pPr marL="3886200" indent="-228600" eaLnBrk="0" fontAlgn="base" hangingPunct="0">
              <a:spcBef>
                <a:spcPct val="0"/>
              </a:spcBef>
              <a:spcAft>
                <a:spcPct val="0"/>
              </a:spcAft>
              <a:defRPr sz="2400" b="1">
                <a:solidFill>
                  <a:schemeClr val="bg1"/>
                </a:solidFill>
                <a:latin typeface="Futura Md BT" pitchFamily="34" charset="0"/>
              </a:defRPr>
            </a:lvl9pPr>
          </a:lstStyle>
          <a:p>
            <a:endParaRPr lang="en-US" altLang="en-US"/>
          </a:p>
        </p:txBody>
      </p:sp>
      <p:sp>
        <p:nvSpPr>
          <p:cNvPr id="5" name="Line 9">
            <a:extLst>
              <a:ext uri="{FF2B5EF4-FFF2-40B4-BE49-F238E27FC236}">
                <a16:creationId xmlns:a16="http://schemas.microsoft.com/office/drawing/2014/main" id="{A64667F2-9F9F-4F36-9245-ED9F2E0789BE}"/>
              </a:ext>
            </a:extLst>
          </p:cNvPr>
          <p:cNvSpPr>
            <a:spLocks noChangeShapeType="1"/>
          </p:cNvSpPr>
          <p:nvPr/>
        </p:nvSpPr>
        <p:spPr bwMode="auto">
          <a:xfrm flipH="1" flipV="1">
            <a:off x="2362200" y="4620768"/>
            <a:ext cx="1249680" cy="6217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Text Box 10">
            <a:extLst>
              <a:ext uri="{FF2B5EF4-FFF2-40B4-BE49-F238E27FC236}">
                <a16:creationId xmlns:a16="http://schemas.microsoft.com/office/drawing/2014/main" id="{D31352C4-3068-4F5A-94F0-E3731E6FB6F1}"/>
              </a:ext>
            </a:extLst>
          </p:cNvPr>
          <p:cNvSpPr txBox="1">
            <a:spLocks noChangeArrowheads="1"/>
          </p:cNvSpPr>
          <p:nvPr/>
        </p:nvSpPr>
        <p:spPr bwMode="auto">
          <a:xfrm>
            <a:off x="3611880" y="5034480"/>
            <a:ext cx="77419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bg1"/>
                </a:solidFill>
                <a:latin typeface="Futura Md BT" pitchFamily="34" charset="0"/>
              </a:defRPr>
            </a:lvl1pPr>
            <a:lvl2pPr marL="742950" indent="-285750">
              <a:defRPr sz="2400" b="1">
                <a:solidFill>
                  <a:schemeClr val="bg1"/>
                </a:solidFill>
                <a:latin typeface="Futura Md BT" pitchFamily="34" charset="0"/>
              </a:defRPr>
            </a:lvl2pPr>
            <a:lvl3pPr marL="1143000" indent="-228600">
              <a:defRPr sz="2400" b="1">
                <a:solidFill>
                  <a:schemeClr val="bg1"/>
                </a:solidFill>
                <a:latin typeface="Futura Md BT" pitchFamily="34" charset="0"/>
              </a:defRPr>
            </a:lvl3pPr>
            <a:lvl4pPr marL="1600200" indent="-228600">
              <a:defRPr sz="2400" b="1">
                <a:solidFill>
                  <a:schemeClr val="bg1"/>
                </a:solidFill>
                <a:latin typeface="Futura Md BT" pitchFamily="34" charset="0"/>
              </a:defRPr>
            </a:lvl4pPr>
            <a:lvl5pPr marL="2057400" indent="-228600">
              <a:defRPr sz="2400" b="1">
                <a:solidFill>
                  <a:schemeClr val="bg1"/>
                </a:solidFill>
                <a:latin typeface="Futura Md BT" pitchFamily="34" charset="0"/>
              </a:defRPr>
            </a:lvl5pPr>
            <a:lvl6pPr marL="2514600" indent="-228600" eaLnBrk="0" fontAlgn="base" hangingPunct="0">
              <a:spcBef>
                <a:spcPct val="0"/>
              </a:spcBef>
              <a:spcAft>
                <a:spcPct val="0"/>
              </a:spcAft>
              <a:defRPr sz="2400" b="1">
                <a:solidFill>
                  <a:schemeClr val="bg1"/>
                </a:solidFill>
                <a:latin typeface="Futura Md BT" pitchFamily="34" charset="0"/>
              </a:defRPr>
            </a:lvl6pPr>
            <a:lvl7pPr marL="2971800" indent="-228600" eaLnBrk="0" fontAlgn="base" hangingPunct="0">
              <a:spcBef>
                <a:spcPct val="0"/>
              </a:spcBef>
              <a:spcAft>
                <a:spcPct val="0"/>
              </a:spcAft>
              <a:defRPr sz="2400" b="1">
                <a:solidFill>
                  <a:schemeClr val="bg1"/>
                </a:solidFill>
                <a:latin typeface="Futura Md BT" pitchFamily="34" charset="0"/>
              </a:defRPr>
            </a:lvl7pPr>
            <a:lvl8pPr marL="3429000" indent="-228600" eaLnBrk="0" fontAlgn="base" hangingPunct="0">
              <a:spcBef>
                <a:spcPct val="0"/>
              </a:spcBef>
              <a:spcAft>
                <a:spcPct val="0"/>
              </a:spcAft>
              <a:defRPr sz="2400" b="1">
                <a:solidFill>
                  <a:schemeClr val="bg1"/>
                </a:solidFill>
                <a:latin typeface="Futura Md BT" pitchFamily="34" charset="0"/>
              </a:defRPr>
            </a:lvl8pPr>
            <a:lvl9pPr marL="3886200" indent="-228600" eaLnBrk="0" fontAlgn="base" hangingPunct="0">
              <a:spcBef>
                <a:spcPct val="0"/>
              </a:spcBef>
              <a:spcAft>
                <a:spcPct val="0"/>
              </a:spcAft>
              <a:defRPr sz="2400" b="1">
                <a:solidFill>
                  <a:schemeClr val="bg1"/>
                </a:solidFill>
                <a:latin typeface="Futura Md BT" pitchFamily="34" charset="0"/>
              </a:defRPr>
            </a:lvl9pPr>
          </a:lstStyle>
          <a:p>
            <a:pPr>
              <a:spcBef>
                <a:spcPct val="50000"/>
              </a:spcBef>
            </a:pPr>
            <a:r>
              <a:rPr lang="en-US" altLang="en-US" b="0" dirty="0">
                <a:solidFill>
                  <a:schemeClr val="tx1"/>
                </a:solidFill>
                <a:latin typeface="Futura MdCn BT" pitchFamily="34" charset="0"/>
              </a:rPr>
              <a:t>We can concentrate on just these 3 variations!</a:t>
            </a:r>
          </a:p>
        </p:txBody>
      </p:sp>
    </p:spTree>
    <p:extLst>
      <p:ext uri="{BB962C8B-B14F-4D97-AF65-F5344CB8AC3E}">
        <p14:creationId xmlns:p14="http://schemas.microsoft.com/office/powerpoint/2010/main" val="33987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4A965-D025-4DD0-A953-5E992A281468}"/>
              </a:ext>
            </a:extLst>
          </p:cNvPr>
          <p:cNvSpPr>
            <a:spLocks noGrp="1"/>
          </p:cNvSpPr>
          <p:nvPr>
            <p:ph type="title"/>
          </p:nvPr>
        </p:nvSpPr>
        <p:spPr/>
        <p:txBody>
          <a:bodyPr/>
          <a:lstStyle/>
          <a:p>
            <a:r>
              <a:rPr lang="en-US" altLang="en-US" dirty="0"/>
              <a:t>Height-First Traversal Variations</a:t>
            </a:r>
            <a:endParaRPr lang="en-CA" dirty="0"/>
          </a:p>
        </p:txBody>
      </p:sp>
      <p:sp>
        <p:nvSpPr>
          <p:cNvPr id="3" name="Content Placeholder 2">
            <a:extLst>
              <a:ext uri="{FF2B5EF4-FFF2-40B4-BE49-F238E27FC236}">
                <a16:creationId xmlns:a16="http://schemas.microsoft.com/office/drawing/2014/main" id="{696F0FC8-2956-430D-AE12-EB798DD809D8}"/>
              </a:ext>
            </a:extLst>
          </p:cNvPr>
          <p:cNvSpPr>
            <a:spLocks noGrp="1"/>
          </p:cNvSpPr>
          <p:nvPr>
            <p:ph idx="1"/>
          </p:nvPr>
        </p:nvSpPr>
        <p:spPr/>
        <p:txBody>
          <a:bodyPr/>
          <a:lstStyle/>
          <a:p>
            <a:r>
              <a:rPr lang="en-US" altLang="en-US" b="1" dirty="0">
                <a:latin typeface="Tahoma" panose="020B0604030504040204" pitchFamily="34" charset="0"/>
                <a:cs typeface="Times New Roman" panose="02020603050405020304" pitchFamily="18" charset="0"/>
              </a:rPr>
              <a:t>VLR: </a:t>
            </a:r>
            <a:r>
              <a:rPr lang="en-US" altLang="en-US" dirty="0">
                <a:cs typeface="Times New Roman" panose="02020603050405020304" pitchFamily="18" charset="0"/>
              </a:rPr>
              <a:t>preorder tree traversal</a:t>
            </a:r>
          </a:p>
          <a:p>
            <a:pPr marL="0" indent="0">
              <a:buNone/>
            </a:pPr>
            <a:r>
              <a:rPr lang="en-US" altLang="en-US" dirty="0">
                <a:cs typeface="Times New Roman" panose="02020603050405020304" pitchFamily="18" charset="0"/>
              </a:rPr>
              <a:t>	8 3 1 6 4 7 10 14 13</a:t>
            </a:r>
          </a:p>
          <a:p>
            <a:r>
              <a:rPr lang="en-US" altLang="en-US" b="1" dirty="0">
                <a:latin typeface="Tahoma" panose="020B0604030504040204" pitchFamily="34" charset="0"/>
                <a:cs typeface="Times New Roman" panose="02020603050405020304" pitchFamily="18" charset="0"/>
              </a:rPr>
              <a:t>LVR: </a:t>
            </a:r>
            <a:r>
              <a:rPr lang="en-US" altLang="en-US" dirty="0" err="1">
                <a:cs typeface="Times New Roman" panose="02020603050405020304" pitchFamily="18" charset="0"/>
              </a:rPr>
              <a:t>inorder</a:t>
            </a:r>
            <a:r>
              <a:rPr lang="en-US" altLang="en-US" dirty="0">
                <a:cs typeface="Times New Roman" panose="02020603050405020304" pitchFamily="18" charset="0"/>
              </a:rPr>
              <a:t> tree traversal</a:t>
            </a:r>
          </a:p>
          <a:p>
            <a:pPr marL="0" indent="0">
              <a:buNone/>
            </a:pPr>
            <a:r>
              <a:rPr lang="en-US" altLang="en-US" dirty="0">
                <a:latin typeface="Tahoma" panose="020B0604030504040204" pitchFamily="34" charset="0"/>
                <a:cs typeface="Times New Roman" panose="02020603050405020304" pitchFamily="18" charset="0"/>
              </a:rPr>
              <a:t>	</a:t>
            </a:r>
            <a:r>
              <a:rPr lang="en-US" altLang="en-US" dirty="0">
                <a:latin typeface="Verdana" panose="020B0604030504040204" pitchFamily="34" charset="0"/>
                <a:ea typeface="Verdana" panose="020B0604030504040204" pitchFamily="34" charset="0"/>
                <a:cs typeface="Times New Roman" panose="02020603050405020304" pitchFamily="18" charset="0"/>
              </a:rPr>
              <a:t>1 3 4 6 7 8 10 13 14</a:t>
            </a:r>
          </a:p>
          <a:p>
            <a:r>
              <a:rPr lang="en-US" altLang="en-US" b="1" dirty="0">
                <a:latin typeface="Tahoma" panose="020B0604030504040204" pitchFamily="34" charset="0"/>
                <a:cs typeface="Times New Roman" panose="02020603050405020304" pitchFamily="18" charset="0"/>
              </a:rPr>
              <a:t>LRV: </a:t>
            </a:r>
            <a:r>
              <a:rPr lang="en-US" altLang="en-US" dirty="0" err="1">
                <a:cs typeface="Times New Roman" panose="02020603050405020304" pitchFamily="18" charset="0"/>
              </a:rPr>
              <a:t>postorder</a:t>
            </a:r>
            <a:r>
              <a:rPr lang="en-US" altLang="en-US" dirty="0">
                <a:cs typeface="Times New Roman" panose="02020603050405020304" pitchFamily="18" charset="0"/>
              </a:rPr>
              <a:t> tree traversal </a:t>
            </a:r>
            <a:r>
              <a:rPr lang="en-US" altLang="en-US" b="1" dirty="0">
                <a:latin typeface="Tahoma" panose="020B0604030504040204" pitchFamily="34" charset="0"/>
                <a:cs typeface="Times New Roman" panose="02020603050405020304" pitchFamily="18" charset="0"/>
              </a:rPr>
              <a:t>		</a:t>
            </a:r>
          </a:p>
          <a:p>
            <a:pPr marL="0" indent="0">
              <a:buNone/>
            </a:pPr>
            <a:r>
              <a:rPr lang="en-CA" dirty="0"/>
              <a:t>	1 4 7 6 3 13 14 10 8</a:t>
            </a:r>
          </a:p>
        </p:txBody>
      </p:sp>
      <p:pic>
        <p:nvPicPr>
          <p:cNvPr id="4" name="Picture 3">
            <a:extLst>
              <a:ext uri="{FF2B5EF4-FFF2-40B4-BE49-F238E27FC236}">
                <a16:creationId xmlns:a16="http://schemas.microsoft.com/office/drawing/2014/main" id="{3219B7C1-3592-4EDB-9F5B-E0D8C7929A4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162801" y="2227580"/>
            <a:ext cx="4297680" cy="3624580"/>
          </a:xfrm>
          <a:prstGeom prst="rect">
            <a:avLst/>
          </a:prstGeom>
          <a:noFill/>
          <a:ln>
            <a:noFill/>
          </a:ln>
        </p:spPr>
      </p:pic>
    </p:spTree>
    <p:extLst>
      <p:ext uri="{BB962C8B-B14F-4D97-AF65-F5344CB8AC3E}">
        <p14:creationId xmlns:p14="http://schemas.microsoft.com/office/powerpoint/2010/main" val="12022166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57FC-AAC9-48FB-B073-9A0F238DD9C2}"/>
              </a:ext>
            </a:extLst>
          </p:cNvPr>
          <p:cNvSpPr>
            <a:spLocks noGrp="1"/>
          </p:cNvSpPr>
          <p:nvPr>
            <p:ph type="title"/>
          </p:nvPr>
        </p:nvSpPr>
        <p:spPr/>
        <p:txBody>
          <a:bodyPr/>
          <a:lstStyle/>
          <a:p>
            <a:r>
              <a:rPr lang="en-US" dirty="0"/>
              <a:t>Exercise</a:t>
            </a:r>
            <a:endParaRPr lang="en-CA" dirty="0"/>
          </a:p>
        </p:txBody>
      </p:sp>
      <p:sp>
        <p:nvSpPr>
          <p:cNvPr id="3" name="Content Placeholder 2">
            <a:extLst>
              <a:ext uri="{FF2B5EF4-FFF2-40B4-BE49-F238E27FC236}">
                <a16:creationId xmlns:a16="http://schemas.microsoft.com/office/drawing/2014/main" id="{150C343F-920C-4ADE-A874-3ACA1D2258C5}"/>
              </a:ext>
            </a:extLst>
          </p:cNvPr>
          <p:cNvSpPr>
            <a:spLocks noGrp="1"/>
          </p:cNvSpPr>
          <p:nvPr>
            <p:ph idx="1"/>
          </p:nvPr>
        </p:nvSpPr>
        <p:spPr/>
        <p:txBody>
          <a:bodyPr/>
          <a:lstStyle/>
          <a:p>
            <a:r>
              <a:rPr lang="en-US" dirty="0"/>
              <a:t>What is the order of elements visited using preorder, </a:t>
            </a:r>
            <a:r>
              <a:rPr lang="en-US" dirty="0" err="1"/>
              <a:t>inorder</a:t>
            </a:r>
            <a:r>
              <a:rPr lang="en-US" dirty="0"/>
              <a:t> and </a:t>
            </a:r>
            <a:r>
              <a:rPr lang="en-US" dirty="0" err="1"/>
              <a:t>postorder</a:t>
            </a:r>
            <a:r>
              <a:rPr lang="en-US" dirty="0"/>
              <a:t> traversals?</a:t>
            </a:r>
            <a:endParaRPr lang="en-CA" dirty="0"/>
          </a:p>
        </p:txBody>
      </p:sp>
      <p:pic>
        <p:nvPicPr>
          <p:cNvPr id="4" name="Picture 3">
            <a:extLst>
              <a:ext uri="{FF2B5EF4-FFF2-40B4-BE49-F238E27FC236}">
                <a16:creationId xmlns:a16="http://schemas.microsoft.com/office/drawing/2014/main" id="{1737AE93-B55E-489D-9755-1D0B5ECB7001}"/>
              </a:ext>
            </a:extLst>
          </p:cNvPr>
          <p:cNvPicPr/>
          <p:nvPr/>
        </p:nvPicPr>
        <p:blipFill>
          <a:blip r:embed="rId3"/>
          <a:stretch>
            <a:fillRect/>
          </a:stretch>
        </p:blipFill>
        <p:spPr>
          <a:xfrm>
            <a:off x="2729389" y="2944971"/>
            <a:ext cx="6733222" cy="3547904"/>
          </a:xfrm>
          <a:prstGeom prst="rect">
            <a:avLst/>
          </a:prstGeom>
        </p:spPr>
      </p:pic>
    </p:spTree>
    <p:extLst>
      <p:ext uri="{BB962C8B-B14F-4D97-AF65-F5344CB8AC3E}">
        <p14:creationId xmlns:p14="http://schemas.microsoft.com/office/powerpoint/2010/main" val="2202026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CB18-E637-4758-BCAC-F7DC8D323832}"/>
              </a:ext>
            </a:extLst>
          </p:cNvPr>
          <p:cNvSpPr>
            <a:spLocks noGrp="1"/>
          </p:cNvSpPr>
          <p:nvPr>
            <p:ph type="title"/>
          </p:nvPr>
        </p:nvSpPr>
        <p:spPr/>
        <p:txBody>
          <a:bodyPr/>
          <a:lstStyle/>
          <a:p>
            <a:r>
              <a:rPr lang="en-US" dirty="0"/>
              <a:t>Implementing Tree Traversals</a:t>
            </a:r>
            <a:endParaRPr lang="en-CA" dirty="0"/>
          </a:p>
        </p:txBody>
      </p:sp>
      <p:sp>
        <p:nvSpPr>
          <p:cNvPr id="3" name="Content Placeholder 2">
            <a:extLst>
              <a:ext uri="{FF2B5EF4-FFF2-40B4-BE49-F238E27FC236}">
                <a16:creationId xmlns:a16="http://schemas.microsoft.com/office/drawing/2014/main" id="{C2A41496-0BBE-4CAC-A1DA-5AE02DD9C0EE}"/>
              </a:ext>
            </a:extLst>
          </p:cNvPr>
          <p:cNvSpPr>
            <a:spLocks noGrp="1"/>
          </p:cNvSpPr>
          <p:nvPr>
            <p:ph idx="1"/>
          </p:nvPr>
        </p:nvSpPr>
        <p:spPr/>
        <p:txBody>
          <a:bodyPr>
            <a:normAutofit fontScale="85000" lnSpcReduction="20000"/>
          </a:bodyPr>
          <a:lstStyle/>
          <a:p>
            <a:r>
              <a:rPr lang="en-US" dirty="0"/>
              <a:t>Recursion – short and elegant, but expensive!</a:t>
            </a:r>
          </a:p>
          <a:p>
            <a:pPr marL="457200" lvl="1" indent="0">
              <a:lnSpc>
                <a:spcPct val="70000"/>
              </a:lnSpc>
              <a:buNone/>
            </a:pPr>
            <a:r>
              <a:rPr lang="en-US" altLang="en-US" sz="2200" b="1" dirty="0">
                <a:solidFill>
                  <a:schemeClr val="accent2"/>
                </a:solidFill>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preorder(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//V</a:t>
            </a:r>
          </a:p>
          <a:p>
            <a:pPr lvl="2">
              <a:lnSpc>
                <a:spcPct val="70000"/>
              </a:lnSpc>
              <a:buFontTx/>
              <a:buNone/>
            </a:pPr>
            <a:r>
              <a:rPr lang="en-US" altLang="en-US" sz="2400" dirty="0">
                <a:latin typeface="Courier New" panose="02070309020205020404" pitchFamily="49" charset="0"/>
                <a:cs typeface="Courier New" panose="02070309020205020404" pitchFamily="49" charset="0"/>
              </a:rPr>
              <a:t>		preorder(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preorder(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	//R</a:t>
            </a:r>
          </a:p>
          <a:p>
            <a:pPr lvl="1">
              <a:lnSpc>
                <a:spcPct val="70000"/>
              </a:lnSpc>
              <a:buFontTx/>
              <a:buNone/>
            </a:pPr>
            <a:r>
              <a:rPr lang="en-US" altLang="en-US" dirty="0">
                <a:latin typeface="Courier New" panose="02070309020205020404" pitchFamily="49" charset="0"/>
                <a:cs typeface="Courier New" panose="02070309020205020404" pitchFamily="49" charset="0"/>
              </a:rPr>
              <a:t>		}</a:t>
            </a:r>
          </a:p>
          <a:p>
            <a:pPr marL="457200" lvl="1" indent="0">
              <a:buNone/>
            </a:pPr>
            <a:r>
              <a:rPr lang="en-US" altLang="en-US" b="1" dirty="0">
                <a:latin typeface="Courier New" panose="02070309020205020404" pitchFamily="49" charset="0"/>
                <a:cs typeface="Courier New" panose="02070309020205020404" pitchFamily="49" charset="0"/>
              </a:rPr>
              <a:t>	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inorder</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//V</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inorder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 	//R</a:t>
            </a:r>
          </a:p>
          <a:p>
            <a:pPr lvl="1">
              <a:lnSpc>
                <a:spcPct val="70000"/>
              </a:lnSpc>
              <a:buFontTx/>
              <a:buNone/>
            </a:pPr>
            <a:r>
              <a:rPr lang="en-US" altLang="en-US" dirty="0">
                <a:latin typeface="Courier New" panose="02070309020205020404" pitchFamily="49" charset="0"/>
                <a:cs typeface="Courier New" panose="02070309020205020404" pitchFamily="49" charset="0"/>
              </a:rPr>
              <a:t>		}	 </a:t>
            </a:r>
          </a:p>
          <a:p>
            <a:pPr lvl="1">
              <a:lnSpc>
                <a:spcPct val="70000"/>
              </a:lnSpc>
              <a:buFontTx/>
              <a:buNone/>
            </a:pPr>
            <a:r>
              <a:rPr lang="en-US" altLang="en-US" b="1" dirty="0">
                <a:latin typeface="Courier New" panose="02070309020205020404" pitchFamily="49" charset="0"/>
                <a:cs typeface="Courier New" panose="02070309020205020404" pitchFamily="49" charset="0"/>
              </a:rPr>
              <a:t>		public</a:t>
            </a:r>
            <a:r>
              <a:rPr lang="en-US" altLang="en-US" dirty="0">
                <a:latin typeface="Courier New" panose="02070309020205020404" pitchFamily="49" charset="0"/>
                <a:cs typeface="Courier New" panose="02070309020205020404" pitchFamily="49" charset="0"/>
              </a:rPr>
              <a:t> </a:t>
            </a:r>
            <a:r>
              <a:rPr lang="en-US" altLang="en-US" b="1" dirty="0">
                <a:latin typeface="Courier New" panose="02070309020205020404" pitchFamily="49" charset="0"/>
                <a:cs typeface="Courier New" panose="02070309020205020404" pitchFamily="49" charset="0"/>
              </a:rPr>
              <a:t>void</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postorder</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TreeNode</a:t>
            </a:r>
            <a:r>
              <a:rPr lang="en-US" altLang="en-US" dirty="0">
                <a:latin typeface="Courier New" panose="02070309020205020404" pitchFamily="49" charset="0"/>
                <a:cs typeface="Courier New" panose="02070309020205020404" pitchFamily="49" charset="0"/>
              </a:rPr>
              <a:t> p ) {</a:t>
            </a:r>
          </a:p>
          <a:p>
            <a:pPr lvl="2">
              <a:lnSpc>
                <a:spcPct val="70000"/>
              </a:lnSpc>
              <a:buFontTx/>
              <a:buNone/>
            </a:pPr>
            <a:r>
              <a:rPr lang="en-US" altLang="en-US" sz="2400" dirty="0">
                <a:latin typeface="Courier New" panose="02070309020205020404" pitchFamily="49" charset="0"/>
                <a:cs typeface="Courier New" panose="02070309020205020404" pitchFamily="49" charset="0"/>
              </a:rPr>
              <a:t>	 if( p != </a:t>
            </a:r>
            <a:r>
              <a:rPr lang="en-US" altLang="en-US" sz="2400" b="1" dirty="0">
                <a:latin typeface="Courier New" panose="02070309020205020404" pitchFamily="49" charset="0"/>
                <a:cs typeface="Courier New" panose="02070309020205020404" pitchFamily="49" charset="0"/>
              </a:rPr>
              <a:t>null </a:t>
            </a:r>
            <a:r>
              <a:rPr lang="en-US" altLang="en-US" sz="2400" dirty="0">
                <a:latin typeface="Courier New" panose="02070309020205020404" pitchFamily="49" charset="0"/>
                <a:cs typeface="Courier New" panose="02070309020205020404" pitchFamily="49" charset="0"/>
              </a:rPr>
              <a:t>) {</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postorder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p.getLeft</a:t>
            </a:r>
            <a:r>
              <a:rPr lang="en-US" altLang="en-US" sz="2400" dirty="0">
                <a:latin typeface="Courier New" panose="02070309020205020404" pitchFamily="49" charset="0"/>
                <a:cs typeface="Courier New" panose="02070309020205020404" pitchFamily="49" charset="0"/>
              </a:rPr>
              <a:t>() ); 	//L</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postorder</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p.getRight</a:t>
            </a:r>
            <a:r>
              <a:rPr lang="en-US" altLang="en-US" sz="2400" dirty="0">
                <a:latin typeface="Courier New" panose="02070309020205020404" pitchFamily="49" charset="0"/>
                <a:cs typeface="Courier New" panose="02070309020205020404" pitchFamily="49" charset="0"/>
              </a:rPr>
              <a:t>() ); 	//R</a:t>
            </a:r>
          </a:p>
          <a:p>
            <a:pPr lvl="2">
              <a:lnSpc>
                <a:spcPct val="7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p.visit</a:t>
            </a:r>
            <a:r>
              <a:rPr lang="en-US" altLang="en-US" sz="2400" dirty="0">
                <a:latin typeface="Courier New" panose="02070309020205020404" pitchFamily="49" charset="0"/>
                <a:cs typeface="Courier New" panose="02070309020205020404" pitchFamily="49" charset="0"/>
              </a:rPr>
              <a:t>(); } 			//V</a:t>
            </a:r>
          </a:p>
          <a:p>
            <a:pPr lvl="1">
              <a:lnSpc>
                <a:spcPct val="70000"/>
              </a:lnSpc>
              <a:buFontTx/>
              <a:buNone/>
            </a:pPr>
            <a:r>
              <a:rPr lang="en-US" altLang="en-US" dirty="0">
                <a:latin typeface="Courier New" panose="02070309020205020404" pitchFamily="49" charset="0"/>
                <a:cs typeface="Courier New" panose="02070309020205020404" pitchFamily="49" charset="0"/>
              </a:rPr>
              <a:t>		}</a:t>
            </a:r>
            <a:endParaRPr lang="en-CA" dirty="0"/>
          </a:p>
        </p:txBody>
      </p:sp>
    </p:spTree>
    <p:extLst>
      <p:ext uri="{BB962C8B-B14F-4D97-AF65-F5344CB8AC3E}">
        <p14:creationId xmlns:p14="http://schemas.microsoft.com/office/powerpoint/2010/main" val="3777389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ECE6D-B598-4A7B-B2F4-128CBE7122FF}"/>
              </a:ext>
            </a:extLst>
          </p:cNvPr>
          <p:cNvSpPr>
            <a:spLocks noGrp="1"/>
          </p:cNvSpPr>
          <p:nvPr>
            <p:ph type="title"/>
          </p:nvPr>
        </p:nvSpPr>
        <p:spPr/>
        <p:txBody>
          <a:bodyPr/>
          <a:lstStyle/>
          <a:p>
            <a:r>
              <a:rPr lang="en-US" altLang="en-US" dirty="0"/>
              <a:t>Non-Recursive Implementations</a:t>
            </a:r>
            <a:endParaRPr lang="en-CA" dirty="0"/>
          </a:p>
        </p:txBody>
      </p:sp>
      <p:sp>
        <p:nvSpPr>
          <p:cNvPr id="3" name="Content Placeholder 2">
            <a:extLst>
              <a:ext uri="{FF2B5EF4-FFF2-40B4-BE49-F238E27FC236}">
                <a16:creationId xmlns:a16="http://schemas.microsoft.com/office/drawing/2014/main" id="{987B03B4-EB42-44C1-9C82-17ECD6C27A40}"/>
              </a:ext>
            </a:extLst>
          </p:cNvPr>
          <p:cNvSpPr>
            <a:spLocks noGrp="1"/>
          </p:cNvSpPr>
          <p:nvPr>
            <p:ph idx="1"/>
          </p:nvPr>
        </p:nvSpPr>
        <p:spPr/>
        <p:txBody>
          <a:bodyPr/>
          <a:lstStyle/>
          <a:p>
            <a:r>
              <a:rPr lang="en-US" dirty="0"/>
              <a:t>Using stacks!</a:t>
            </a:r>
          </a:p>
          <a:p>
            <a:pPr lvl="1"/>
            <a:endParaRPr lang="en-US" dirty="0"/>
          </a:p>
          <a:p>
            <a:r>
              <a:rPr lang="en-US" dirty="0">
                <a:effectLst/>
                <a:latin typeface="Verdana" panose="020B0604030504040204" pitchFamily="34" charset="0"/>
                <a:ea typeface="Verdana" panose="020B0604030504040204" pitchFamily="34" charset="0"/>
                <a:cs typeface="Times New Roman" panose="02020603050405020304" pitchFamily="18" charset="0"/>
              </a:rPr>
              <a:t>Pseudocode for preorder:</a:t>
            </a: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Push(v)</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latin typeface="Verdana" panose="020B0604030504040204" pitchFamily="34" charset="0"/>
                <a:ea typeface="Verdana" panose="020B0604030504040204" pitchFamily="34" charset="0"/>
                <a:cs typeface="Times New Roman" panose="02020603050405020304" pitchFamily="18" charset="0"/>
              </a:rPr>
              <a:t>W</a:t>
            </a:r>
            <a:r>
              <a:rPr lang="en-US" sz="2400" dirty="0">
                <a:effectLst/>
                <a:latin typeface="Verdana" panose="020B0604030504040204" pitchFamily="34" charset="0"/>
                <a:ea typeface="Verdana" panose="020B0604030504040204" pitchFamily="34" charset="0"/>
                <a:cs typeface="Times New Roman" panose="02020603050405020304" pitchFamily="18" charset="0"/>
              </a:rPr>
              <a:t>hile (stack != empty)</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Pop() //visited</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Push(right)</a:t>
            </a:r>
            <a:endParaRPr lang="en-CA" sz="2400" dirty="0">
              <a:effectLst/>
              <a:latin typeface="Verdana" panose="020B0604030504040204" pitchFamily="34" charset="0"/>
              <a:ea typeface="Verdana" panose="020B0604030504040204" pitchFamily="34" charset="0"/>
              <a:cs typeface="Times New Roman" panose="02020603050405020304" pitchFamily="18" charset="0"/>
            </a:endParaRPr>
          </a:p>
          <a:p>
            <a:pPr marL="0" indent="0">
              <a:lnSpc>
                <a:spcPct val="107000"/>
              </a:lnSpc>
              <a:spcBef>
                <a:spcPts val="0"/>
              </a:spcBef>
              <a:buNone/>
            </a:pPr>
            <a:r>
              <a:rPr lang="en-US" sz="2400" dirty="0">
                <a:effectLst/>
                <a:latin typeface="Verdana" panose="020B0604030504040204" pitchFamily="34" charset="0"/>
                <a:ea typeface="Verdana" panose="020B0604030504040204" pitchFamily="34" charset="0"/>
                <a:cs typeface="Times New Roman" panose="02020603050405020304" pitchFamily="18" charset="0"/>
              </a:rPr>
              <a:t>	Push(left)</a:t>
            </a:r>
          </a:p>
          <a:p>
            <a:pPr marL="0" indent="0">
              <a:lnSpc>
                <a:spcPct val="107000"/>
              </a:lnSpc>
              <a:spcBef>
                <a:spcPts val="0"/>
              </a:spcBef>
              <a:buNone/>
            </a:pPr>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spcBef>
                <a:spcPts val="0"/>
              </a:spcBef>
            </a:pPr>
            <a:r>
              <a:rPr lang="en-US" dirty="0">
                <a:effectLst/>
                <a:latin typeface="Verdana" panose="020B0604030504040204" pitchFamily="34" charset="0"/>
                <a:ea typeface="Verdana" panose="020B0604030504040204" pitchFamily="34" charset="0"/>
                <a:cs typeface="Times New Roman" panose="02020603050405020304" pitchFamily="18" charset="0"/>
              </a:rPr>
              <a:t>Order: </a:t>
            </a:r>
            <a:r>
              <a:rPr lang="en-US" altLang="en-US" dirty="0">
                <a:cs typeface="Times New Roman" panose="02020603050405020304" pitchFamily="18" charset="0"/>
              </a:rPr>
              <a:t>8 3 1 6 4 7 10 14 13</a:t>
            </a:r>
            <a:endParaRPr lang="en-CA" dirty="0">
              <a:effectLst/>
              <a:latin typeface="Verdana" panose="020B0604030504040204" pitchFamily="34" charset="0"/>
              <a:ea typeface="Verdana" panose="020B0604030504040204" pitchFamily="34" charset="0"/>
              <a:cs typeface="Times New Roman" panose="02020603050405020304" pitchFamily="18" charset="0"/>
            </a:endParaRPr>
          </a:p>
          <a:p>
            <a:endParaRPr lang="en-CA" dirty="0"/>
          </a:p>
        </p:txBody>
      </p:sp>
      <p:pic>
        <p:nvPicPr>
          <p:cNvPr id="4" name="Picture 3">
            <a:extLst>
              <a:ext uri="{FF2B5EF4-FFF2-40B4-BE49-F238E27FC236}">
                <a16:creationId xmlns:a16="http://schemas.microsoft.com/office/drawing/2014/main" id="{FAE58D53-EB13-4354-8916-8E188F4043C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623561" y="1825625"/>
            <a:ext cx="4297680" cy="3624580"/>
          </a:xfrm>
          <a:prstGeom prst="rect">
            <a:avLst/>
          </a:prstGeom>
          <a:noFill/>
          <a:ln>
            <a:noFill/>
          </a:ln>
        </p:spPr>
      </p:pic>
    </p:spTree>
    <p:extLst>
      <p:ext uri="{BB962C8B-B14F-4D97-AF65-F5344CB8AC3E}">
        <p14:creationId xmlns:p14="http://schemas.microsoft.com/office/powerpoint/2010/main" val="2017337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58474-CD4C-442D-B4DE-B10E3B8056B6}"/>
              </a:ext>
            </a:extLst>
          </p:cNvPr>
          <p:cNvSpPr>
            <a:spLocks noGrp="1"/>
          </p:cNvSpPr>
          <p:nvPr>
            <p:ph type="title"/>
          </p:nvPr>
        </p:nvSpPr>
        <p:spPr/>
        <p:txBody>
          <a:bodyPr/>
          <a:lstStyle/>
          <a:p>
            <a:r>
              <a:rPr lang="en-US" dirty="0"/>
              <a:t>Stack Implementation</a:t>
            </a:r>
            <a:endParaRPr lang="en-CA" dirty="0"/>
          </a:p>
        </p:txBody>
      </p:sp>
      <p:sp>
        <p:nvSpPr>
          <p:cNvPr id="3" name="Content Placeholder 2">
            <a:extLst>
              <a:ext uri="{FF2B5EF4-FFF2-40B4-BE49-F238E27FC236}">
                <a16:creationId xmlns:a16="http://schemas.microsoft.com/office/drawing/2014/main" id="{ECA1D999-4E1C-477F-8542-E6284ADB943E}"/>
              </a:ext>
            </a:extLst>
          </p:cNvPr>
          <p:cNvSpPr>
            <a:spLocks noGrp="1"/>
          </p:cNvSpPr>
          <p:nvPr>
            <p:ph idx="1"/>
          </p:nvPr>
        </p:nvSpPr>
        <p:spPr/>
        <p:txBody>
          <a:bodyPr>
            <a:noAutofit/>
          </a:bodyPr>
          <a:lstStyle/>
          <a:p>
            <a:pPr marL="457200" lvl="1" indent="0">
              <a:lnSpc>
                <a:spcPct val="70000"/>
              </a:lnSpc>
              <a:buNone/>
            </a:pPr>
            <a:r>
              <a:rPr lang="en-US" altLang="en-US" sz="2200" b="1" dirty="0">
                <a:latin typeface="Courier New" panose="02070309020205020404" pitchFamily="49" charset="0"/>
                <a:cs typeface="Courier New" panose="02070309020205020404" pitchFamily="49" charset="0"/>
              </a:rPr>
              <a:t>public</a:t>
            </a: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void</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iterativePreorder</a:t>
            </a: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p = root;</a:t>
            </a:r>
          </a:p>
          <a:p>
            <a:pPr lvl="2">
              <a:lnSpc>
                <a:spcPct val="70000"/>
              </a:lnSpc>
              <a:buFontTx/>
              <a:buNone/>
            </a:pPr>
            <a:r>
              <a:rPr lang="en-US" altLang="en-US" sz="2200" dirty="0">
                <a:latin typeface="Courier New" panose="02070309020205020404" pitchFamily="49" charset="0"/>
                <a:cs typeface="Courier New" panose="02070309020205020404" pitchFamily="49" charset="0"/>
              </a:rPr>
              <a:t>Stack </a:t>
            </a:r>
            <a:r>
              <a:rPr lang="en-US" altLang="en-US" sz="2200" dirty="0" err="1">
                <a:latin typeface="Courier New" panose="02070309020205020404" pitchFamily="49" charset="0"/>
                <a:cs typeface="Courier New" panose="02070309020205020404" pitchFamily="49" charset="0"/>
              </a:rPr>
              <a:t>travStack</a:t>
            </a:r>
            <a:r>
              <a:rPr lang="en-US" altLang="en-US" sz="2200" dirty="0">
                <a:latin typeface="Courier New" panose="02070309020205020404" pitchFamily="49" charset="0"/>
                <a:cs typeface="Courier New" panose="02070309020205020404" pitchFamily="49" charset="0"/>
              </a:rPr>
              <a:t> = </a:t>
            </a:r>
            <a:r>
              <a:rPr lang="en-US" altLang="en-US" sz="2200" b="1" dirty="0">
                <a:latin typeface="Courier New" panose="02070309020205020404" pitchFamily="49" charset="0"/>
                <a:cs typeface="Courier New" panose="02070309020205020404" pitchFamily="49" charset="0"/>
              </a:rPr>
              <a:t>new</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SLLStack</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p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p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while</a:t>
            </a: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travStack.isEmpty</a:t>
            </a:r>
            <a:r>
              <a:rPr lang="en-US" altLang="en-US" sz="2200" dirty="0">
                <a:latin typeface="Courier New" panose="02070309020205020404" pitchFamily="49" charset="0"/>
                <a:cs typeface="Courier New" panose="02070309020205020404" pitchFamily="49" charset="0"/>
              </a:rPr>
              <a:t>() ) {</a:t>
            </a:r>
          </a:p>
          <a:p>
            <a:pPr lvl="2">
              <a:lnSpc>
                <a:spcPct val="70000"/>
              </a:lnSpc>
              <a:buFontTx/>
              <a:buNone/>
            </a:pPr>
            <a:r>
              <a:rPr lang="en-US" altLang="en-US" sz="2200" dirty="0">
                <a:latin typeface="Courier New" panose="02070309020205020404" pitchFamily="49" charset="0"/>
                <a:cs typeface="Courier New" panose="02070309020205020404" pitchFamily="49" charset="0"/>
              </a:rPr>
              <a:t>		p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a:t>
            </a:r>
            <a:r>
              <a:rPr lang="en-US" altLang="en-US" sz="2200" dirty="0" err="1">
                <a:latin typeface="Courier New" panose="02070309020205020404" pitchFamily="49" charset="0"/>
                <a:cs typeface="Courier New" panose="02070309020205020404" pitchFamily="49" charset="0"/>
              </a:rPr>
              <a:t>travStack.pop</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p.visit</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t = </a:t>
            </a:r>
            <a:r>
              <a:rPr lang="en-US" altLang="en-US" sz="2200" dirty="0" err="1">
                <a:latin typeface="Courier New" panose="02070309020205020404" pitchFamily="49" charset="0"/>
                <a:cs typeface="Courier New" panose="02070309020205020404" pitchFamily="49" charset="0"/>
              </a:rPr>
              <a:t>p.getRight</a:t>
            </a:r>
            <a:r>
              <a:rPr lang="en-US" altLang="en-US" sz="2200" dirty="0">
                <a:latin typeface="Courier New" panose="02070309020205020404" pitchFamily="49" charset="0"/>
                <a:cs typeface="Courier New" panose="02070309020205020404" pitchFamily="49" charset="0"/>
              </a:rPr>
              <a:t>() )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b="1" dirty="0">
                <a:latin typeface="Courier New" panose="02070309020205020404" pitchFamily="49" charset="0"/>
                <a:cs typeface="Courier New" panose="02070309020205020404" pitchFamily="49" charset="0"/>
              </a:rPr>
              <a:t>if</a:t>
            </a:r>
            <a:r>
              <a:rPr lang="en-US" altLang="en-US" sz="2200" dirty="0">
                <a:latin typeface="Courier New" panose="02070309020205020404" pitchFamily="49" charset="0"/>
                <a:cs typeface="Courier New" panose="02070309020205020404" pitchFamily="49" charset="0"/>
              </a:rPr>
              <a:t>( ( </a:t>
            </a:r>
            <a:r>
              <a:rPr lang="en-US" altLang="en-US" sz="2200" dirty="0" err="1">
                <a:latin typeface="Courier New" panose="02070309020205020404" pitchFamily="49" charset="0"/>
                <a:cs typeface="Courier New" panose="02070309020205020404" pitchFamily="49" charset="0"/>
              </a:rPr>
              <a:t>TreeNode</a:t>
            </a:r>
            <a:r>
              <a:rPr lang="en-US" altLang="en-US" sz="2200" dirty="0">
                <a:latin typeface="Courier New" panose="02070309020205020404" pitchFamily="49" charset="0"/>
                <a:cs typeface="Courier New" panose="02070309020205020404" pitchFamily="49" charset="0"/>
              </a:rPr>
              <a:t> t = </a:t>
            </a:r>
            <a:r>
              <a:rPr lang="en-US" altLang="en-US" sz="2200" dirty="0" err="1">
                <a:latin typeface="Courier New" panose="02070309020205020404" pitchFamily="49" charset="0"/>
                <a:cs typeface="Courier New" panose="02070309020205020404" pitchFamily="49" charset="0"/>
              </a:rPr>
              <a:t>p.getLeft</a:t>
            </a:r>
            <a:r>
              <a:rPr lang="en-US" altLang="en-US" sz="2200" dirty="0">
                <a:latin typeface="Courier New" panose="02070309020205020404" pitchFamily="49" charset="0"/>
                <a:cs typeface="Courier New" panose="02070309020205020404" pitchFamily="49" charset="0"/>
              </a:rPr>
              <a:t>() ) != </a:t>
            </a:r>
            <a:r>
              <a:rPr lang="en-US" altLang="en-US" sz="2200" b="1" dirty="0">
                <a:latin typeface="Courier New" panose="02070309020205020404" pitchFamily="49" charset="0"/>
                <a:cs typeface="Courier New" panose="02070309020205020404" pitchFamily="49" charset="0"/>
              </a:rPr>
              <a:t>null </a:t>
            </a:r>
            <a:r>
              <a:rPr lang="en-US" altLang="en-US" sz="2200" dirty="0">
                <a:latin typeface="Courier New" panose="02070309020205020404" pitchFamily="49" charset="0"/>
                <a:cs typeface="Courier New" panose="02070309020205020404" pitchFamily="49" charset="0"/>
              </a:rPr>
              <a:t>)</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r>
              <a:rPr lang="en-US" altLang="en-US" sz="2200" dirty="0" err="1">
                <a:latin typeface="Courier New" panose="02070309020205020404" pitchFamily="49" charset="0"/>
                <a:cs typeface="Courier New" panose="02070309020205020404" pitchFamily="49" charset="0"/>
              </a:rPr>
              <a:t>travStack.push</a:t>
            </a:r>
            <a:r>
              <a:rPr lang="en-US" altLang="en-US" sz="2200" dirty="0">
                <a:latin typeface="Courier New" panose="02070309020205020404" pitchFamily="49" charset="0"/>
                <a:cs typeface="Courier New" panose="02070309020205020404" pitchFamily="49" charset="0"/>
              </a:rPr>
              <a:t>( 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p>
          <a:p>
            <a:pPr lvl="2">
              <a:lnSpc>
                <a:spcPct val="70000"/>
              </a:lnSpc>
              <a:buFontTx/>
              <a:buNone/>
            </a:pPr>
            <a:r>
              <a:rPr lang="en-US" altLang="en-US" sz="2200" dirty="0">
                <a:latin typeface="Courier New" panose="02070309020205020404" pitchFamily="49" charset="0"/>
                <a:cs typeface="Courier New" panose="02070309020205020404" pitchFamily="49" charset="0"/>
              </a:rPr>
              <a:t>} </a:t>
            </a:r>
          </a:p>
          <a:p>
            <a:pPr lvl="1">
              <a:lnSpc>
                <a:spcPct val="70000"/>
              </a:lnSpc>
              <a:buFontTx/>
              <a:buNone/>
            </a:pPr>
            <a:r>
              <a:rPr lang="en-US" altLang="en-US" sz="2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490954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2FAF1-9FFC-4B4E-9B40-492184B08943}"/>
              </a:ext>
            </a:extLst>
          </p:cNvPr>
          <p:cNvSpPr>
            <a:spLocks noGrp="1"/>
          </p:cNvSpPr>
          <p:nvPr>
            <p:ph type="title"/>
          </p:nvPr>
        </p:nvSpPr>
        <p:spPr/>
        <p:txBody>
          <a:bodyPr/>
          <a:lstStyle/>
          <a:p>
            <a:r>
              <a:rPr lang="en-US" dirty="0"/>
              <a:t>BST Operations</a:t>
            </a:r>
            <a:endParaRPr lang="en-CA" dirty="0"/>
          </a:p>
        </p:txBody>
      </p:sp>
      <p:sp>
        <p:nvSpPr>
          <p:cNvPr id="3" name="Content Placeholder 2">
            <a:extLst>
              <a:ext uri="{FF2B5EF4-FFF2-40B4-BE49-F238E27FC236}">
                <a16:creationId xmlns:a16="http://schemas.microsoft.com/office/drawing/2014/main" id="{C5138DF1-4A73-4F86-A8D9-BD72AA56DF3B}"/>
              </a:ext>
            </a:extLst>
          </p:cNvPr>
          <p:cNvSpPr>
            <a:spLocks noGrp="1"/>
          </p:cNvSpPr>
          <p:nvPr>
            <p:ph idx="1"/>
          </p:nvPr>
        </p:nvSpPr>
        <p:spPr/>
        <p:txBody>
          <a:bodyPr/>
          <a:lstStyle/>
          <a:p>
            <a:r>
              <a:rPr lang="en-US" dirty="0"/>
              <a:t>BSTs are used to store and retrieve data, so we must have the ability to add, remove and find elements!</a:t>
            </a:r>
          </a:p>
          <a:p>
            <a:pPr lvl="1"/>
            <a:endParaRPr lang="en-US" dirty="0"/>
          </a:p>
          <a:p>
            <a:r>
              <a:rPr lang="en-US" dirty="0"/>
              <a:t>Searching: Find a given target value in a BST</a:t>
            </a:r>
          </a:p>
          <a:p>
            <a:pPr marL="914400" lvl="1" indent="-457200">
              <a:buFont typeface="+mj-lt"/>
              <a:buAutoNum type="arabicPeriod"/>
            </a:pPr>
            <a:r>
              <a:rPr lang="en-US" dirty="0"/>
              <a:t>Compare target value with the element in the root node</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equal</a:t>
            </a:r>
            <a:r>
              <a:rPr lang="en-US" altLang="en-US" dirty="0">
                <a:cs typeface="Times New Roman" panose="02020603050405020304" pitchFamily="18" charset="0"/>
              </a:rPr>
              <a:t>, the search is successful</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less</a:t>
            </a:r>
            <a:r>
              <a:rPr lang="en-US" altLang="en-US" dirty="0">
                <a:cs typeface="Times New Roman" panose="02020603050405020304" pitchFamily="18" charset="0"/>
              </a:rPr>
              <a:t>, search the left subtree</a:t>
            </a:r>
          </a:p>
          <a:p>
            <a:pPr marL="914400" lvl="1" indent="-457200">
              <a:buFont typeface="+mj-lt"/>
              <a:buAutoNum type="arabicPeriod"/>
            </a:pPr>
            <a:r>
              <a:rPr lang="en-US" altLang="en-US" dirty="0">
                <a:cs typeface="Times New Roman" panose="02020603050405020304" pitchFamily="18" charset="0"/>
              </a:rPr>
              <a:t>If it is </a:t>
            </a:r>
            <a:r>
              <a:rPr lang="en-US" altLang="en-US" b="1" dirty="0">
                <a:cs typeface="Times New Roman" panose="02020603050405020304" pitchFamily="18" charset="0"/>
              </a:rPr>
              <a:t>greater</a:t>
            </a:r>
            <a:r>
              <a:rPr lang="en-US" altLang="en-US" dirty="0">
                <a:cs typeface="Times New Roman" panose="02020603050405020304" pitchFamily="18" charset="0"/>
              </a:rPr>
              <a:t>, search the right subtree</a:t>
            </a:r>
          </a:p>
          <a:p>
            <a:pPr marL="914400" lvl="1" indent="-457200">
              <a:buFont typeface="+mj-lt"/>
              <a:buAutoNum type="arabicPeriod"/>
            </a:pPr>
            <a:r>
              <a:rPr lang="en-US" altLang="en-US" dirty="0">
                <a:cs typeface="Times New Roman" panose="02020603050405020304" pitchFamily="18" charset="0"/>
              </a:rPr>
              <a:t>If the subtree is </a:t>
            </a:r>
            <a:r>
              <a:rPr lang="en-US" altLang="en-US" b="1" dirty="0">
                <a:cs typeface="Times New Roman" panose="02020603050405020304" pitchFamily="18" charset="0"/>
              </a:rPr>
              <a:t>empty</a:t>
            </a:r>
            <a:r>
              <a:rPr lang="en-US" altLang="en-US" dirty="0">
                <a:cs typeface="Times New Roman" panose="02020603050405020304" pitchFamily="18" charset="0"/>
              </a:rPr>
              <a:t>, the search is unsuccessful</a:t>
            </a:r>
          </a:p>
        </p:txBody>
      </p:sp>
    </p:spTree>
    <p:extLst>
      <p:ext uri="{BB962C8B-B14F-4D97-AF65-F5344CB8AC3E}">
        <p14:creationId xmlns:p14="http://schemas.microsoft.com/office/powerpoint/2010/main" val="13507875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52A28-7BC1-4223-94FB-C3B3D63B6C08}"/>
              </a:ext>
            </a:extLst>
          </p:cNvPr>
          <p:cNvSpPr>
            <a:spLocks noGrp="1"/>
          </p:cNvSpPr>
          <p:nvPr>
            <p:ph type="title"/>
          </p:nvPr>
        </p:nvSpPr>
        <p:spPr/>
        <p:txBody>
          <a:bodyPr/>
          <a:lstStyle/>
          <a:p>
            <a:r>
              <a:rPr lang="en-US" dirty="0"/>
              <a:t>BST Search Example</a:t>
            </a:r>
            <a:endParaRPr lang="en-CA" dirty="0"/>
          </a:p>
        </p:txBody>
      </p:sp>
      <p:sp>
        <p:nvSpPr>
          <p:cNvPr id="3" name="Content Placeholder 2">
            <a:extLst>
              <a:ext uri="{FF2B5EF4-FFF2-40B4-BE49-F238E27FC236}">
                <a16:creationId xmlns:a16="http://schemas.microsoft.com/office/drawing/2014/main" id="{15ABDD34-D209-4ECB-9902-295474DB27F2}"/>
              </a:ext>
            </a:extLst>
          </p:cNvPr>
          <p:cNvSpPr>
            <a:spLocks noGrp="1"/>
          </p:cNvSpPr>
          <p:nvPr>
            <p:ph idx="1"/>
          </p:nvPr>
        </p:nvSpPr>
        <p:spPr/>
        <p:txBody>
          <a:bodyPr>
            <a:normAutofit fontScale="92500" lnSpcReduction="10000"/>
          </a:bodyPr>
          <a:lstStyle/>
          <a:p>
            <a:r>
              <a:rPr lang="en-US" dirty="0"/>
              <a:t>Find 7</a:t>
            </a:r>
          </a:p>
          <a:p>
            <a:pPr lvl="1"/>
            <a:r>
              <a:rPr lang="en-US" dirty="0"/>
              <a:t>Start with root node 8</a:t>
            </a:r>
          </a:p>
          <a:p>
            <a:pPr lvl="1"/>
            <a:r>
              <a:rPr lang="en-US" dirty="0"/>
              <a:t>Go left to node 3</a:t>
            </a:r>
          </a:p>
          <a:p>
            <a:pPr lvl="1"/>
            <a:r>
              <a:rPr lang="en-US" dirty="0"/>
              <a:t>Go right to node 6</a:t>
            </a:r>
          </a:p>
          <a:p>
            <a:pPr lvl="1"/>
            <a:r>
              <a:rPr lang="en-US" dirty="0"/>
              <a:t>Go right, found 7</a:t>
            </a:r>
          </a:p>
          <a:p>
            <a:pPr lvl="4"/>
            <a:endParaRPr lang="en-US" dirty="0"/>
          </a:p>
          <a:p>
            <a:r>
              <a:rPr lang="en-US" dirty="0"/>
              <a:t>Find 11</a:t>
            </a:r>
          </a:p>
          <a:p>
            <a:pPr lvl="1"/>
            <a:r>
              <a:rPr lang="en-US" dirty="0"/>
              <a:t>Start with root node 8</a:t>
            </a:r>
          </a:p>
          <a:p>
            <a:pPr lvl="1"/>
            <a:r>
              <a:rPr lang="en-US" dirty="0"/>
              <a:t>Go right to node 10</a:t>
            </a:r>
          </a:p>
          <a:p>
            <a:pPr lvl="1"/>
            <a:r>
              <a:rPr lang="en-US" dirty="0"/>
              <a:t>Go right to node 14</a:t>
            </a:r>
          </a:p>
          <a:p>
            <a:pPr lvl="1"/>
            <a:r>
              <a:rPr lang="en-US" dirty="0"/>
              <a:t>Go left to node 13</a:t>
            </a:r>
          </a:p>
          <a:p>
            <a:pPr lvl="1"/>
            <a:r>
              <a:rPr lang="en-US" dirty="0"/>
              <a:t>Empty, 11 not found</a:t>
            </a:r>
            <a:endParaRPr lang="en-CA" dirty="0"/>
          </a:p>
        </p:txBody>
      </p:sp>
      <p:pic>
        <p:nvPicPr>
          <p:cNvPr id="4" name="Picture 3">
            <a:extLst>
              <a:ext uri="{FF2B5EF4-FFF2-40B4-BE49-F238E27FC236}">
                <a16:creationId xmlns:a16="http://schemas.microsoft.com/office/drawing/2014/main" id="{6741E573-9B20-424B-ADC0-EB18AFC9726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68441" y="1825625"/>
            <a:ext cx="4297680" cy="3624580"/>
          </a:xfrm>
          <a:prstGeom prst="rect">
            <a:avLst/>
          </a:prstGeom>
          <a:noFill/>
          <a:ln>
            <a:noFill/>
          </a:ln>
        </p:spPr>
      </p:pic>
    </p:spTree>
    <p:extLst>
      <p:ext uri="{BB962C8B-B14F-4D97-AF65-F5344CB8AC3E}">
        <p14:creationId xmlns:p14="http://schemas.microsoft.com/office/powerpoint/2010/main" val="3332522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52DBC-23D4-4267-984A-9C5CB81D72D9}"/>
              </a:ext>
            </a:extLst>
          </p:cNvPr>
          <p:cNvSpPr>
            <a:spLocks noGrp="1"/>
          </p:cNvSpPr>
          <p:nvPr>
            <p:ph type="title"/>
          </p:nvPr>
        </p:nvSpPr>
        <p:spPr/>
        <p:txBody>
          <a:bodyPr/>
          <a:lstStyle/>
          <a:p>
            <a:r>
              <a:rPr lang="en-US" dirty="0"/>
              <a:t>BST Search Complexity</a:t>
            </a:r>
            <a:endParaRPr lang="en-CA" dirty="0"/>
          </a:p>
        </p:txBody>
      </p:sp>
      <p:sp>
        <p:nvSpPr>
          <p:cNvPr id="3" name="Content Placeholder 2">
            <a:extLst>
              <a:ext uri="{FF2B5EF4-FFF2-40B4-BE49-F238E27FC236}">
                <a16:creationId xmlns:a16="http://schemas.microsoft.com/office/drawing/2014/main" id="{DAA5EAF1-391A-4862-B1BD-83F751F52E92}"/>
              </a:ext>
            </a:extLst>
          </p:cNvPr>
          <p:cNvSpPr>
            <a:spLocks noGrp="1"/>
          </p:cNvSpPr>
          <p:nvPr>
            <p:ph idx="1"/>
          </p:nvPr>
        </p:nvSpPr>
        <p:spPr/>
        <p:txBody>
          <a:bodyPr>
            <a:normAutofit lnSpcReduction="10000"/>
          </a:bodyPr>
          <a:lstStyle/>
          <a:p>
            <a:pPr>
              <a:lnSpc>
                <a:spcPct val="80000"/>
              </a:lnSpc>
            </a:pPr>
            <a:r>
              <a:rPr lang="en-US" altLang="en-US" sz="2800" dirty="0">
                <a:cs typeface="Times New Roman" panose="02020603050405020304" pitchFamily="18" charset="0"/>
              </a:rPr>
              <a:t>Analysis (counting comparisons)</a:t>
            </a:r>
          </a:p>
          <a:p>
            <a:pPr lvl="1">
              <a:lnSpc>
                <a:spcPct val="80000"/>
              </a:lnSpc>
            </a:pPr>
            <a:r>
              <a:rPr lang="en-US" altLang="en-US" dirty="0">
                <a:cs typeface="Times New Roman" panose="02020603050405020304" pitchFamily="18" charset="0"/>
              </a:rPr>
              <a:t>Let the BST’s size be </a:t>
            </a:r>
            <a:r>
              <a:rPr lang="en-US" altLang="en-US" i="1" dirty="0">
                <a:cs typeface="Times New Roman" panose="02020603050405020304" pitchFamily="18" charset="0"/>
              </a:rPr>
              <a:t>n</a:t>
            </a:r>
          </a:p>
          <a:p>
            <a:pPr lvl="1">
              <a:lnSpc>
                <a:spcPct val="80000"/>
              </a:lnSpc>
            </a:pPr>
            <a:r>
              <a:rPr lang="en-US" altLang="en-US" dirty="0">
                <a:cs typeface="Times New Roman" panose="02020603050405020304" pitchFamily="18" charset="0"/>
              </a:rPr>
              <a:t>If the BST has height </a:t>
            </a:r>
            <a:r>
              <a:rPr lang="en-US" altLang="en-US" i="1" dirty="0">
                <a:cs typeface="Times New Roman" panose="02020603050405020304" pitchFamily="18" charset="0"/>
              </a:rPr>
              <a:t>h</a:t>
            </a:r>
            <a:r>
              <a:rPr lang="en-US" altLang="en-US" dirty="0">
                <a:cs typeface="Times New Roman" panose="02020603050405020304" pitchFamily="18" charset="0"/>
              </a:rPr>
              <a:t>, the number of comparisons is at most </a:t>
            </a:r>
            <a:r>
              <a:rPr lang="en-US" altLang="en-US" i="1" dirty="0">
                <a:cs typeface="Times New Roman" panose="02020603050405020304" pitchFamily="18" charset="0"/>
              </a:rPr>
              <a:t>h</a:t>
            </a:r>
            <a:r>
              <a:rPr lang="en-US" altLang="en-US" dirty="0">
                <a:cs typeface="Times New Roman" panose="02020603050405020304" pitchFamily="18" charset="0"/>
              </a:rPr>
              <a:t>+1</a:t>
            </a:r>
          </a:p>
          <a:p>
            <a:pPr lvl="1">
              <a:lnSpc>
                <a:spcPct val="80000"/>
              </a:lnSpc>
            </a:pPr>
            <a:endParaRPr lang="en-US" altLang="en-US"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balanced</a:t>
            </a:r>
            <a:r>
              <a:rPr lang="en-US" altLang="en-US" sz="2800" dirty="0">
                <a:cs typeface="Times New Roman" panose="02020603050405020304" pitchFamily="18" charset="0"/>
              </a:rPr>
              <a:t>, its height = floor(log</a:t>
            </a:r>
            <a:r>
              <a:rPr lang="en-US" altLang="en-US" sz="2800" baseline="-30000" dirty="0">
                <a:cs typeface="Times New Roman" panose="02020603050405020304" pitchFamily="18" charset="0"/>
              </a:rPr>
              <a:t>2</a:t>
            </a:r>
            <a:r>
              <a:rPr lang="en-US" altLang="en-US" sz="2800" dirty="0">
                <a:cs typeface="Times New Roman" panose="02020603050405020304" pitchFamily="18" charset="0"/>
              </a:rPr>
              <a:t> </a:t>
            </a:r>
            <a:r>
              <a:rPr lang="en-US" altLang="en-US" sz="2800" i="1" dirty="0">
                <a:cs typeface="Times New Roman" panose="02020603050405020304" pitchFamily="18" charset="0"/>
              </a:rPr>
              <a:t>n</a:t>
            </a:r>
            <a:r>
              <a:rPr lang="en-US" altLang="en-US" sz="2800" dirty="0">
                <a:cs typeface="Times New Roman" panose="02020603050405020304" pitchFamily="18" charset="0"/>
              </a:rPr>
              <a:t>)+1</a:t>
            </a:r>
          </a:p>
          <a:p>
            <a:pPr lvl="1">
              <a:lnSpc>
                <a:spcPct val="80000"/>
              </a:lnSpc>
            </a:pPr>
            <a:r>
              <a:rPr lang="en-US" altLang="en-US" dirty="0">
                <a:cs typeface="Times New Roman" panose="02020603050405020304" pitchFamily="18" charset="0"/>
              </a:rPr>
              <a:t>Maximum number of comparisons  =  floor(log</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i="1" dirty="0">
                <a:cs typeface="Times New Roman" panose="02020603050405020304" pitchFamily="18" charset="0"/>
              </a:rPr>
              <a:t>n</a:t>
            </a:r>
            <a:r>
              <a:rPr lang="en-US" altLang="en-US" dirty="0">
                <a:cs typeface="Times New Roman" panose="02020603050405020304" pitchFamily="18" charset="0"/>
              </a:rPr>
              <a:t>) + 2</a:t>
            </a:r>
          </a:p>
          <a:p>
            <a:pPr lvl="1">
              <a:lnSpc>
                <a:spcPct val="80000"/>
              </a:lnSpc>
            </a:pPr>
            <a:r>
              <a:rPr lang="en-US" altLang="en-US" dirty="0">
                <a:cs typeface="Times New Roman" panose="02020603050405020304" pitchFamily="18" charset="0"/>
              </a:rPr>
              <a:t>Best-case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(log </a:t>
            </a:r>
            <a:r>
              <a:rPr lang="en-US" altLang="en-US" i="1" dirty="0">
                <a:cs typeface="Times New Roman" panose="02020603050405020304" pitchFamily="18" charset="0"/>
              </a:rPr>
              <a:t>n</a:t>
            </a:r>
            <a:r>
              <a:rPr lang="en-US" altLang="en-US" dirty="0">
                <a:cs typeface="Times New Roman" panose="02020603050405020304" pitchFamily="18" charset="0"/>
              </a:rPr>
              <a:t>)</a:t>
            </a:r>
          </a:p>
          <a:p>
            <a:pPr lvl="1">
              <a:lnSpc>
                <a:spcPct val="80000"/>
              </a:lnSpc>
            </a:pPr>
            <a:endParaRPr lang="en-GB"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ill-balanced</a:t>
            </a:r>
            <a:r>
              <a:rPr lang="en-US" altLang="en-US" sz="2800" dirty="0">
                <a:cs typeface="Times New Roman" panose="02020603050405020304" pitchFamily="18" charset="0"/>
              </a:rPr>
              <a:t>, its height is at most </a:t>
            </a:r>
            <a:r>
              <a:rPr lang="en-US" altLang="en-US" sz="2800" i="1" dirty="0">
                <a:cs typeface="Times New Roman" panose="02020603050405020304" pitchFamily="18" charset="0"/>
              </a:rPr>
              <a:t>n</a:t>
            </a:r>
            <a:endParaRPr lang="en-US" altLang="en-US" i="1" dirty="0">
              <a:cs typeface="Times New Roman" panose="02020603050405020304" pitchFamily="18" charset="0"/>
            </a:endParaRPr>
          </a:p>
          <a:p>
            <a:pPr lvl="1">
              <a:lnSpc>
                <a:spcPct val="80000"/>
              </a:lnSpc>
            </a:pPr>
            <a:r>
              <a:rPr lang="en-US" altLang="en-US" dirty="0">
                <a:cs typeface="Times New Roman" panose="02020603050405020304" pitchFamily="18" charset="0"/>
              </a:rPr>
              <a:t>Maximum number of comparisons  =  </a:t>
            </a:r>
            <a:r>
              <a:rPr lang="en-US" altLang="en-US" i="1" dirty="0">
                <a:cs typeface="Times New Roman" panose="02020603050405020304" pitchFamily="18" charset="0"/>
              </a:rPr>
              <a:t>n+1</a:t>
            </a:r>
            <a:endParaRPr lang="en-US" altLang="en-US" sz="2800" i="1" dirty="0">
              <a:cs typeface="Times New Roman" panose="02020603050405020304" pitchFamily="18" charset="0"/>
            </a:endParaRPr>
          </a:p>
          <a:p>
            <a:pPr lvl="1">
              <a:lnSpc>
                <a:spcPct val="80000"/>
              </a:lnSpc>
            </a:pPr>
            <a:r>
              <a:rPr lang="en-US" altLang="en-US" sz="2400" dirty="0">
                <a:cs typeface="Times New Roman" panose="02020603050405020304" pitchFamily="18" charset="0"/>
              </a:rPr>
              <a:t>Worst-case time complexity is </a:t>
            </a:r>
            <a:r>
              <a:rPr lang="en-US" altLang="en-US" sz="2400" i="1" dirty="0">
                <a:cs typeface="Times New Roman" panose="02020603050405020304" pitchFamily="18" charset="0"/>
              </a:rPr>
              <a:t>O</a:t>
            </a:r>
            <a:r>
              <a:rPr lang="en-US" altLang="en-US" sz="2400" dirty="0">
                <a:cs typeface="Times New Roman" panose="02020603050405020304" pitchFamily="18" charset="0"/>
              </a:rPr>
              <a:t>(</a:t>
            </a:r>
            <a:r>
              <a:rPr lang="en-US" altLang="en-US" sz="2400" i="1" dirty="0">
                <a:cs typeface="Times New Roman" panose="02020603050405020304" pitchFamily="18" charset="0"/>
              </a:rPr>
              <a:t>n</a:t>
            </a:r>
            <a:r>
              <a:rPr lang="en-US" altLang="en-US" sz="2400" dirty="0">
                <a:cs typeface="Times New Roman" panose="02020603050405020304" pitchFamily="18" charset="0"/>
              </a:rPr>
              <a:t>)</a:t>
            </a:r>
            <a:endParaRPr lang="en-US" altLang="en-US" sz="2400" u="sng" dirty="0"/>
          </a:p>
        </p:txBody>
      </p:sp>
    </p:spTree>
    <p:extLst>
      <p:ext uri="{BB962C8B-B14F-4D97-AF65-F5344CB8AC3E}">
        <p14:creationId xmlns:p14="http://schemas.microsoft.com/office/powerpoint/2010/main" val="32022046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AE710-591E-41B6-B03B-CF29F9EEBA95}"/>
              </a:ext>
            </a:extLst>
          </p:cNvPr>
          <p:cNvSpPr>
            <a:spLocks noGrp="1"/>
          </p:cNvSpPr>
          <p:nvPr>
            <p:ph type="title"/>
          </p:nvPr>
        </p:nvSpPr>
        <p:spPr/>
        <p:txBody>
          <a:bodyPr/>
          <a:lstStyle/>
          <a:p>
            <a:r>
              <a:rPr lang="en-US" dirty="0"/>
              <a:t>BST Insertion</a:t>
            </a:r>
            <a:endParaRPr lang="en-CA" dirty="0"/>
          </a:p>
        </p:txBody>
      </p:sp>
      <p:sp>
        <p:nvSpPr>
          <p:cNvPr id="3" name="Content Placeholder 2">
            <a:extLst>
              <a:ext uri="{FF2B5EF4-FFF2-40B4-BE49-F238E27FC236}">
                <a16:creationId xmlns:a16="http://schemas.microsoft.com/office/drawing/2014/main" id="{9D821638-FB64-44C0-B4CB-9D7D3777A8B9}"/>
              </a:ext>
            </a:extLst>
          </p:cNvPr>
          <p:cNvSpPr>
            <a:spLocks noGrp="1"/>
          </p:cNvSpPr>
          <p:nvPr>
            <p:ph idx="1"/>
          </p:nvPr>
        </p:nvSpPr>
        <p:spPr>
          <a:xfrm>
            <a:off x="838200" y="1825625"/>
            <a:ext cx="5257800" cy="4351338"/>
          </a:xfrm>
        </p:spPr>
        <p:txBody>
          <a:bodyPr>
            <a:normAutofit/>
          </a:bodyPr>
          <a:lstStyle/>
          <a:p>
            <a:r>
              <a:rPr lang="en-US" altLang="en-US" dirty="0">
                <a:cs typeface="Times New Roman" panose="02020603050405020304" pitchFamily="18" charset="0"/>
              </a:rPr>
              <a:t>To insert a new element into a BST, proceed as if searching for that element</a:t>
            </a:r>
          </a:p>
          <a:p>
            <a:pPr lvl="1"/>
            <a:r>
              <a:rPr lang="en-US" altLang="en-US" dirty="0">
                <a:cs typeface="Times New Roman" panose="02020603050405020304" pitchFamily="18" charset="0"/>
              </a:rPr>
              <a:t>If the element is not already present, the search will lead to a </a:t>
            </a:r>
            <a:r>
              <a:rPr lang="en-US" altLang="en-US" b="1" dirty="0">
                <a:cs typeface="Times New Roman" panose="02020603050405020304" pitchFamily="18" charset="0"/>
              </a:rPr>
              <a:t>null</a:t>
            </a:r>
            <a:r>
              <a:rPr lang="en-US" altLang="en-US" dirty="0">
                <a:cs typeface="Times New Roman" panose="02020603050405020304" pitchFamily="18" charset="0"/>
              </a:rPr>
              <a:t> link</a:t>
            </a:r>
          </a:p>
          <a:p>
            <a:pPr lvl="1"/>
            <a:r>
              <a:rPr lang="en-US" altLang="en-US" dirty="0">
                <a:cs typeface="Times New Roman" panose="02020603050405020304" pitchFamily="18" charset="0"/>
              </a:rPr>
              <a:t>Replace that </a:t>
            </a:r>
            <a:r>
              <a:rPr lang="en-US" altLang="en-US" b="1" dirty="0">
                <a:cs typeface="Times New Roman" panose="02020603050405020304" pitchFamily="18" charset="0"/>
              </a:rPr>
              <a:t>null</a:t>
            </a:r>
            <a:r>
              <a:rPr lang="en-US" altLang="en-US" dirty="0">
                <a:cs typeface="Times New Roman" panose="02020603050405020304" pitchFamily="18" charset="0"/>
              </a:rPr>
              <a:t> link by a link to a leaf node containing the new element</a:t>
            </a:r>
          </a:p>
          <a:p>
            <a:pPr lvl="2"/>
            <a:endParaRPr lang="en-CA" dirty="0"/>
          </a:p>
          <a:p>
            <a:r>
              <a:rPr lang="en-CA" dirty="0"/>
              <a:t>Add 5 and 12</a:t>
            </a:r>
          </a:p>
        </p:txBody>
      </p:sp>
      <p:pic>
        <p:nvPicPr>
          <p:cNvPr id="5" name="Picture 4">
            <a:extLst>
              <a:ext uri="{FF2B5EF4-FFF2-40B4-BE49-F238E27FC236}">
                <a16:creationId xmlns:a16="http://schemas.microsoft.com/office/drawing/2014/main" id="{E16CDB62-65C3-4687-90A2-20905C35EF42}"/>
              </a:ext>
            </a:extLst>
          </p:cNvPr>
          <p:cNvPicPr/>
          <p:nvPr/>
        </p:nvPicPr>
        <p:blipFill>
          <a:blip r:embed="rId3"/>
          <a:stretch>
            <a:fillRect/>
          </a:stretch>
        </p:blipFill>
        <p:spPr>
          <a:xfrm>
            <a:off x="6233160" y="1920558"/>
            <a:ext cx="5867400" cy="4161472"/>
          </a:xfrm>
          <a:prstGeom prst="rect">
            <a:avLst/>
          </a:prstGeom>
        </p:spPr>
      </p:pic>
    </p:spTree>
    <p:extLst>
      <p:ext uri="{BB962C8B-B14F-4D97-AF65-F5344CB8AC3E}">
        <p14:creationId xmlns:p14="http://schemas.microsoft.com/office/powerpoint/2010/main" val="1075360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C0811-CEFE-413D-A807-B88C3CC9E887}"/>
              </a:ext>
            </a:extLst>
          </p:cNvPr>
          <p:cNvSpPr>
            <a:spLocks noGrp="1"/>
          </p:cNvSpPr>
          <p:nvPr>
            <p:ph type="title"/>
          </p:nvPr>
        </p:nvSpPr>
        <p:spPr/>
        <p:txBody>
          <a:bodyPr/>
          <a:lstStyle/>
          <a:p>
            <a:r>
              <a:rPr lang="en-US" dirty="0"/>
              <a:t>BST Insertion Complexity</a:t>
            </a:r>
            <a:endParaRPr lang="en-CA" dirty="0"/>
          </a:p>
        </p:txBody>
      </p:sp>
      <p:sp>
        <p:nvSpPr>
          <p:cNvPr id="3" name="Content Placeholder 2">
            <a:extLst>
              <a:ext uri="{FF2B5EF4-FFF2-40B4-BE49-F238E27FC236}">
                <a16:creationId xmlns:a16="http://schemas.microsoft.com/office/drawing/2014/main" id="{8A473364-D89E-45D7-8E6C-BB629642AF5F}"/>
              </a:ext>
            </a:extLst>
          </p:cNvPr>
          <p:cNvSpPr>
            <a:spLocks noGrp="1"/>
          </p:cNvSpPr>
          <p:nvPr>
            <p:ph idx="1"/>
          </p:nvPr>
        </p:nvSpPr>
        <p:spPr/>
        <p:txBody>
          <a:bodyPr/>
          <a:lstStyle/>
          <a:p>
            <a:pPr>
              <a:lnSpc>
                <a:spcPct val="80000"/>
              </a:lnSpc>
            </a:pPr>
            <a:r>
              <a:rPr lang="en-US" altLang="en-US" sz="2800" dirty="0">
                <a:cs typeface="Times New Roman" panose="02020603050405020304" pitchFamily="18" charset="0"/>
              </a:rPr>
              <a:t>Analysis (counting comparisons)</a:t>
            </a:r>
          </a:p>
          <a:p>
            <a:pPr lvl="1">
              <a:lnSpc>
                <a:spcPct val="80000"/>
              </a:lnSpc>
            </a:pPr>
            <a:r>
              <a:rPr lang="en-US" altLang="en-US" dirty="0">
                <a:cs typeface="Times New Roman" panose="02020603050405020304" pitchFamily="18" charset="0"/>
              </a:rPr>
              <a:t>Number of comparisons is the same as for BST search</a:t>
            </a:r>
            <a:endParaRPr lang="en-GB" altLang="en-US" sz="2800" dirty="0">
              <a:cs typeface="Times New Roman" panose="02020603050405020304" pitchFamily="18" charset="0"/>
            </a:endParaRPr>
          </a:p>
          <a:p>
            <a:pPr lvl="1">
              <a:lnSpc>
                <a:spcPct val="80000"/>
              </a:lnSpc>
            </a:pPr>
            <a:endParaRPr lang="en-US"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balanced</a:t>
            </a:r>
            <a:r>
              <a:rPr lang="en-US" altLang="en-US" sz="2800" dirty="0">
                <a:cs typeface="Times New Roman" panose="02020603050405020304" pitchFamily="18" charset="0"/>
              </a:rPr>
              <a:t> its height= floor(log</a:t>
            </a:r>
            <a:r>
              <a:rPr lang="en-US" altLang="en-US" sz="2800" baseline="-30000" dirty="0">
                <a:cs typeface="Times New Roman" panose="02020603050405020304" pitchFamily="18" charset="0"/>
              </a:rPr>
              <a:t>2</a:t>
            </a:r>
            <a:r>
              <a:rPr lang="en-US" altLang="en-US" sz="2800" dirty="0">
                <a:cs typeface="Times New Roman" panose="02020603050405020304" pitchFamily="18" charset="0"/>
              </a:rPr>
              <a:t> </a:t>
            </a:r>
            <a:r>
              <a:rPr lang="en-US" altLang="en-US" sz="2800" i="1" dirty="0">
                <a:cs typeface="Times New Roman" panose="02020603050405020304" pitchFamily="18" charset="0"/>
              </a:rPr>
              <a:t>n</a:t>
            </a:r>
            <a:r>
              <a:rPr lang="en-US" altLang="en-US" sz="2800" dirty="0">
                <a:cs typeface="Times New Roman" panose="02020603050405020304" pitchFamily="18" charset="0"/>
              </a:rPr>
              <a:t>)+1</a:t>
            </a:r>
          </a:p>
          <a:p>
            <a:pPr lvl="1">
              <a:lnSpc>
                <a:spcPct val="80000"/>
              </a:lnSpc>
            </a:pPr>
            <a:r>
              <a:rPr lang="en-US" altLang="en-US" dirty="0">
                <a:cs typeface="Times New Roman" panose="02020603050405020304" pitchFamily="18" charset="0"/>
              </a:rPr>
              <a:t>Maximum number of comparisons  =  floor(log</a:t>
            </a:r>
            <a:r>
              <a:rPr lang="en-US" altLang="en-US" baseline="-30000" dirty="0">
                <a:cs typeface="Times New Roman" panose="02020603050405020304" pitchFamily="18" charset="0"/>
              </a:rPr>
              <a:t>2</a:t>
            </a:r>
            <a:r>
              <a:rPr lang="en-US" altLang="en-US" dirty="0">
                <a:cs typeface="Times New Roman" panose="02020603050405020304" pitchFamily="18" charset="0"/>
              </a:rPr>
              <a:t> </a:t>
            </a:r>
            <a:r>
              <a:rPr lang="en-US" altLang="en-US" i="1" dirty="0">
                <a:cs typeface="Times New Roman" panose="02020603050405020304" pitchFamily="18" charset="0"/>
              </a:rPr>
              <a:t>n</a:t>
            </a:r>
            <a:r>
              <a:rPr lang="en-US" altLang="en-US" dirty="0">
                <a:cs typeface="Times New Roman" panose="02020603050405020304" pitchFamily="18" charset="0"/>
              </a:rPr>
              <a:t>) + 2</a:t>
            </a:r>
          </a:p>
          <a:p>
            <a:pPr lvl="1">
              <a:lnSpc>
                <a:spcPct val="80000"/>
              </a:lnSpc>
            </a:pPr>
            <a:r>
              <a:rPr lang="en-US" altLang="en-US" dirty="0">
                <a:cs typeface="Times New Roman" panose="02020603050405020304" pitchFamily="18" charset="0"/>
              </a:rPr>
              <a:t>Best-case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(log </a:t>
            </a:r>
            <a:r>
              <a:rPr lang="en-US" altLang="en-US" i="1" dirty="0">
                <a:cs typeface="Times New Roman" panose="02020603050405020304" pitchFamily="18" charset="0"/>
              </a:rPr>
              <a:t>n</a:t>
            </a:r>
            <a:r>
              <a:rPr lang="en-US" altLang="en-US" dirty="0">
                <a:cs typeface="Times New Roman" panose="02020603050405020304" pitchFamily="18" charset="0"/>
              </a:rPr>
              <a:t>)</a:t>
            </a:r>
          </a:p>
          <a:p>
            <a:pPr lvl="1">
              <a:lnSpc>
                <a:spcPct val="80000"/>
              </a:lnSpc>
            </a:pPr>
            <a:endParaRPr lang="en-GB" altLang="en-US" sz="2800" dirty="0">
              <a:cs typeface="Times New Roman" panose="02020603050405020304" pitchFamily="18" charset="0"/>
            </a:endParaRPr>
          </a:p>
          <a:p>
            <a:pPr>
              <a:lnSpc>
                <a:spcPct val="80000"/>
              </a:lnSpc>
            </a:pPr>
            <a:r>
              <a:rPr lang="en-US" altLang="en-US" sz="2800" dirty="0">
                <a:cs typeface="Times New Roman" panose="02020603050405020304" pitchFamily="18" charset="0"/>
              </a:rPr>
              <a:t>If the BST is </a:t>
            </a:r>
            <a:r>
              <a:rPr lang="en-US" altLang="en-US" sz="2800" b="1" dirty="0">
                <a:cs typeface="Times New Roman" panose="02020603050405020304" pitchFamily="18" charset="0"/>
              </a:rPr>
              <a:t>ill-balanced</a:t>
            </a:r>
            <a:r>
              <a:rPr lang="en-US" altLang="en-US" sz="2800" dirty="0">
                <a:cs typeface="Times New Roman" panose="02020603050405020304" pitchFamily="18" charset="0"/>
              </a:rPr>
              <a:t>, its height is at most </a:t>
            </a:r>
            <a:r>
              <a:rPr lang="en-US" altLang="en-US" sz="2800" i="1" dirty="0">
                <a:cs typeface="Times New Roman" panose="02020603050405020304" pitchFamily="18" charset="0"/>
              </a:rPr>
              <a:t>n</a:t>
            </a:r>
            <a:endParaRPr lang="en-US" altLang="en-US" i="1" dirty="0">
              <a:cs typeface="Times New Roman" panose="02020603050405020304" pitchFamily="18" charset="0"/>
            </a:endParaRPr>
          </a:p>
          <a:p>
            <a:pPr lvl="1">
              <a:lnSpc>
                <a:spcPct val="80000"/>
              </a:lnSpc>
            </a:pPr>
            <a:r>
              <a:rPr lang="en-US" altLang="en-US" dirty="0">
                <a:cs typeface="Times New Roman" panose="02020603050405020304" pitchFamily="18" charset="0"/>
              </a:rPr>
              <a:t>Maximum number of comparisons  =  </a:t>
            </a:r>
            <a:r>
              <a:rPr lang="en-US" altLang="en-US" i="1" dirty="0">
                <a:cs typeface="Times New Roman" panose="02020603050405020304" pitchFamily="18" charset="0"/>
              </a:rPr>
              <a:t>n+1</a:t>
            </a:r>
          </a:p>
          <a:p>
            <a:pPr lvl="1">
              <a:lnSpc>
                <a:spcPct val="80000"/>
              </a:lnSpc>
            </a:pPr>
            <a:r>
              <a:rPr lang="en-US" altLang="en-US" dirty="0">
                <a:cs typeface="Times New Roman" panose="02020603050405020304" pitchFamily="18" charset="0"/>
              </a:rPr>
              <a:t>Worst-case time complexity is </a:t>
            </a:r>
            <a:r>
              <a:rPr lang="en-US" altLang="en-US" i="1" dirty="0">
                <a:cs typeface="Times New Roman" panose="02020603050405020304" pitchFamily="18" charset="0"/>
              </a:rPr>
              <a:t>O</a:t>
            </a:r>
            <a:r>
              <a:rPr lang="en-US" altLang="en-US" dirty="0">
                <a:cs typeface="Times New Roman" panose="02020603050405020304" pitchFamily="18" charset="0"/>
              </a:rPr>
              <a:t>(</a:t>
            </a:r>
            <a:r>
              <a:rPr lang="en-US" altLang="en-US" i="1" dirty="0">
                <a:cs typeface="Times New Roman" panose="02020603050405020304" pitchFamily="18" charset="0"/>
              </a:rPr>
              <a:t>n</a:t>
            </a:r>
            <a:r>
              <a:rPr lang="en-US" altLang="en-US" dirty="0">
                <a:cs typeface="Times New Roman" panose="02020603050405020304" pitchFamily="18" charset="0"/>
              </a:rPr>
              <a:t>)</a:t>
            </a:r>
          </a:p>
          <a:p>
            <a:endParaRPr lang="en-CA" dirty="0"/>
          </a:p>
        </p:txBody>
      </p:sp>
    </p:spTree>
    <p:extLst>
      <p:ext uri="{BB962C8B-B14F-4D97-AF65-F5344CB8AC3E}">
        <p14:creationId xmlns:p14="http://schemas.microsoft.com/office/powerpoint/2010/main" val="2043915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CDD5-9C21-4440-BE25-765851BE81AB}"/>
              </a:ext>
            </a:extLst>
          </p:cNvPr>
          <p:cNvSpPr>
            <a:spLocks noGrp="1"/>
          </p:cNvSpPr>
          <p:nvPr>
            <p:ph type="title"/>
          </p:nvPr>
        </p:nvSpPr>
        <p:spPr/>
        <p:txBody>
          <a:bodyPr/>
          <a:lstStyle/>
          <a:p>
            <a:r>
              <a:rPr lang="en-US" dirty="0"/>
              <a:t>BST in Practice</a:t>
            </a:r>
            <a:endParaRPr lang="en-CA" dirty="0"/>
          </a:p>
        </p:txBody>
      </p:sp>
      <p:sp>
        <p:nvSpPr>
          <p:cNvPr id="3" name="Content Placeholder 2">
            <a:extLst>
              <a:ext uri="{FF2B5EF4-FFF2-40B4-BE49-F238E27FC236}">
                <a16:creationId xmlns:a16="http://schemas.microsoft.com/office/drawing/2014/main" id="{428779B5-494D-4D2C-BC05-F476D11DDFA4}"/>
              </a:ext>
            </a:extLst>
          </p:cNvPr>
          <p:cNvSpPr>
            <a:spLocks noGrp="1"/>
          </p:cNvSpPr>
          <p:nvPr>
            <p:ph idx="1"/>
          </p:nvPr>
        </p:nvSpPr>
        <p:spPr/>
        <p:txBody>
          <a:bodyPr/>
          <a:lstStyle/>
          <a:p>
            <a:r>
              <a:rPr lang="en-US" altLang="en-US" dirty="0">
                <a:cs typeface="Times New Roman" panose="02020603050405020304" pitchFamily="18" charset="0"/>
              </a:rPr>
              <a:t>Whether a BST is well-balanced or ill-balanced depends on the order of insertions</a:t>
            </a:r>
          </a:p>
          <a:p>
            <a:pPr lvl="1"/>
            <a:r>
              <a:rPr lang="en-US" altLang="en-US" dirty="0">
                <a:cs typeface="Times New Roman" panose="02020603050405020304" pitchFamily="18" charset="0"/>
              </a:rPr>
              <a:t>If the inserted elements are </a:t>
            </a:r>
            <a:r>
              <a:rPr lang="en-US" altLang="en-US" u="sng" dirty="0">
                <a:cs typeface="Times New Roman" panose="02020603050405020304" pitchFamily="18" charset="0"/>
              </a:rPr>
              <a:t>randomly ordered</a:t>
            </a:r>
            <a:r>
              <a:rPr lang="en-US" altLang="en-US" dirty="0">
                <a:cs typeface="Times New Roman" panose="02020603050405020304" pitchFamily="18" charset="0"/>
              </a:rPr>
              <a:t>, the BST will probably be reasonably well-balanced</a:t>
            </a:r>
          </a:p>
          <a:p>
            <a:pPr lvl="1"/>
            <a:r>
              <a:rPr lang="en-US" altLang="en-US" dirty="0">
                <a:cs typeface="Times New Roman" panose="02020603050405020304" pitchFamily="18" charset="0"/>
              </a:rPr>
              <a:t>If the inserted elements happen to be in </a:t>
            </a:r>
            <a:r>
              <a:rPr lang="en-US" altLang="en-US" u="sng" dirty="0">
                <a:cs typeface="Times New Roman" panose="02020603050405020304" pitchFamily="18" charset="0"/>
              </a:rPr>
              <a:t>ascending</a:t>
            </a:r>
            <a:r>
              <a:rPr lang="en-US" altLang="en-US" dirty="0">
                <a:cs typeface="Times New Roman" panose="02020603050405020304" pitchFamily="18" charset="0"/>
              </a:rPr>
              <a:t> (or descending) order, the BST will be extremely ill-balanced</a:t>
            </a:r>
          </a:p>
          <a:p>
            <a:pPr lvl="1"/>
            <a:endParaRPr lang="en-US" altLang="en-US" dirty="0">
              <a:cs typeface="Times New Roman" panose="02020603050405020304" pitchFamily="18" charset="0"/>
            </a:endParaRPr>
          </a:p>
          <a:p>
            <a:r>
              <a:rPr lang="en-US" altLang="en-US" dirty="0">
                <a:cs typeface="Times New Roman" panose="02020603050405020304" pitchFamily="18" charset="0"/>
              </a:rPr>
              <a:t>Add 16, 19, 23, 28, 42…</a:t>
            </a:r>
          </a:p>
          <a:p>
            <a:endParaRPr lang="en-CA" dirty="0"/>
          </a:p>
        </p:txBody>
      </p:sp>
      <p:pic>
        <p:nvPicPr>
          <p:cNvPr id="4" name="Picture 3">
            <a:extLst>
              <a:ext uri="{FF2B5EF4-FFF2-40B4-BE49-F238E27FC236}">
                <a16:creationId xmlns:a16="http://schemas.microsoft.com/office/drawing/2014/main" id="{745677A5-A515-4D54-979D-71EE005819D8}"/>
              </a:ext>
            </a:extLst>
          </p:cNvPr>
          <p:cNvPicPr/>
          <p:nvPr/>
        </p:nvPicPr>
        <p:blipFill>
          <a:blip r:embed="rId3"/>
          <a:stretch>
            <a:fillRect/>
          </a:stretch>
        </p:blipFill>
        <p:spPr>
          <a:xfrm>
            <a:off x="6385559" y="4175760"/>
            <a:ext cx="4358641" cy="2484120"/>
          </a:xfrm>
          <a:prstGeom prst="rect">
            <a:avLst/>
          </a:prstGeom>
        </p:spPr>
      </p:pic>
    </p:spTree>
    <p:extLst>
      <p:ext uri="{BB962C8B-B14F-4D97-AF65-F5344CB8AC3E}">
        <p14:creationId xmlns:p14="http://schemas.microsoft.com/office/powerpoint/2010/main" val="3005769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5283-11D6-4255-AEBC-8F9822EF162B}"/>
              </a:ext>
            </a:extLst>
          </p:cNvPr>
          <p:cNvSpPr>
            <a:spLocks noGrp="1"/>
          </p:cNvSpPr>
          <p:nvPr>
            <p:ph type="title"/>
          </p:nvPr>
        </p:nvSpPr>
        <p:spPr/>
        <p:txBody>
          <a:bodyPr/>
          <a:lstStyle/>
          <a:p>
            <a:r>
              <a:rPr lang="en-US" dirty="0"/>
              <a:t>BST Deletion</a:t>
            </a:r>
            <a:endParaRPr lang="en-CA" dirty="0"/>
          </a:p>
        </p:txBody>
      </p:sp>
      <p:sp>
        <p:nvSpPr>
          <p:cNvPr id="3" name="Content Placeholder 2">
            <a:extLst>
              <a:ext uri="{FF2B5EF4-FFF2-40B4-BE49-F238E27FC236}">
                <a16:creationId xmlns:a16="http://schemas.microsoft.com/office/drawing/2014/main" id="{B457245C-DDC1-4EF3-A02D-D368A9365CC1}"/>
              </a:ext>
            </a:extLst>
          </p:cNvPr>
          <p:cNvSpPr>
            <a:spLocks noGrp="1"/>
          </p:cNvSpPr>
          <p:nvPr>
            <p:ph idx="1"/>
          </p:nvPr>
        </p:nvSpPr>
        <p:spPr/>
        <p:txBody>
          <a:bodyPr/>
          <a:lstStyle/>
          <a:p>
            <a:r>
              <a:rPr lang="en-US" dirty="0"/>
              <a:t>The process for removing a node depends on the number of children the node has!</a:t>
            </a:r>
          </a:p>
          <a:p>
            <a:pPr lvl="4"/>
            <a:endParaRPr lang="en-US" dirty="0"/>
          </a:p>
          <a:p>
            <a:pPr marL="514350" indent="-514350">
              <a:buFont typeface="+mj-lt"/>
              <a:buAutoNum type="arabicPeriod"/>
            </a:pPr>
            <a:r>
              <a:rPr lang="en-US" dirty="0"/>
              <a:t>0 children (leaf node)</a:t>
            </a:r>
          </a:p>
          <a:p>
            <a:pPr lvl="1"/>
            <a:r>
              <a:rPr lang="en-US" dirty="0"/>
              <a:t>Remove link to the node from parent</a:t>
            </a:r>
          </a:p>
          <a:p>
            <a:pPr lvl="1"/>
            <a:r>
              <a:rPr lang="en-US" dirty="0"/>
              <a:t>E.g. Delete 13</a:t>
            </a:r>
          </a:p>
          <a:p>
            <a:pPr marL="514350" indent="-514350">
              <a:buFont typeface="+mj-lt"/>
              <a:buAutoNum type="arabicPeriod"/>
            </a:pPr>
            <a:r>
              <a:rPr lang="en-US" dirty="0"/>
              <a:t>1 child</a:t>
            </a:r>
          </a:p>
          <a:p>
            <a:pPr lvl="1"/>
            <a:r>
              <a:rPr lang="en-US" dirty="0"/>
              <a:t>Replace node with child node</a:t>
            </a:r>
          </a:p>
          <a:p>
            <a:pPr lvl="1"/>
            <a:r>
              <a:rPr lang="en-US" dirty="0"/>
              <a:t>E.g. Delete 10</a:t>
            </a:r>
          </a:p>
          <a:p>
            <a:pPr lvl="1"/>
            <a:endParaRPr lang="en-CA" dirty="0"/>
          </a:p>
        </p:txBody>
      </p:sp>
      <p:pic>
        <p:nvPicPr>
          <p:cNvPr id="4" name="Picture 3">
            <a:extLst>
              <a:ext uri="{FF2B5EF4-FFF2-40B4-BE49-F238E27FC236}">
                <a16:creationId xmlns:a16="http://schemas.microsoft.com/office/drawing/2014/main" id="{11077524-B262-4131-BCE2-F7E5F7D61352}"/>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467600" y="2552383"/>
            <a:ext cx="4297680" cy="3624580"/>
          </a:xfrm>
          <a:prstGeom prst="rect">
            <a:avLst/>
          </a:prstGeom>
          <a:noFill/>
          <a:ln>
            <a:noFill/>
          </a:ln>
        </p:spPr>
      </p:pic>
    </p:spTree>
    <p:extLst>
      <p:ext uri="{BB962C8B-B14F-4D97-AF65-F5344CB8AC3E}">
        <p14:creationId xmlns:p14="http://schemas.microsoft.com/office/powerpoint/2010/main" val="105734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A8A0-CE93-4ED2-BEB4-0FC9A983C55A}"/>
              </a:ext>
            </a:extLst>
          </p:cNvPr>
          <p:cNvSpPr>
            <a:spLocks noGrp="1"/>
          </p:cNvSpPr>
          <p:nvPr>
            <p:ph type="title"/>
          </p:nvPr>
        </p:nvSpPr>
        <p:spPr/>
        <p:txBody>
          <a:bodyPr/>
          <a:lstStyle/>
          <a:p>
            <a:r>
              <a:rPr lang="en-US" dirty="0"/>
              <a:t>BST Deletion – Node with 2 children</a:t>
            </a:r>
            <a:endParaRPr lang="en-CA" dirty="0"/>
          </a:p>
        </p:txBody>
      </p:sp>
      <p:sp>
        <p:nvSpPr>
          <p:cNvPr id="3" name="Content Placeholder 2">
            <a:extLst>
              <a:ext uri="{FF2B5EF4-FFF2-40B4-BE49-F238E27FC236}">
                <a16:creationId xmlns:a16="http://schemas.microsoft.com/office/drawing/2014/main" id="{FBADE16B-E145-4543-9DC7-9890EE3C5AC4}"/>
              </a:ext>
            </a:extLst>
          </p:cNvPr>
          <p:cNvSpPr>
            <a:spLocks noGrp="1"/>
          </p:cNvSpPr>
          <p:nvPr>
            <p:ph idx="1"/>
          </p:nvPr>
        </p:nvSpPr>
        <p:spPr/>
        <p:txBody>
          <a:bodyPr>
            <a:normAutofit lnSpcReduction="10000"/>
          </a:bodyPr>
          <a:lstStyle/>
          <a:p>
            <a:r>
              <a:rPr lang="en-US" dirty="0"/>
              <a:t>Must maintain integrity of the BST</a:t>
            </a:r>
          </a:p>
          <a:p>
            <a:pPr lvl="1"/>
            <a:r>
              <a:rPr lang="en-US" dirty="0"/>
              <a:t>All nodes in left subtree are &lt; or =</a:t>
            </a:r>
          </a:p>
          <a:p>
            <a:pPr lvl="1"/>
            <a:r>
              <a:rPr lang="en-US" dirty="0"/>
              <a:t>All nodes in right subtree are &gt;</a:t>
            </a:r>
          </a:p>
          <a:p>
            <a:pPr lvl="4"/>
            <a:endParaRPr lang="en-US" dirty="0"/>
          </a:p>
          <a:p>
            <a:r>
              <a:rPr lang="en-US" dirty="0"/>
              <a:t>Replace node with the next smaller or next larger element, but how to find the “next smaller” or “next larger” node?</a:t>
            </a:r>
          </a:p>
          <a:p>
            <a:pPr lvl="1"/>
            <a:r>
              <a:rPr lang="en-US" dirty="0"/>
              <a:t>We know that all smaller elements are in left subtree and all larger are in the right subtree</a:t>
            </a:r>
          </a:p>
          <a:p>
            <a:pPr lvl="2"/>
            <a:r>
              <a:rPr lang="en-US" dirty="0"/>
              <a:t>Next smaller: go left from node to be removed, keep going right until right subtree is empty</a:t>
            </a:r>
          </a:p>
          <a:p>
            <a:pPr lvl="2"/>
            <a:r>
              <a:rPr lang="en-US" dirty="0"/>
              <a:t>Next larger: go right from node to be removed, keep going left until left subtree is empty</a:t>
            </a:r>
            <a:endParaRPr lang="en-CA" dirty="0"/>
          </a:p>
        </p:txBody>
      </p:sp>
    </p:spTree>
    <p:extLst>
      <p:ext uri="{BB962C8B-B14F-4D97-AF65-F5344CB8AC3E}">
        <p14:creationId xmlns:p14="http://schemas.microsoft.com/office/powerpoint/2010/main" val="35692086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7E9AF-95B4-4269-A99E-493472338B61}"/>
              </a:ext>
            </a:extLst>
          </p:cNvPr>
          <p:cNvSpPr>
            <a:spLocks noGrp="1"/>
          </p:cNvSpPr>
          <p:nvPr>
            <p:ph type="title"/>
          </p:nvPr>
        </p:nvSpPr>
        <p:spPr/>
        <p:txBody>
          <a:bodyPr/>
          <a:lstStyle/>
          <a:p>
            <a:r>
              <a:rPr lang="en-US" dirty="0"/>
              <a:t>BST Deletion Example</a:t>
            </a:r>
            <a:endParaRPr lang="en-CA" dirty="0"/>
          </a:p>
        </p:txBody>
      </p:sp>
      <p:sp>
        <p:nvSpPr>
          <p:cNvPr id="3" name="Content Placeholder 2">
            <a:extLst>
              <a:ext uri="{FF2B5EF4-FFF2-40B4-BE49-F238E27FC236}">
                <a16:creationId xmlns:a16="http://schemas.microsoft.com/office/drawing/2014/main" id="{C175B603-840E-47A1-87DC-BFAF655CCC4E}"/>
              </a:ext>
            </a:extLst>
          </p:cNvPr>
          <p:cNvSpPr>
            <a:spLocks noGrp="1"/>
          </p:cNvSpPr>
          <p:nvPr>
            <p:ph idx="1"/>
          </p:nvPr>
        </p:nvSpPr>
        <p:spPr/>
        <p:txBody>
          <a:bodyPr/>
          <a:lstStyle/>
          <a:p>
            <a:r>
              <a:rPr lang="en-US" dirty="0"/>
              <a:t>Delete node 8</a:t>
            </a:r>
          </a:p>
          <a:p>
            <a:pPr lvl="1"/>
            <a:r>
              <a:rPr lang="en-US" dirty="0"/>
              <a:t>Next smaller (</a:t>
            </a:r>
            <a:r>
              <a:rPr lang="en-US" dirty="0" err="1"/>
              <a:t>inorder</a:t>
            </a:r>
            <a:r>
              <a:rPr lang="en-US" dirty="0"/>
              <a:t> predecessor):</a:t>
            </a:r>
          </a:p>
          <a:p>
            <a:pPr lvl="2"/>
            <a:r>
              <a:rPr lang="en-US" dirty="0"/>
              <a:t>Go left to node 3</a:t>
            </a:r>
          </a:p>
          <a:p>
            <a:pPr lvl="2"/>
            <a:r>
              <a:rPr lang="en-US" dirty="0"/>
              <a:t>Go right to node 6</a:t>
            </a:r>
          </a:p>
          <a:p>
            <a:pPr lvl="2"/>
            <a:r>
              <a:rPr lang="en-US" dirty="0"/>
              <a:t>Go right to node 7</a:t>
            </a:r>
          </a:p>
          <a:p>
            <a:pPr lvl="2"/>
            <a:r>
              <a:rPr lang="en-US" dirty="0"/>
              <a:t>Right empty, replace 8 with 7</a:t>
            </a:r>
          </a:p>
          <a:p>
            <a:pPr lvl="2"/>
            <a:endParaRPr lang="en-US" dirty="0"/>
          </a:p>
          <a:p>
            <a:pPr lvl="1"/>
            <a:r>
              <a:rPr lang="en-US" dirty="0"/>
              <a:t>Next larger (</a:t>
            </a:r>
            <a:r>
              <a:rPr lang="en-US" dirty="0" err="1"/>
              <a:t>inorder</a:t>
            </a:r>
            <a:r>
              <a:rPr lang="en-US" dirty="0"/>
              <a:t> successor):</a:t>
            </a:r>
          </a:p>
          <a:p>
            <a:pPr lvl="2"/>
            <a:r>
              <a:rPr lang="en-US" dirty="0"/>
              <a:t>Go right to node 10</a:t>
            </a:r>
          </a:p>
          <a:p>
            <a:pPr lvl="2"/>
            <a:r>
              <a:rPr lang="en-CA" dirty="0"/>
              <a:t>Left empty, replace 8 with 10</a:t>
            </a:r>
          </a:p>
        </p:txBody>
      </p:sp>
      <p:pic>
        <p:nvPicPr>
          <p:cNvPr id="4" name="Picture 3">
            <a:extLst>
              <a:ext uri="{FF2B5EF4-FFF2-40B4-BE49-F238E27FC236}">
                <a16:creationId xmlns:a16="http://schemas.microsoft.com/office/drawing/2014/main" id="{6068DF79-8CA9-4826-9009-8A42D3F3D6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825625"/>
            <a:ext cx="4297680" cy="3624580"/>
          </a:xfrm>
          <a:prstGeom prst="rect">
            <a:avLst/>
          </a:prstGeom>
          <a:noFill/>
          <a:ln>
            <a:noFill/>
          </a:ln>
        </p:spPr>
      </p:pic>
    </p:spTree>
    <p:extLst>
      <p:ext uri="{BB962C8B-B14F-4D97-AF65-F5344CB8AC3E}">
        <p14:creationId xmlns:p14="http://schemas.microsoft.com/office/powerpoint/2010/main" val="30643520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CB13-DBD1-4649-A70F-37A4079134FB}"/>
              </a:ext>
            </a:extLst>
          </p:cNvPr>
          <p:cNvSpPr>
            <a:spLocks noGrp="1"/>
          </p:cNvSpPr>
          <p:nvPr>
            <p:ph type="title"/>
          </p:nvPr>
        </p:nvSpPr>
        <p:spPr/>
        <p:txBody>
          <a:bodyPr/>
          <a:lstStyle/>
          <a:p>
            <a:r>
              <a:rPr lang="en-US" dirty="0"/>
              <a:t>BST Deletion Complexity</a:t>
            </a:r>
            <a:endParaRPr lang="en-CA" dirty="0"/>
          </a:p>
        </p:txBody>
      </p:sp>
      <p:sp>
        <p:nvSpPr>
          <p:cNvPr id="3" name="Content Placeholder 2">
            <a:extLst>
              <a:ext uri="{FF2B5EF4-FFF2-40B4-BE49-F238E27FC236}">
                <a16:creationId xmlns:a16="http://schemas.microsoft.com/office/drawing/2014/main" id="{A2802DF6-4708-4221-B824-6D5A7028C4E1}"/>
              </a:ext>
            </a:extLst>
          </p:cNvPr>
          <p:cNvSpPr>
            <a:spLocks noGrp="1"/>
          </p:cNvSpPr>
          <p:nvPr>
            <p:ph idx="1"/>
          </p:nvPr>
        </p:nvSpPr>
        <p:spPr/>
        <p:txBody>
          <a:bodyPr/>
          <a:lstStyle/>
          <a:p>
            <a:r>
              <a:rPr lang="en-US" dirty="0"/>
              <a:t>Similar to other operations, performance depends on whether the BST is balanced or not!</a:t>
            </a:r>
          </a:p>
          <a:p>
            <a:pPr lvl="1"/>
            <a:r>
              <a:rPr lang="en-US" dirty="0"/>
              <a:t>Best-case: O(log n), worst-case: O(n)</a:t>
            </a:r>
          </a:p>
          <a:p>
            <a:pPr lvl="1"/>
            <a:endParaRPr lang="en-US" dirty="0"/>
          </a:p>
          <a:p>
            <a:r>
              <a:rPr lang="en-US" dirty="0"/>
              <a:t>Note: Deletion can make a balanced BST ill-balanced, and vice versa</a:t>
            </a:r>
          </a:p>
          <a:p>
            <a:pPr lvl="1"/>
            <a:r>
              <a:rPr lang="en-US" dirty="0"/>
              <a:t>E.g. Delete 10, 13 and 14</a:t>
            </a:r>
            <a:endParaRPr lang="en-CA" dirty="0"/>
          </a:p>
        </p:txBody>
      </p:sp>
      <p:pic>
        <p:nvPicPr>
          <p:cNvPr id="4" name="Picture 3">
            <a:extLst>
              <a:ext uri="{FF2B5EF4-FFF2-40B4-BE49-F238E27FC236}">
                <a16:creationId xmlns:a16="http://schemas.microsoft.com/office/drawing/2014/main" id="{107976DB-48CC-4F70-8662-08BF87ADD8E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16040" y="4190999"/>
            <a:ext cx="2667000" cy="2301875"/>
          </a:xfrm>
          <a:prstGeom prst="rect">
            <a:avLst/>
          </a:prstGeom>
          <a:noFill/>
          <a:ln>
            <a:noFill/>
          </a:ln>
        </p:spPr>
      </p:pic>
    </p:spTree>
    <p:extLst>
      <p:ext uri="{BB962C8B-B14F-4D97-AF65-F5344CB8AC3E}">
        <p14:creationId xmlns:p14="http://schemas.microsoft.com/office/powerpoint/2010/main" val="404936318"/>
      </p:ext>
    </p:extLst>
  </p:cSld>
  <p:clrMapOvr>
    <a:masterClrMapping/>
  </p:clrMapOvr>
</p:sld>
</file>

<file path=ppt/theme/theme1.xml><?xml version="1.0" encoding="utf-8"?>
<a:theme xmlns:a="http://schemas.openxmlformats.org/drawingml/2006/main" name="Office Theme">
  <a:themeElements>
    <a:clrScheme name="SAIT Colours">
      <a:dk1>
        <a:srgbClr val="000000"/>
      </a:dk1>
      <a:lt1>
        <a:srgbClr val="FFFFFF"/>
      </a:lt1>
      <a:dk2>
        <a:srgbClr val="44546A"/>
      </a:dk2>
      <a:lt2>
        <a:srgbClr val="E7E6E6"/>
      </a:lt2>
      <a:accent1>
        <a:srgbClr val="DA291C"/>
      </a:accent1>
      <a:accent2>
        <a:srgbClr val="A6192E"/>
      </a:accent2>
      <a:accent3>
        <a:srgbClr val="00A3E0"/>
      </a:accent3>
      <a:accent4>
        <a:srgbClr val="005EB8"/>
      </a:accent4>
      <a:accent5>
        <a:srgbClr val="6D2077"/>
      </a:accent5>
      <a:accent6>
        <a:srgbClr val="222222"/>
      </a:accent6>
      <a:hlink>
        <a:srgbClr val="515151"/>
      </a:hlink>
      <a:folHlink>
        <a:srgbClr val="919191"/>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IT_PPT_Colour_16x9_Template" id="{9343D8A7-6800-F640-AE70-45A3E4AC5BF3}" vid="{216E120B-4FD9-D941-8FC7-0244918ABF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20550</TotalTime>
  <Words>2271</Words>
  <Application>Microsoft Office PowerPoint</Application>
  <PresentationFormat>Widescreen</PresentationFormat>
  <Paragraphs>276</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Calibri</vt:lpstr>
      <vt:lpstr>Courier New</vt:lpstr>
      <vt:lpstr>Futura LtCn BT</vt:lpstr>
      <vt:lpstr>Futura MdCn BT</vt:lpstr>
      <vt:lpstr>Tahoma</vt:lpstr>
      <vt:lpstr>Times New Roman</vt:lpstr>
      <vt:lpstr>Verdana</vt:lpstr>
      <vt:lpstr>Office Theme</vt:lpstr>
      <vt:lpstr>Binary Search Trees (BST)</vt:lpstr>
      <vt:lpstr>Binary Search Trees (BST)</vt:lpstr>
      <vt:lpstr>Searching in a BST</vt:lpstr>
      <vt:lpstr>BSTreeNode for Strings</vt:lpstr>
      <vt:lpstr>BST of BSTNode for Strings</vt:lpstr>
      <vt:lpstr>BSTreeADT Requirements</vt:lpstr>
      <vt:lpstr>Tree Traversal</vt:lpstr>
      <vt:lpstr>General Tree Traversal Classes</vt:lpstr>
      <vt:lpstr>Height-First Traversal</vt:lpstr>
      <vt:lpstr>Height-First Traversal Variations</vt:lpstr>
      <vt:lpstr>Height-First Traversal Variations</vt:lpstr>
      <vt:lpstr>Exercise</vt:lpstr>
      <vt:lpstr>Implementing Tree Traversals</vt:lpstr>
      <vt:lpstr>Non-Recursive Implementations</vt:lpstr>
      <vt:lpstr>Stack Implementation</vt:lpstr>
      <vt:lpstr>BST Operations</vt:lpstr>
      <vt:lpstr>BST Search Example</vt:lpstr>
      <vt:lpstr>BST Search Complexity</vt:lpstr>
      <vt:lpstr>BST Insertion</vt:lpstr>
      <vt:lpstr>BST Insertion Complexity</vt:lpstr>
      <vt:lpstr>BST in Practice</vt:lpstr>
      <vt:lpstr>BST Deletion</vt:lpstr>
      <vt:lpstr>BST Deletion – Node with 2 children</vt:lpstr>
      <vt:lpstr>BST Deletion Example</vt:lpstr>
      <vt:lpstr>BST Deletion Complexity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Kitty Wong</dc:creator>
  <cp:lastModifiedBy>Kitty Wong</cp:lastModifiedBy>
  <cp:revision>248</cp:revision>
  <dcterms:created xsi:type="dcterms:W3CDTF">2016-04-05T14:17:30Z</dcterms:created>
  <dcterms:modified xsi:type="dcterms:W3CDTF">2026-09-26T09:10:29Z</dcterms:modified>
</cp:coreProperties>
</file>