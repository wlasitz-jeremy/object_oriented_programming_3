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4"/>
  </p:notesMasterIdLst>
  <p:sldIdLst>
    <p:sldId id="258" r:id="rId5"/>
    <p:sldId id="304" r:id="rId6"/>
    <p:sldId id="305" r:id="rId7"/>
    <p:sldId id="266" r:id="rId8"/>
    <p:sldId id="306" r:id="rId9"/>
    <p:sldId id="307" r:id="rId10"/>
    <p:sldId id="308" r:id="rId11"/>
    <p:sldId id="309" r:id="rId12"/>
    <p:sldId id="310" r:id="rId13"/>
    <p:sldId id="311" r:id="rId14"/>
    <p:sldId id="313" r:id="rId15"/>
    <p:sldId id="317" r:id="rId16"/>
    <p:sldId id="319" r:id="rId17"/>
    <p:sldId id="320" r:id="rId18"/>
    <p:sldId id="315" r:id="rId19"/>
    <p:sldId id="316" r:id="rId20"/>
    <p:sldId id="337" r:id="rId21"/>
    <p:sldId id="322" r:id="rId22"/>
    <p:sldId id="33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34" autoAdjust="0"/>
    <p:restoredTop sz="53882" autoAdjust="0"/>
  </p:normalViewPr>
  <p:slideViewPr>
    <p:cSldViewPr snapToGrid="0" snapToObjects="1" showGuides="1">
      <p:cViewPr varScale="1">
        <p:scale>
          <a:sx n="59" d="100"/>
          <a:sy n="59" d="100"/>
        </p:scale>
        <p:origin x="174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tty Wong" userId="934a16c2-3b82-4a04-8cf4-72a5c39a78f6" providerId="ADAL" clId="{6624BDA5-5E62-4DCD-AC58-5D64DFC703A6}"/>
    <pc:docChg chg="undo custSel addSld delSld modSld sldOrd">
      <pc:chgData name="Kitty Wong" userId="934a16c2-3b82-4a04-8cf4-72a5c39a78f6" providerId="ADAL" clId="{6624BDA5-5E62-4DCD-AC58-5D64DFC703A6}" dt="2026-08-26T04:52:29.026" v="1349" actId="1076"/>
      <pc:docMkLst>
        <pc:docMk/>
      </pc:docMkLst>
      <pc:sldChg chg="modSp mod">
        <pc:chgData name="Kitty Wong" userId="934a16c2-3b82-4a04-8cf4-72a5c39a78f6" providerId="ADAL" clId="{6624BDA5-5E62-4DCD-AC58-5D64DFC703A6}" dt="2026-08-26T04:52:29.026" v="1349" actId="1076"/>
        <pc:sldMkLst>
          <pc:docMk/>
          <pc:sldMk cId="3636731635" sldId="310"/>
        </pc:sldMkLst>
        <pc:spChg chg="mod">
          <ac:chgData name="Kitty Wong" userId="934a16c2-3b82-4a04-8cf4-72a5c39a78f6" providerId="ADAL" clId="{6624BDA5-5E62-4DCD-AC58-5D64DFC703A6}" dt="2026-08-26T04:52:18.655" v="1346" actId="20577"/>
          <ac:spMkLst>
            <pc:docMk/>
            <pc:sldMk cId="3636731635" sldId="310"/>
            <ac:spMk id="3" creationId="{B247AEDC-7722-45B9-B686-E9D751458288}"/>
          </ac:spMkLst>
        </pc:spChg>
        <pc:picChg chg="mod">
          <ac:chgData name="Kitty Wong" userId="934a16c2-3b82-4a04-8cf4-72a5c39a78f6" providerId="ADAL" clId="{6624BDA5-5E62-4DCD-AC58-5D64DFC703A6}" dt="2026-08-26T04:52:29.026" v="1349" actId="1076"/>
          <ac:picMkLst>
            <pc:docMk/>
            <pc:sldMk cId="3636731635" sldId="310"/>
            <ac:picMk id="6" creationId="{22568734-62E1-4FAC-B451-C127CCE01C7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7C5150-9119-490A-A216-3D2FA22F7FFC}" type="datetimeFigureOut">
              <a:rPr lang="en-CA" smtClean="0"/>
              <a:t>2026-08-25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DF01B0-FE71-4C35-BC11-34BCAF52C4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18715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Recall performance/efficiency is not just the algorithm, but also what you’re using to store the data you’re accessing and manipulating – this is referred to as the data structure and so far we have used just basic arrays to sort our data.</a:t>
            </a:r>
          </a:p>
          <a:p>
            <a:endParaRPr lang="en-US" dirty="0"/>
          </a:p>
          <a:p>
            <a:r>
              <a:rPr lang="en-US" dirty="0"/>
              <a:t>“Data structures and algorithm” you always hear about these 2 things together and that’s because they are tightly-coupled – one affects the other and vice versa!</a:t>
            </a:r>
          </a:p>
          <a:p>
            <a:endParaRPr lang="en-US" dirty="0"/>
          </a:p>
          <a:p>
            <a:r>
              <a:rPr lang="en-US" dirty="0"/>
              <a:t>So what is a data structure? “official” definition – implementation of an ADT, which is abstract, not quite real… the DS makes an ADT real! Well then, what is an ADT? Let’s break it down word by word…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4458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Relationships can be “has a” (composition, contains/owns an instance), “uses a” (aggregation, references/doesn’t own) or “is a” (inheritance, class not objects)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60515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We’ll come back to this! “abstraction” alone doesn’t make much sense without context.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17126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Qualitative or quantitative values – “raw data”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944976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88775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call data types are actually data structures! But in our SD world, we call common or well-known data structures (like primitives and String) a data type, and complex data types are referred to as data structures… 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58741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Short = int16 in C#</a:t>
            </a:r>
          </a:p>
          <a:p>
            <a:r>
              <a:rPr lang="en-CA" dirty="0"/>
              <a:t>Int = int32 in C#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967862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=“https://www.quora.com/Whats-the-difference-between-a-data-structure-and-an-abstract-data-type”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196742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 = “https://examples.javacodegeeks.com/</a:t>
            </a:r>
            <a:r>
              <a:rPr lang="en-US" dirty="0" err="1"/>
              <a:t>adt</a:t>
            </a:r>
            <a:r>
              <a:rPr lang="en-US" dirty="0"/>
              <a:t>-java-tutorial/”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218305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like how we use the Java API! You just read about the method signature – the parameters and return values, but unless you go look at the source code – you don’t know and  you don’t care how it’s actually implemented!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30789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110290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405770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Like using an API, you read the documentation on how to use it – what it expects as arguments and what you can expect to get from it and what it PROMISES to do!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92797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gives us a method signature!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588088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528893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out CounterTest.java!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14820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Repeat for other tests of the same method, then move on to another method!</a:t>
            </a:r>
          </a:p>
          <a:p>
            <a:endParaRPr lang="en-US" dirty="0"/>
          </a:p>
          <a:p>
            <a:r>
              <a:rPr lang="en-US" dirty="0"/>
              <a:t>A good rule-of-thumb is to start with constructors, then getters, then setters, then other methods. (Order your implementation from “easiest” and “most-used” methods first)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90988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Once your have the right code, then you can refactor and improve/optimize it to run faster! Or clean it up to be more readable and maintainable! My philosophy is always “Make it work, then make it pretty!”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44201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22672" y="1122363"/>
            <a:ext cx="6845328" cy="2387600"/>
          </a:xfrm>
        </p:spPr>
        <p:txBody>
          <a:bodyPr anchor="b">
            <a:normAutofit/>
          </a:bodyPr>
          <a:lstStyle>
            <a:lvl1pPr algn="l">
              <a:defRPr sz="5400" b="1" i="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22672" y="3602038"/>
            <a:ext cx="6845328" cy="1655762"/>
          </a:xfrm>
        </p:spPr>
        <p:txBody>
          <a:bodyPr>
            <a:normAutofit/>
          </a:bodyPr>
          <a:lstStyle>
            <a:lvl1pPr marL="0" indent="0" algn="l">
              <a:buNone/>
              <a:defRPr sz="30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22672" y="6390216"/>
            <a:ext cx="1231900" cy="365125"/>
          </a:xfrm>
        </p:spPr>
        <p:txBody>
          <a:bodyPr anchor="b"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E4A6AB35-C22C-4755-9BC8-96579CB63199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32372" y="6390216"/>
            <a:ext cx="5067328" cy="365125"/>
          </a:xfrm>
        </p:spPr>
        <p:txBody>
          <a:bodyPr anchor="b"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CMPS369 Operating Systems for Software Developers. Module 0 - Course Introduction. Kitty Wong © 2016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77500" y="6390216"/>
            <a:ext cx="876300" cy="365125"/>
          </a:xfrm>
        </p:spPr>
        <p:txBody>
          <a:bodyPr anchor="b"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FDDB6027-878D-A249-A7C0-2BF119D95C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sait_icon_wordmark_colour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" y="904252"/>
            <a:ext cx="3708372" cy="471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279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 b="1" i="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30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22672" y="6390216"/>
            <a:ext cx="1231900" cy="365125"/>
          </a:xfrm>
        </p:spPr>
        <p:txBody>
          <a:bodyPr anchor="b"/>
          <a:lstStyle/>
          <a:p>
            <a:fld id="{3E21CB55-4C39-4DF9-B29B-0DDB979E079F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32372" y="6390216"/>
            <a:ext cx="5067328" cy="365125"/>
          </a:xfrm>
        </p:spPr>
        <p:txBody>
          <a:bodyPr anchor="b"/>
          <a:lstStyle/>
          <a:p>
            <a:r>
              <a:rPr lang="en-US"/>
              <a:t>CMPS369 Operating Systems for Software Developers. Module 0 - Course Introduction. Kitty Wong © 2016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77500" y="6390216"/>
            <a:ext cx="876300" cy="365125"/>
          </a:xfrm>
        </p:spPr>
        <p:txBody>
          <a:bodyPr anchor="b"/>
          <a:lstStyle/>
          <a:p>
            <a:fld id="{FDDB6027-878D-A249-A7C0-2BF119D95C8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sait_icon_wordmark_colour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700" y="-27337"/>
            <a:ext cx="2311400" cy="294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110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22672" y="6390216"/>
            <a:ext cx="1231900" cy="365125"/>
          </a:xfrm>
        </p:spPr>
        <p:txBody>
          <a:bodyPr anchor="b"/>
          <a:lstStyle/>
          <a:p>
            <a:fld id="{E9DC3DE2-2DBA-41B6-ABDF-9E46BDE3E6CB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32372" y="6390216"/>
            <a:ext cx="5067328" cy="365125"/>
          </a:xfrm>
        </p:spPr>
        <p:txBody>
          <a:bodyPr anchor="b"/>
          <a:lstStyle/>
          <a:p>
            <a:r>
              <a:rPr lang="en-US"/>
              <a:t>CMPS369 Operating Systems for Software Developers. Module 0 - Course Introduction. Kitty Wong © 2016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77500" y="6390216"/>
            <a:ext cx="876300" cy="365125"/>
          </a:xfrm>
        </p:spPr>
        <p:txBody>
          <a:bodyPr anchor="b"/>
          <a:lstStyle/>
          <a:p>
            <a:fld id="{FDDB6027-878D-A249-A7C0-2BF119D95C8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sait_icon_wordmark_horiz_colour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28" y="6176963"/>
            <a:ext cx="1650972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681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77500" y="6390216"/>
            <a:ext cx="876300" cy="365125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DDB6027-878D-A249-A7C0-2BF119D95C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0" i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CA" dirty="0"/>
              <a:t>Headline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38" r="35724"/>
          <a:stretch/>
        </p:blipFill>
        <p:spPr>
          <a:xfrm>
            <a:off x="7118407" y="-21266"/>
            <a:ext cx="5066505" cy="570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668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77500" y="6390216"/>
            <a:ext cx="876300" cy="365125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DDB6027-878D-A249-A7C0-2BF119D95C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CA"/>
              <a:t>Headline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38" r="35724"/>
          <a:stretch/>
        </p:blipFill>
        <p:spPr>
          <a:xfrm>
            <a:off x="7118407" y="-21266"/>
            <a:ext cx="5066505" cy="570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170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7162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22672" y="6356350"/>
            <a:ext cx="1231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accent6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fld id="{F0FE8BCE-6DE9-499B-B47E-840C645FA6F5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32372" y="6356350"/>
            <a:ext cx="50673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6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 dirty="0"/>
              <a:t>CMPS369 Operating Systems for Software Developers. Module 0 - Course Introduction. Kitty Wong © 2016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77500" y="6356350"/>
            <a:ext cx="876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6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fld id="{FDDB6027-878D-A249-A7C0-2BF119D95C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694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5" r:id="rId4"/>
    <p:sldLayoutId id="2147483657" r:id="rId5"/>
    <p:sldLayoutId id="2147483654" r:id="rId6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Verdana" charset="0"/>
          <a:ea typeface="Verdana" charset="0"/>
          <a:cs typeface="Verdana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Verdana" charset="0"/>
          <a:ea typeface="Verdana" charset="0"/>
          <a:cs typeface="Verdana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Verdana" charset="0"/>
          <a:ea typeface="Verdana" charset="0"/>
          <a:cs typeface="Verdana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Verdana" charset="0"/>
          <a:ea typeface="Verdana" charset="0"/>
          <a:cs typeface="Verdana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Verdana" charset="0"/>
          <a:ea typeface="Verdana" charset="0"/>
          <a:cs typeface="Verdana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Verdana" charset="0"/>
          <a:ea typeface="Verdana" charset="0"/>
          <a:cs typeface="Verdana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22672" y="1122362"/>
            <a:ext cx="7485408" cy="2479675"/>
          </a:xfrm>
        </p:spPr>
        <p:txBody>
          <a:bodyPr>
            <a:normAutofit/>
          </a:bodyPr>
          <a:lstStyle/>
          <a:p>
            <a:r>
              <a:rPr lang="en-US" dirty="0"/>
              <a:t>Abstract Data Type and Data Structures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22672" y="3602037"/>
            <a:ext cx="6845328" cy="1655762"/>
          </a:xfrm>
        </p:spPr>
        <p:txBody>
          <a:bodyPr>
            <a:normAutofit/>
          </a:bodyPr>
          <a:lstStyle/>
          <a:p>
            <a:r>
              <a:rPr lang="en-US"/>
              <a:t>Unit </a:t>
            </a:r>
            <a:r>
              <a:rPr lang="en-US" dirty="0"/>
              <a:t>3</a:t>
            </a:r>
          </a:p>
          <a:p>
            <a:r>
              <a:rPr lang="en-US" dirty="0"/>
              <a:t>CPRG304 – Object-Oriented Programming III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E4D4B33-3A5F-4979-822B-8FAADD5E5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32372" y="6390216"/>
            <a:ext cx="5435628" cy="365125"/>
          </a:xfrm>
        </p:spPr>
        <p:txBody>
          <a:bodyPr/>
          <a:lstStyle/>
          <a:p>
            <a:pPr algn="r"/>
            <a:r>
              <a:rPr lang="en-US" sz="1400" dirty="0"/>
              <a:t>Kitty Wong © 2025</a:t>
            </a:r>
          </a:p>
        </p:txBody>
      </p:sp>
    </p:spTree>
    <p:extLst>
      <p:ext uri="{BB962C8B-B14F-4D97-AF65-F5344CB8AC3E}">
        <p14:creationId xmlns:p14="http://schemas.microsoft.com/office/powerpoint/2010/main" val="712547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E0C45-86D2-4BAF-A01C-AEE360579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Four Pillars of OOP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F13A3-4410-41E8-B352-98F111703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OOP is all about data modelling</a:t>
            </a:r>
          </a:p>
          <a:p>
            <a:pPr lvl="1"/>
            <a:r>
              <a:rPr lang="en-US" dirty="0"/>
              <a:t>Identify objects of the system and how they relate to each other</a:t>
            </a:r>
          </a:p>
          <a:p>
            <a:pPr lvl="2"/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Inheritance – “is a”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Polymorphism – “one name, many forms”</a:t>
            </a:r>
          </a:p>
          <a:p>
            <a:pPr lvl="1"/>
            <a:r>
              <a:rPr lang="en-US" dirty="0"/>
              <a:t>Subtype or parametric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Encapsulation – “time capsule”</a:t>
            </a:r>
          </a:p>
          <a:p>
            <a:pPr lvl="1"/>
            <a:r>
              <a:rPr lang="en-US" dirty="0"/>
              <a:t>Orthogonality (separation of concerns</a:t>
            </a:r>
            <a:r>
              <a:rPr lang="en-US"/>
              <a:t>/single responsibility</a:t>
            </a:r>
            <a:r>
              <a:rPr lang="en-US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Abstraction – “need-to-know basis”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82260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6C102-A4AC-4DE2-8CEB-0D02CC581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7CBA7-8A66-412B-848A-9FBD10C58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Suppressing details to emphasize on what is relevant at the moment</a:t>
            </a:r>
          </a:p>
          <a:p>
            <a:pPr lvl="1"/>
            <a:r>
              <a:rPr lang="en-US" dirty="0"/>
              <a:t>Represent data at a conceptual level without any details</a:t>
            </a:r>
          </a:p>
          <a:p>
            <a:pPr lvl="1"/>
            <a:endParaRPr lang="en-US" dirty="0"/>
          </a:p>
          <a:p>
            <a:r>
              <a:rPr lang="en-CA" altLang="en-US" dirty="0"/>
              <a:t>Provides high level views of objects and their behaviours </a:t>
            </a:r>
          </a:p>
          <a:p>
            <a:pPr lvl="1"/>
            <a:r>
              <a:rPr lang="en-CA" altLang="en-US" dirty="0"/>
              <a:t>Enables us to forget about the low-level details and concentrate on the problem at hand</a:t>
            </a:r>
          </a:p>
          <a:p>
            <a:pPr lvl="1"/>
            <a:r>
              <a:rPr lang="en-CA" altLang="en-US" dirty="0"/>
              <a:t>Level of abstraction will depend upon the view point of the user and the problem to be solved</a:t>
            </a:r>
          </a:p>
          <a:p>
            <a:pPr lvl="1"/>
            <a:endParaRPr lang="en-CA" altLang="en-US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97533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Definition: independent facts, observations, or events.</a:t>
            </a:r>
          </a:p>
          <a:p>
            <a:endParaRPr lang="en-US" dirty="0"/>
          </a:p>
          <a:p>
            <a:r>
              <a:rPr lang="en-US" dirty="0"/>
              <a:t>Example: Data about a student</a:t>
            </a:r>
          </a:p>
          <a:p>
            <a:pPr lvl="1"/>
            <a:r>
              <a:rPr lang="en-US" dirty="0"/>
              <a:t>Name</a:t>
            </a:r>
          </a:p>
          <a:p>
            <a:pPr lvl="1"/>
            <a:r>
              <a:rPr lang="en-US" dirty="0"/>
              <a:t>ID</a:t>
            </a:r>
          </a:p>
          <a:p>
            <a:pPr lvl="1"/>
            <a:r>
              <a:rPr lang="en-US" dirty="0"/>
              <a:t>Program</a:t>
            </a:r>
          </a:p>
          <a:p>
            <a:pPr lvl="1"/>
            <a:r>
              <a:rPr lang="en-US" dirty="0"/>
              <a:t>Year</a:t>
            </a:r>
          </a:p>
          <a:p>
            <a:pPr lvl="1"/>
            <a:r>
              <a:rPr lang="en-US" dirty="0"/>
              <a:t>GPA</a:t>
            </a:r>
          </a:p>
        </p:txBody>
      </p:sp>
    </p:spTree>
    <p:extLst>
      <p:ext uri="{BB962C8B-B14F-4D97-AF65-F5344CB8AC3E}">
        <p14:creationId xmlns:p14="http://schemas.microsoft.com/office/powerpoint/2010/main" val="2303699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A3D30-F1BA-4963-B39C-33A9F1C93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vs. Information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443E1-DC0F-4B23-A1B9-8058DD723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Low &lt;------- level of abstraction -----</a:t>
            </a:r>
            <a:r>
              <a:rPr lang="en-US" dirty="0">
                <a:sym typeface="Wingdings" panose="05000000000000000000" pitchFamily="2" charset="2"/>
              </a:rPr>
              <a:t> High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 Data  (apply meaning)  Information 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E.g. 				Data: red octagon, white 						border with letters S, T, O, P.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					Information: A stop sign.</a:t>
            </a:r>
            <a:endParaRPr lang="en-US" dirty="0"/>
          </a:p>
          <a:p>
            <a:endParaRPr lang="en-CA" dirty="0"/>
          </a:p>
        </p:txBody>
      </p:sp>
      <p:pic>
        <p:nvPicPr>
          <p:cNvPr id="1030" name="Picture 6" descr="Stop Sign - Solution Ticket">
            <a:extLst>
              <a:ext uri="{FF2B5EF4-FFF2-40B4-BE49-F238E27FC236}">
                <a16:creationId xmlns:a16="http://schemas.microsoft.com/office/drawing/2014/main" id="{5AAD8025-C83B-4DE4-AB95-9A1699A8CC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5480" y="3300654"/>
            <a:ext cx="2962593" cy="1975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9146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56BF2-98E9-4572-88E5-D4C8184BE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 vs. Data Structures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92D6E-2655-4E1F-AA1C-C31B0712C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Type: classification of data, logical description that determines possible values of the type and the operations that can be done on it</a:t>
            </a:r>
          </a:p>
          <a:p>
            <a:pPr lvl="1"/>
            <a:r>
              <a:rPr lang="en-US" dirty="0"/>
              <a:t>E.g. integers – whole numbers, no decimal points</a:t>
            </a:r>
          </a:p>
          <a:p>
            <a:endParaRPr lang="en-US" dirty="0"/>
          </a:p>
          <a:p>
            <a:r>
              <a:rPr lang="en-US" dirty="0"/>
              <a:t>Data Structure: implementation of data types, concrete actual representation of data, a particular way of storing and organizing data</a:t>
            </a:r>
          </a:p>
          <a:p>
            <a:pPr lvl="1"/>
            <a:r>
              <a:rPr lang="en-US" dirty="0"/>
              <a:t>E.g. Java INT – exactly 4 bytes to represent value from          -2,147,483,648 to +2,147,483,647 (=2</a:t>
            </a:r>
            <a:r>
              <a:rPr lang="en-US" baseline="30000" dirty="0"/>
              <a:t>31</a:t>
            </a:r>
            <a:r>
              <a:rPr lang="en-US" dirty="0"/>
              <a:t>, 1 bit for sign)</a:t>
            </a:r>
          </a:p>
          <a:p>
            <a:endParaRPr lang="en-US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90806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EB189-CB68-4D2C-81CF-A3588F96B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Data Types (ADT)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2DE50-F6D8-4F7E-98DC-3B2A3D23F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altLang="en-US" sz="2800" dirty="0"/>
              <a:t>A </a:t>
            </a:r>
            <a:r>
              <a:rPr lang="fr-CA" altLang="en-US" sz="2800" dirty="0"/>
              <a:t>(</a:t>
            </a:r>
            <a:r>
              <a:rPr lang="en-CA" altLang="en-US" sz="2800" dirty="0"/>
              <a:t>mathematically</a:t>
            </a:r>
            <a:r>
              <a:rPr lang="fr-CA" altLang="en-US" sz="2800" dirty="0"/>
              <a:t>)</a:t>
            </a:r>
            <a:r>
              <a:rPr lang="en-CA" altLang="en-US" sz="2800" dirty="0"/>
              <a:t> specified model of data-storing entities with operations on that data</a:t>
            </a:r>
            <a:endParaRPr lang="en-CA" altLang="en-US" sz="2400" dirty="0"/>
          </a:p>
          <a:p>
            <a:pPr lvl="1"/>
            <a:r>
              <a:rPr lang="en-CA" altLang="en-US" dirty="0"/>
              <a:t>A</a:t>
            </a:r>
            <a:r>
              <a:rPr lang="en-CA" altLang="en-US" sz="2400" dirty="0"/>
              <a:t>n ADT specifies </a:t>
            </a:r>
            <a:r>
              <a:rPr lang="en-CA" altLang="en-US" sz="2400" b="1" dirty="0"/>
              <a:t>what</a:t>
            </a:r>
            <a:r>
              <a:rPr lang="en-CA" altLang="en-US" sz="2400" dirty="0"/>
              <a:t> each operation does, but </a:t>
            </a:r>
            <a:r>
              <a:rPr lang="en-CA" altLang="en-US" sz="2400" b="1" dirty="0"/>
              <a:t>not how</a:t>
            </a:r>
            <a:r>
              <a:rPr lang="en-CA" altLang="en-US" sz="2400" dirty="0"/>
              <a:t> it does it!</a:t>
            </a:r>
          </a:p>
          <a:p>
            <a:pPr lvl="2"/>
            <a:r>
              <a:rPr lang="en-CA" altLang="en-US" dirty="0"/>
              <a:t>A data type that does not specify an implementation</a:t>
            </a:r>
          </a:p>
          <a:p>
            <a:pPr lvl="2"/>
            <a:r>
              <a:rPr lang="en-CA" altLang="en-US" dirty="0"/>
              <a:t>Logical description of the data and operations/rules to access or manipulate the data</a:t>
            </a:r>
          </a:p>
          <a:p>
            <a:pPr lvl="1"/>
            <a:r>
              <a:rPr lang="en-CA" altLang="en-US" dirty="0"/>
              <a:t>A</a:t>
            </a:r>
            <a:r>
              <a:rPr lang="en-CA" altLang="en-US" sz="2400" dirty="0"/>
              <a:t>n ADT is realized/implemented by a concrete data structure</a:t>
            </a:r>
          </a:p>
          <a:p>
            <a:pPr lvl="2"/>
            <a:r>
              <a:rPr lang="en-CA" dirty="0"/>
              <a:t>E.g. integers, can add, subtract, compare, etc.</a:t>
            </a:r>
          </a:p>
          <a:p>
            <a:pPr lvl="2"/>
            <a:r>
              <a:rPr lang="en-CA" dirty="0"/>
              <a:t>E.g. text, can append, </a:t>
            </a:r>
            <a:r>
              <a:rPr lang="en-CA" dirty="0" err="1"/>
              <a:t>concat</a:t>
            </a:r>
            <a:r>
              <a:rPr lang="en-CA" dirty="0"/>
              <a:t>, get size, etc.</a:t>
            </a:r>
          </a:p>
        </p:txBody>
      </p:sp>
    </p:spTree>
    <p:extLst>
      <p:ext uri="{BB962C8B-B14F-4D97-AF65-F5344CB8AC3E}">
        <p14:creationId xmlns:p14="http://schemas.microsoft.com/office/powerpoint/2010/main" val="1587382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21BEF-4543-45E2-BD3B-AD43CD6ED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Data Types (ADTs)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B1C39-DFFA-4E6A-B232-6C3843D00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Implementation independent!</a:t>
            </a:r>
          </a:p>
          <a:p>
            <a:pPr lvl="1"/>
            <a:r>
              <a:rPr lang="en-US" dirty="0"/>
              <a:t>E.g. SHORT or INT for integers</a:t>
            </a:r>
          </a:p>
          <a:p>
            <a:pPr lvl="1"/>
            <a:r>
              <a:rPr lang="en-US" dirty="0"/>
              <a:t>E.g. String class for text, can be done with arrays or linked lists</a:t>
            </a:r>
          </a:p>
          <a:p>
            <a:pPr lvl="1"/>
            <a:r>
              <a:rPr lang="en-US" dirty="0"/>
              <a:t>Can be implemented in any language</a:t>
            </a:r>
          </a:p>
          <a:p>
            <a:pPr lvl="1"/>
            <a:endParaRPr lang="en-US" dirty="0"/>
          </a:p>
          <a:p>
            <a:r>
              <a:rPr lang="en-US" dirty="0"/>
              <a:t>ADTs defines the WHAT, not the HOW</a:t>
            </a:r>
          </a:p>
          <a:p>
            <a:pPr lvl="1"/>
            <a:r>
              <a:rPr lang="en-US" dirty="0"/>
              <a:t>Abstraction separates the purpose from implementation</a:t>
            </a:r>
          </a:p>
          <a:p>
            <a:pPr lvl="1"/>
            <a:r>
              <a:rPr lang="en-US" dirty="0"/>
              <a:t>Provides encapsulation, orthogonality and flexibility to maximize effectiveness and efficiency</a:t>
            </a:r>
          </a:p>
        </p:txBody>
      </p:sp>
    </p:spTree>
    <p:extLst>
      <p:ext uri="{BB962C8B-B14F-4D97-AF65-F5344CB8AC3E}">
        <p14:creationId xmlns:p14="http://schemas.microsoft.com/office/powerpoint/2010/main" val="3214626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851B6-807F-49B1-B493-B3A09A626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 vs. Data Structure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7AEDC-7722-45B9-B686-E9D751458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ADT is </a:t>
            </a:r>
            <a:r>
              <a:rPr lang="en-CA" dirty="0"/>
              <a:t>the CONTRACT – what the ADT promises to others, what the ADT is and how you can interact with it!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568734-62E1-4FAC-B451-C127CCE01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8428" y="2747962"/>
            <a:ext cx="7957171" cy="394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731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231D0-0507-4033-8673-CC33220D4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ADTs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AAD4A-B821-423C-A294-515C03BD4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34840" cy="4351338"/>
          </a:xfrm>
        </p:spPr>
        <p:txBody>
          <a:bodyPr>
            <a:normAutofit/>
          </a:bodyPr>
          <a:lstStyle/>
          <a:p>
            <a:r>
              <a:rPr lang="en-US" dirty="0"/>
              <a:t>Usually done as an Interface, mostly to represent </a:t>
            </a:r>
            <a:r>
              <a:rPr lang="en-US" b="1" dirty="0"/>
              <a:t>large sets of data </a:t>
            </a:r>
            <a:r>
              <a:rPr lang="en-US" dirty="0"/>
              <a:t>(collections)</a:t>
            </a:r>
          </a:p>
          <a:p>
            <a:pPr lvl="1"/>
            <a:endParaRPr lang="en-US" dirty="0"/>
          </a:p>
          <a:p>
            <a:r>
              <a:rPr lang="en-US" dirty="0"/>
              <a:t>A class can extend multiple interfaces = only way to achieve multiple inheritance in Java</a:t>
            </a:r>
          </a:p>
          <a:p>
            <a:pPr lvl="1"/>
            <a:endParaRPr lang="en-US" dirty="0"/>
          </a:p>
          <a:p>
            <a:endParaRPr lang="en-CA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5F373C1-3A84-4349-888A-8DA2B64E7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9721" y="1345672"/>
            <a:ext cx="5974080" cy="4966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82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A3F05-22AB-41D9-8865-9B4277740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an ADT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3A9F5-5E36-4F4C-9550-46B6D1941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An ADT specification only tells you WHAT you can expect</a:t>
            </a:r>
          </a:p>
          <a:p>
            <a:pPr lvl="1"/>
            <a:r>
              <a:rPr lang="en-US" altLang="en-US" dirty="0"/>
              <a:t>You can use an ADT without knowledge of its implementation</a:t>
            </a:r>
          </a:p>
          <a:p>
            <a:pPr lvl="6"/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It’s our responsibility as the programmer to follow these specifications</a:t>
            </a:r>
          </a:p>
          <a:p>
            <a:pPr lvl="1"/>
            <a:r>
              <a:rPr lang="en-US" altLang="en-US" dirty="0"/>
              <a:t>This is our contract!</a:t>
            </a:r>
          </a:p>
          <a:p>
            <a:pPr lvl="6"/>
            <a:endParaRPr lang="en-US" altLang="en-US" dirty="0"/>
          </a:p>
          <a:p>
            <a:r>
              <a:rPr lang="en-US" altLang="en-US" dirty="0"/>
              <a:t>Unit tests provided to test your code in this course</a:t>
            </a:r>
          </a:p>
          <a:p>
            <a:pPr lvl="1"/>
            <a:r>
              <a:rPr lang="en-US" altLang="en-US" dirty="0"/>
              <a:t>This will ensure our implementation satisfies the ADT</a:t>
            </a:r>
          </a:p>
        </p:txBody>
      </p:sp>
    </p:spTree>
    <p:extLst>
      <p:ext uri="{BB962C8B-B14F-4D97-AF65-F5344CB8AC3E}">
        <p14:creationId xmlns:p14="http://schemas.microsoft.com/office/powerpoint/2010/main" val="714288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18834-764D-4E96-B820-95DC7082F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CounterADT</a:t>
            </a:r>
            <a:r>
              <a:rPr lang="en-US" dirty="0"/>
              <a:t> Exercise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FD9B5-5C43-4917-8EB8-B3F7FB23B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will be implementing a class called Counter. An object of this class will be used to count things, so it will record a count that is a non-negative whole number. This class can set the counter to a given integer, increase the counter by 1, and decrease the counter by 1. It can also return the current count as an integer and a string to be displayed on the screen. It has the ability to determine if the counter is zero at any given point in time.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66161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91273-2CA0-4B29-B615-485F5BEA0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the Problem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ED48F-E69B-4F34-AADD-C21D514B6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  <a:p>
            <a:r>
              <a:rPr lang="en-US" dirty="0"/>
              <a:t>What can go wrong? Non-negative value!</a:t>
            </a:r>
          </a:p>
          <a:p>
            <a:pPr lvl="1"/>
            <a:r>
              <a:rPr lang="en-CA" dirty="0"/>
              <a:t>Throws </a:t>
            </a:r>
            <a:r>
              <a:rPr lang="en-CA" dirty="0" err="1"/>
              <a:t>InvalidCounterException</a:t>
            </a:r>
            <a:r>
              <a:rPr lang="en-CA" dirty="0"/>
              <a:t> when object is mutated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236E1F1-D3CF-4C5A-A427-663B131E08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3422562"/>
              </p:ext>
            </p:extLst>
          </p:nvPr>
        </p:nvGraphicFramePr>
        <p:xfrm>
          <a:off x="4045465" y="1516696"/>
          <a:ext cx="4101069" cy="33448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101069">
                  <a:extLst>
                    <a:ext uri="{9D8B030D-6E8A-4147-A177-3AD203B41FA5}">
                      <a16:colId xmlns:a16="http://schemas.microsoft.com/office/drawing/2014/main" val="797646987"/>
                    </a:ext>
                  </a:extLst>
                </a:gridCol>
              </a:tblGrid>
              <a:tr h="36135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2000">
                          <a:effectLst/>
                        </a:rPr>
                        <a:t>Counter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46415721"/>
                  </a:ext>
                </a:extLst>
              </a:tr>
              <a:tr h="44285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2000" dirty="0">
                          <a:effectLst/>
                        </a:rPr>
                        <a:t>- counter: int</a:t>
                      </a:r>
                      <a:endParaRPr lang="en-CA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510013"/>
                  </a:ext>
                </a:extLst>
              </a:tr>
              <a:tr h="25406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2000" dirty="0">
                          <a:effectLst/>
                        </a:rPr>
                        <a:t>+ </a:t>
                      </a:r>
                      <a:r>
                        <a:rPr lang="en-CA" sz="2000" dirty="0" err="1">
                          <a:effectLst/>
                        </a:rPr>
                        <a:t>setCounter</a:t>
                      </a:r>
                      <a:r>
                        <a:rPr lang="en-CA" sz="2000" dirty="0">
                          <a:effectLst/>
                        </a:rPr>
                        <a:t>( num: int ) : void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2000" dirty="0">
                          <a:effectLst/>
                        </a:rPr>
                        <a:t>+ </a:t>
                      </a:r>
                      <a:r>
                        <a:rPr lang="en-CA" sz="2000" dirty="0" err="1">
                          <a:effectLst/>
                        </a:rPr>
                        <a:t>incCounter</a:t>
                      </a:r>
                      <a:r>
                        <a:rPr lang="en-CA" sz="2000" dirty="0">
                          <a:effectLst/>
                        </a:rPr>
                        <a:t>() : void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2000" dirty="0">
                          <a:effectLst/>
                        </a:rPr>
                        <a:t>+ </a:t>
                      </a:r>
                      <a:r>
                        <a:rPr lang="en-CA" sz="2000" dirty="0" err="1">
                          <a:effectLst/>
                        </a:rPr>
                        <a:t>decCounter</a:t>
                      </a:r>
                      <a:r>
                        <a:rPr lang="en-CA" sz="2000" dirty="0">
                          <a:effectLst/>
                        </a:rPr>
                        <a:t>() : void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2000" dirty="0">
                          <a:effectLst/>
                        </a:rPr>
                        <a:t>+ </a:t>
                      </a:r>
                      <a:r>
                        <a:rPr lang="en-CA" sz="2000" dirty="0" err="1">
                          <a:effectLst/>
                        </a:rPr>
                        <a:t>getCounter</a:t>
                      </a:r>
                      <a:r>
                        <a:rPr lang="en-CA" sz="2000" dirty="0">
                          <a:effectLst/>
                        </a:rPr>
                        <a:t>() : int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2000" dirty="0">
                          <a:effectLst/>
                        </a:rPr>
                        <a:t>+ </a:t>
                      </a:r>
                      <a:r>
                        <a:rPr lang="en-CA" sz="2000" dirty="0" err="1">
                          <a:effectLst/>
                        </a:rPr>
                        <a:t>toString</a:t>
                      </a:r>
                      <a:r>
                        <a:rPr lang="en-CA" sz="2000" dirty="0">
                          <a:effectLst/>
                        </a:rPr>
                        <a:t>() : String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2000" dirty="0">
                          <a:effectLst/>
                        </a:rPr>
                        <a:t>+ </a:t>
                      </a:r>
                      <a:r>
                        <a:rPr lang="en-CA" sz="2000" dirty="0" err="1">
                          <a:effectLst/>
                        </a:rPr>
                        <a:t>isZero</a:t>
                      </a:r>
                      <a:r>
                        <a:rPr lang="en-CA" sz="2000" dirty="0">
                          <a:effectLst/>
                        </a:rPr>
                        <a:t>() : Boolean</a:t>
                      </a:r>
                      <a:endParaRPr lang="en-CA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77407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91387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AD0DD-005C-41C5-83AA-FF80D3991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the Interface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BC717-D95D-4873-8242-7D3C7162C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CounterADT.java</a:t>
            </a:r>
          </a:p>
          <a:p>
            <a:pPr lvl="2"/>
            <a:endParaRPr lang="en-US" dirty="0"/>
          </a:p>
          <a:p>
            <a:r>
              <a:rPr lang="en-CA" dirty="0"/>
              <a:t>Reading the documentation is CRITICAL!</a:t>
            </a:r>
          </a:p>
          <a:p>
            <a:pPr lvl="1"/>
            <a:r>
              <a:rPr lang="en-CA" dirty="0"/>
              <a:t>Just as you would read the Java API to understand how to use a class and its methods, we need to interpret what is expected from the ADT!</a:t>
            </a:r>
          </a:p>
          <a:p>
            <a:pPr lvl="3"/>
            <a:endParaRPr lang="en-CA" dirty="0"/>
          </a:p>
          <a:p>
            <a:r>
              <a:rPr lang="en-CA" b="1" dirty="0"/>
              <a:t>Class header description: </a:t>
            </a:r>
            <a:r>
              <a:rPr lang="en-CA" dirty="0"/>
              <a:t>the purpose of the class</a:t>
            </a:r>
            <a:endParaRPr lang="en-CA" b="1" dirty="0"/>
          </a:p>
          <a:p>
            <a:r>
              <a:rPr lang="en-CA" b="1" dirty="0"/>
              <a:t>Method signature specification: </a:t>
            </a:r>
            <a:r>
              <a:rPr lang="en-CA" dirty="0"/>
              <a:t>how each method will operate</a:t>
            </a:r>
          </a:p>
        </p:txBody>
      </p:sp>
    </p:spTree>
    <p:extLst>
      <p:ext uri="{BB962C8B-B14F-4D97-AF65-F5344CB8AC3E}">
        <p14:creationId xmlns:p14="http://schemas.microsoft.com/office/powerpoint/2010/main" val="2226208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749ED-853B-494F-B56E-05F8FCC61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 Specifications in Java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5E7CC-5050-4C35-9DF0-0F8272B51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Javadoc tells us how to implement the ADT operations:</a:t>
            </a:r>
          </a:p>
          <a:p>
            <a:pPr lvl="1"/>
            <a:r>
              <a:rPr lang="en-US" dirty="0"/>
              <a:t>What inputs are needed</a:t>
            </a:r>
          </a:p>
          <a:p>
            <a:pPr lvl="1"/>
            <a:r>
              <a:rPr lang="en-US" dirty="0"/>
              <a:t>What outputs are generated</a:t>
            </a:r>
          </a:p>
          <a:p>
            <a:pPr lvl="1"/>
            <a:r>
              <a:rPr lang="en-US" dirty="0"/>
              <a:t>What can go wrong?</a:t>
            </a:r>
            <a:endParaRPr lang="en-CA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D32035-17CA-43C1-B076-9C0678EF79C1}"/>
              </a:ext>
            </a:extLst>
          </p:cNvPr>
          <p:cNvSpPr/>
          <p:nvPr/>
        </p:nvSpPr>
        <p:spPr>
          <a:xfrm>
            <a:off x="4632960" y="4221480"/>
            <a:ext cx="2286000" cy="579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Method</a:t>
            </a:r>
            <a:endParaRPr lang="en-CA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AD77506-0000-4664-B3F1-C469110AE4BC}"/>
              </a:ext>
            </a:extLst>
          </p:cNvPr>
          <p:cNvSpPr/>
          <p:nvPr/>
        </p:nvSpPr>
        <p:spPr>
          <a:xfrm>
            <a:off x="1813560" y="4221480"/>
            <a:ext cx="1783080" cy="57912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Parameters</a:t>
            </a:r>
            <a:endParaRPr lang="en-CA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537E855-38F4-42B4-85B2-76DF708154E4}"/>
              </a:ext>
            </a:extLst>
          </p:cNvPr>
          <p:cNvSpPr/>
          <p:nvPr/>
        </p:nvSpPr>
        <p:spPr>
          <a:xfrm>
            <a:off x="7955280" y="4206240"/>
            <a:ext cx="1783080" cy="57912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 </a:t>
            </a:r>
            <a:endParaRPr lang="en-CA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BC1803B-F3FD-46C2-A084-EBCA97D68386}"/>
              </a:ext>
            </a:extLst>
          </p:cNvPr>
          <p:cNvSpPr/>
          <p:nvPr/>
        </p:nvSpPr>
        <p:spPr>
          <a:xfrm>
            <a:off x="4884420" y="5486400"/>
            <a:ext cx="1783080" cy="57912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Exceptions</a:t>
            </a:r>
            <a:endParaRPr lang="en-CA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A9F2625-6239-4C63-A101-3A593499E6DA}"/>
              </a:ext>
            </a:extLst>
          </p:cNvPr>
          <p:cNvCxnSpPr>
            <a:stCxn id="6" idx="3"/>
            <a:endCxn id="5" idx="1"/>
          </p:cNvCxnSpPr>
          <p:nvPr/>
        </p:nvCxnSpPr>
        <p:spPr>
          <a:xfrm>
            <a:off x="3596640" y="4511040"/>
            <a:ext cx="1036320" cy="0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754A4BA-469F-49A8-97EC-63C2A94ADD29}"/>
              </a:ext>
            </a:extLst>
          </p:cNvPr>
          <p:cNvCxnSpPr/>
          <p:nvPr/>
        </p:nvCxnSpPr>
        <p:spPr>
          <a:xfrm>
            <a:off x="6918960" y="4511040"/>
            <a:ext cx="1036320" cy="0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D122F3C-DD98-4EFE-B36D-54AEF176A75A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5775960" y="4800600"/>
            <a:ext cx="0" cy="685800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45850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9AA48-740B-4C52-AC87-C91E5F326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Operations (Method Types)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1EEFC-07B1-43BE-89D8-14CE011B0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Constructors – creates the ADT and initializes state</a:t>
            </a:r>
          </a:p>
          <a:p>
            <a:r>
              <a:rPr lang="en-US" dirty="0"/>
              <a:t>Accessors (Getters) – returns a value from the collections or the whole collection, or some information about the ADT</a:t>
            </a:r>
          </a:p>
          <a:p>
            <a:pPr lvl="1"/>
            <a:r>
              <a:rPr lang="en-US" dirty="0"/>
              <a:t>next(), min(), size()</a:t>
            </a:r>
          </a:p>
          <a:p>
            <a:r>
              <a:rPr lang="en-US" dirty="0"/>
              <a:t>Mutators (Setters) – modifies the collection in any way</a:t>
            </a:r>
          </a:p>
          <a:p>
            <a:pPr lvl="1"/>
            <a:r>
              <a:rPr lang="en-US" dirty="0"/>
              <a:t>add(), replace(), clear()</a:t>
            </a:r>
          </a:p>
          <a:p>
            <a:r>
              <a:rPr lang="en-US" dirty="0"/>
              <a:t>Transformers – similar to getters but changes the data value or type being returned</a:t>
            </a:r>
          </a:p>
          <a:p>
            <a:pPr lvl="1"/>
            <a:r>
              <a:rPr lang="en-US" dirty="0" err="1"/>
              <a:t>isEmpty</a:t>
            </a:r>
            <a:r>
              <a:rPr lang="en-US" dirty="0"/>
              <a:t>(), </a:t>
            </a:r>
            <a:r>
              <a:rPr lang="en-US" dirty="0" err="1"/>
              <a:t>toString</a:t>
            </a:r>
            <a:r>
              <a:rPr lang="en-US" dirty="0"/>
              <a:t>(), </a:t>
            </a:r>
            <a:r>
              <a:rPr lang="en-US" dirty="0" err="1"/>
              <a:t>hashCode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2983696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F6AD4-6E6A-153B-6E8C-7FCB6DFEA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the Unit Tests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BE83937-D098-E539-B990-1C17D84D91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72021" y="1601573"/>
            <a:ext cx="9326927" cy="3982850"/>
          </a:xfrm>
        </p:spPr>
      </p:pic>
    </p:spTree>
    <p:extLst>
      <p:ext uri="{BB962C8B-B14F-4D97-AF65-F5344CB8AC3E}">
        <p14:creationId xmlns:p14="http://schemas.microsoft.com/office/powerpoint/2010/main" val="23145076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BC3B8-822A-5E50-0E66-1A3DA8DEA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C3A2E-F0EA-DCE0-C02F-8E3741152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few specific steps to follow first:</a:t>
            </a:r>
          </a:p>
          <a:p>
            <a:pPr lvl="1"/>
            <a:r>
              <a:rPr lang="en-US" dirty="0"/>
              <a:t>Create Counter class that implements the </a:t>
            </a:r>
            <a:r>
              <a:rPr lang="en-US" dirty="0" err="1"/>
              <a:t>CounterADT</a:t>
            </a:r>
            <a:r>
              <a:rPr lang="en-US" dirty="0"/>
              <a:t> interface</a:t>
            </a:r>
          </a:p>
          <a:p>
            <a:pPr lvl="2"/>
            <a:r>
              <a:rPr lang="en-US" dirty="0"/>
              <a:t>Add all inherited methods</a:t>
            </a:r>
          </a:p>
          <a:p>
            <a:pPr lvl="1"/>
            <a:r>
              <a:rPr lang="en-US" dirty="0"/>
              <a:t>All tests should fail right now!</a:t>
            </a:r>
          </a:p>
          <a:p>
            <a:pPr lvl="2"/>
            <a:r>
              <a:rPr lang="en-US" dirty="0"/>
              <a:t>It’s ok! Nothing is “wrong” – this </a:t>
            </a:r>
            <a:r>
              <a:rPr lang="en-US"/>
              <a:t>is normal!</a:t>
            </a:r>
            <a:endParaRPr lang="en-US" dirty="0"/>
          </a:p>
          <a:p>
            <a:pPr lvl="8"/>
            <a:endParaRPr lang="en-US" dirty="0"/>
          </a:p>
          <a:p>
            <a:r>
              <a:rPr lang="en-US" dirty="0"/>
              <a:t>Pick one method and one corresponding test, write the code to pass the test!</a:t>
            </a:r>
          </a:p>
          <a:p>
            <a:pPr lvl="1"/>
            <a:r>
              <a:rPr lang="en-US" dirty="0"/>
              <a:t>Don’t try to add anything extra or fancy yet!</a:t>
            </a:r>
          </a:p>
          <a:p>
            <a:pPr lvl="1"/>
            <a:r>
              <a:rPr lang="en-US" dirty="0"/>
              <a:t>Keep it simple! You can always refactor later!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91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EC462-D2F0-4D8F-918A-62473B29E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0A64204-984F-FEDF-58A3-2EC8BBFDBE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633556" y="512976"/>
            <a:ext cx="5335886" cy="5335886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058E38-504C-4597-9513-BBB9B500E32B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58" y="527795"/>
            <a:ext cx="6126373" cy="53062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5049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AIT Colour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DA291C"/>
      </a:accent1>
      <a:accent2>
        <a:srgbClr val="A6192E"/>
      </a:accent2>
      <a:accent3>
        <a:srgbClr val="00A3E0"/>
      </a:accent3>
      <a:accent4>
        <a:srgbClr val="005EB8"/>
      </a:accent4>
      <a:accent5>
        <a:srgbClr val="6D2077"/>
      </a:accent5>
      <a:accent6>
        <a:srgbClr val="222222"/>
      </a:accent6>
      <a:hlink>
        <a:srgbClr val="515151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IT_PPT_Colour_16x9_Template" id="{9343D8A7-6800-F640-AE70-45A3E4AC5BF3}" vid="{216E120B-4FD9-D941-8FC7-0244918ABF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A7A08E10BB9F4EB426573AFF383D08" ma:contentTypeVersion="13" ma:contentTypeDescription="Create a new document." ma:contentTypeScope="" ma:versionID="22845410a9585231af0adf5336926100">
  <xsd:schema xmlns:xsd="http://www.w3.org/2001/XMLSchema" xmlns:xs="http://www.w3.org/2001/XMLSchema" xmlns:p="http://schemas.microsoft.com/office/2006/metadata/properties" xmlns:ns3="22c1c382-f30e-45be-99ad-9e3813d041f0" xmlns:ns4="24fd3dd9-5dcd-4486-bc0a-d8936a75df3d" targetNamespace="http://schemas.microsoft.com/office/2006/metadata/properties" ma:root="true" ma:fieldsID="7e802c8fd4dd5c42d6f1044914ac5686" ns3:_="" ns4:_="">
    <xsd:import namespace="22c1c382-f30e-45be-99ad-9e3813d041f0"/>
    <xsd:import namespace="24fd3dd9-5dcd-4486-bc0a-d8936a75df3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c1c382-f30e-45be-99ad-9e3813d041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fd3dd9-5dcd-4486-bc0a-d8936a75df3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7ED6175-43D6-4783-A3E1-222536DD8585}">
  <ds:schemaRefs>
    <ds:schemaRef ds:uri="http://schemas.microsoft.com/office/2006/documentManagement/types"/>
    <ds:schemaRef ds:uri="http://www.w3.org/XML/1998/namespace"/>
    <ds:schemaRef ds:uri="http://purl.org/dc/terms/"/>
    <ds:schemaRef ds:uri="http://purl.org/dc/elements/1.1/"/>
    <ds:schemaRef ds:uri="http://schemas.microsoft.com/office/2006/metadata/properties"/>
    <ds:schemaRef ds:uri="http://purl.org/dc/dcmitype/"/>
    <ds:schemaRef ds:uri="http://schemas.openxmlformats.org/package/2006/metadata/core-properties"/>
    <ds:schemaRef ds:uri="22c1c382-f30e-45be-99ad-9e3813d041f0"/>
    <ds:schemaRef ds:uri="http://schemas.microsoft.com/office/infopath/2007/PartnerControls"/>
    <ds:schemaRef ds:uri="24fd3dd9-5dcd-4486-bc0a-d8936a75df3d"/>
  </ds:schemaRefs>
</ds:datastoreItem>
</file>

<file path=customXml/itemProps2.xml><?xml version="1.0" encoding="utf-8"?>
<ds:datastoreItem xmlns:ds="http://schemas.openxmlformats.org/officeDocument/2006/customXml" ds:itemID="{62B5848D-4FF4-414B-8514-C164EA6D0FA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2125CF4-DB19-4869-9CA1-E671A7D4A4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2c1c382-f30e-45be-99ad-9e3813d041f0"/>
    <ds:schemaRef ds:uri="24fd3dd9-5dcd-4486-bc0a-d8936a75df3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60593</TotalTime>
  <Words>1490</Words>
  <Application>Microsoft Office PowerPoint</Application>
  <PresentationFormat>Widescreen</PresentationFormat>
  <Paragraphs>170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Verdana</vt:lpstr>
      <vt:lpstr>Wingdings</vt:lpstr>
      <vt:lpstr>Office Theme</vt:lpstr>
      <vt:lpstr>Abstract Data Type and Data Structures</vt:lpstr>
      <vt:lpstr>The Four Pillars of OOP</vt:lpstr>
      <vt:lpstr>Abstraction</vt:lpstr>
      <vt:lpstr>Data</vt:lpstr>
      <vt:lpstr>Data vs. Information</vt:lpstr>
      <vt:lpstr>Data Type vs. Data Structures</vt:lpstr>
      <vt:lpstr>Abstract Data Types (ADT)</vt:lpstr>
      <vt:lpstr>Abstract Data Types (ADTs)</vt:lpstr>
      <vt:lpstr>ADT vs. Data Structure</vt:lpstr>
      <vt:lpstr>Java ADTs</vt:lpstr>
      <vt:lpstr>Implementing an ADT</vt:lpstr>
      <vt:lpstr>CounterADT Exercise</vt:lpstr>
      <vt:lpstr>Understanding the Problem</vt:lpstr>
      <vt:lpstr>Analysis the Interface</vt:lpstr>
      <vt:lpstr>ADT Specifications in Java</vt:lpstr>
      <vt:lpstr>Common Operations (Method Types)</vt:lpstr>
      <vt:lpstr>Review the Unit Tests</vt:lpstr>
      <vt:lpstr>The Implementation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Kitty Wong</dc:creator>
  <cp:lastModifiedBy>Kitty Wong</cp:lastModifiedBy>
  <cp:revision>155</cp:revision>
  <dcterms:created xsi:type="dcterms:W3CDTF">2016-04-05T14:17:30Z</dcterms:created>
  <dcterms:modified xsi:type="dcterms:W3CDTF">2026-08-26T04:52:37Z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0x010100AEA7A08E10BB9F4EB426573AFF383D08</vt:lpwstr>
  </property>
</Properties>
</file>