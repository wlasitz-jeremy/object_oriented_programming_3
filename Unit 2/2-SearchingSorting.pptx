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8" r:id="rId2"/>
    <p:sldId id="266" r:id="rId3"/>
    <p:sldId id="304" r:id="rId4"/>
    <p:sldId id="305" r:id="rId5"/>
    <p:sldId id="306" r:id="rId6"/>
    <p:sldId id="307" r:id="rId7"/>
    <p:sldId id="308" r:id="rId8"/>
    <p:sldId id="309" r:id="rId9"/>
    <p:sldId id="338" r:id="rId10"/>
    <p:sldId id="310" r:id="rId11"/>
    <p:sldId id="311" r:id="rId12"/>
    <p:sldId id="313" r:id="rId13"/>
    <p:sldId id="312" r:id="rId14"/>
    <p:sldId id="319" r:id="rId15"/>
    <p:sldId id="314" r:id="rId16"/>
    <p:sldId id="320" r:id="rId17"/>
    <p:sldId id="321" r:id="rId18"/>
    <p:sldId id="322" r:id="rId19"/>
    <p:sldId id="323" r:id="rId20"/>
    <p:sldId id="339" r:id="rId21"/>
    <p:sldId id="340" r:id="rId22"/>
    <p:sldId id="341" r:id="rId23"/>
    <p:sldId id="342" r:id="rId24"/>
    <p:sldId id="343" r:id="rId25"/>
    <p:sldId id="344" r:id="rId26"/>
    <p:sldId id="315" r:id="rId27"/>
    <p:sldId id="316" r:id="rId28"/>
    <p:sldId id="317" r:id="rId29"/>
    <p:sldId id="318" r:id="rId30"/>
    <p:sldId id="345" r:id="rId31"/>
    <p:sldId id="346" r:id="rId32"/>
    <p:sldId id="347" r:id="rId33"/>
    <p:sldId id="348" r:id="rId34"/>
    <p:sldId id="349" r:id="rId35"/>
    <p:sldId id="324" r:id="rId36"/>
    <p:sldId id="32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4" autoAdjust="0"/>
    <p:restoredTop sz="55968" autoAdjust="0"/>
  </p:normalViewPr>
  <p:slideViewPr>
    <p:cSldViewPr snapToGrid="0" snapToObjects="1" showGuides="1">
      <p:cViewPr varScale="1">
        <p:scale>
          <a:sx n="57" d="100"/>
          <a:sy n="57" d="100"/>
        </p:scale>
        <p:origin x="102" y="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Wong" userId="934a16c2-3b82-4a04-8cf4-72a5c39a78f6" providerId="ADAL" clId="{6624BDA5-5E62-4DCD-AC58-5D64DFC703A6}"/>
    <pc:docChg chg="undo custSel modSld">
      <pc:chgData name="Kitty Wong" userId="934a16c2-3b82-4a04-8cf4-72a5c39a78f6" providerId="ADAL" clId="{6624BDA5-5E62-4DCD-AC58-5D64DFC703A6}" dt="2026-05-06T04:59:37.548" v="242" actId="20577"/>
      <pc:docMkLst>
        <pc:docMk/>
      </pc:docMkLst>
      <pc:sldChg chg="modSp mod">
        <pc:chgData name="Kitty Wong" userId="934a16c2-3b82-4a04-8cf4-72a5c39a78f6" providerId="ADAL" clId="{6624BDA5-5E62-4DCD-AC58-5D64DFC703A6}" dt="2026-05-05T06:22:33.207" v="2" actId="20577"/>
        <pc:sldMkLst>
          <pc:docMk/>
          <pc:sldMk cId="712547841" sldId="258"/>
        </pc:sldMkLst>
        <pc:spChg chg="mod">
          <ac:chgData name="Kitty Wong" userId="934a16c2-3b82-4a04-8cf4-72a5c39a78f6" providerId="ADAL" clId="{6624BDA5-5E62-4DCD-AC58-5D64DFC703A6}" dt="2026-05-05T06:22:33.207" v="2" actId="20577"/>
          <ac:spMkLst>
            <pc:docMk/>
            <pc:sldMk cId="712547841" sldId="258"/>
            <ac:spMk id="4" creationId="{CE4D4B33-3A5F-4979-822B-8FAADD5E5A7F}"/>
          </ac:spMkLst>
        </pc:spChg>
      </pc:sldChg>
      <pc:sldChg chg="modSp mod">
        <pc:chgData name="Kitty Wong" userId="934a16c2-3b82-4a04-8cf4-72a5c39a78f6" providerId="ADAL" clId="{6624BDA5-5E62-4DCD-AC58-5D64DFC703A6}" dt="2026-05-06T04:59:37.548" v="242" actId="20577"/>
        <pc:sldMkLst>
          <pc:docMk/>
          <pc:sldMk cId="1429621119" sldId="344"/>
        </pc:sldMkLst>
        <pc:spChg chg="mod">
          <ac:chgData name="Kitty Wong" userId="934a16c2-3b82-4a04-8cf4-72a5c39a78f6" providerId="ADAL" clId="{6624BDA5-5E62-4DCD-AC58-5D64DFC703A6}" dt="2026-05-06T04:52:56.417" v="8" actId="20577"/>
          <ac:spMkLst>
            <pc:docMk/>
            <pc:sldMk cId="1429621119" sldId="344"/>
            <ac:spMk id="2" creationId="{26218C6C-AC38-4201-A641-521C70A8212A}"/>
          </ac:spMkLst>
        </pc:spChg>
        <pc:spChg chg="mod">
          <ac:chgData name="Kitty Wong" userId="934a16c2-3b82-4a04-8cf4-72a5c39a78f6" providerId="ADAL" clId="{6624BDA5-5E62-4DCD-AC58-5D64DFC703A6}" dt="2026-05-06T04:59:37.548" v="242" actId="20577"/>
          <ac:spMkLst>
            <pc:docMk/>
            <pc:sldMk cId="1429621119" sldId="344"/>
            <ac:spMk id="3" creationId="{F37954D6-174B-453F-96C4-7B1E8E5672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5150-9119-490A-A216-3D2FA22F7FFC}" type="datetimeFigureOut">
              <a:rPr lang="en-CA" smtClean="0"/>
              <a:t>2026-05-05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F01B0-FE71-4C35-BC11-34BCAF52C4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7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arable-vs-comparator-in-java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Strategy_pattern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ctionary.com/cgi-bin/dict.pl?term=ordering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dictionary.com/cgi-bin/dict.pl?term=heap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45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different data structures will dictate how our code can traverse and access every item! Thus “Data structures and algorithms”!!!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7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vector (or mutable </a:t>
            </a:r>
            <a:r>
              <a:rPr lang="en-US"/>
              <a:t>Python arrays) </a:t>
            </a:r>
            <a:r>
              <a:rPr lang="en-US" dirty="0"/>
              <a:t>is just an illusion – an array that is re-created to be bigger when you reach the max size!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401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identifier = a, stored in array of memory (stack). T = type of data </a:t>
            </a:r>
            <a:r>
              <a:rPr lang="en-US" dirty="0">
                <a:sym typeface="Wingdings" panose="05000000000000000000" pitchFamily="2" charset="2"/>
              </a:rPr>
              <a:t> T[ ] = array of data type 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5021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heap has a default size which varies with the version of the JVM, this value can be modified through a setting.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876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381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Another popular notation uses a colon – a [l : r].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1726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Sorting by default, implies it is in ascending order… but we could also explicitly state that a collection of data is sorted in descending order – where every element is greater than or equal to the element on its right.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Note: this comparison is the core of sorting data! We must have a way to compare 2 elements and determine which is “less”. Primitive types in Java uses the comparison operators, but what about all other data types?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02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= “https://www.geeksforgeeks.org/interfaces-in-java/”</a:t>
            </a:r>
          </a:p>
          <a:p>
            <a:endParaRPr lang="en-US" dirty="0"/>
          </a:p>
          <a:p>
            <a:r>
              <a:rPr lang="en-US"/>
              <a:t>Review: https://www.w3schools.com/cs/cs_interface.php</a:t>
            </a:r>
            <a:endParaRPr lang="en-US" dirty="0"/>
          </a:p>
          <a:p>
            <a:endParaRPr lang="en-US" dirty="0"/>
          </a:p>
          <a:p>
            <a:r>
              <a:rPr lang="en-US" dirty="0"/>
              <a:t>Check out the “abstractVSinterface.pdf” on D2L under Contents -&gt; Student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973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https://www.geeksforgeeks.org/comparable-vs-comparator-in-java/</a:t>
            </a:r>
            <a:endParaRPr lang="en-US" dirty="0"/>
          </a:p>
          <a:p>
            <a:endParaRPr lang="en-GB" altLang="en-US" dirty="0"/>
          </a:p>
          <a:p>
            <a:r>
              <a:rPr lang="en-GB" altLang="en-US" dirty="0"/>
              <a:t>Read more about the strategy pattern if you’re interested - </a:t>
            </a:r>
            <a:r>
              <a:rPr lang="en-US" dirty="0">
                <a:hlinkClick r:id="rId4"/>
              </a:rPr>
              <a:t>https://en.wikipedia.org/wiki/Strategy_pattern</a:t>
            </a:r>
            <a:endParaRPr lang="en-US" dirty="0"/>
          </a:p>
          <a:p>
            <a:endParaRPr lang="en-CA" dirty="0"/>
          </a:p>
          <a:p>
            <a:r>
              <a:rPr lang="en-CA" dirty="0"/>
              <a:t>Interfaces in Java does NOT start with </a:t>
            </a:r>
            <a:r>
              <a:rPr lang="en-CA"/>
              <a:t>the letter ‘I’!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4708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Throws:</a:t>
            </a:r>
          </a:p>
          <a:p>
            <a:r>
              <a:rPr lang="en-US" altLang="en-US" dirty="0" err="1"/>
              <a:t>NullPointerException</a:t>
            </a:r>
            <a:r>
              <a:rPr lang="en-US" altLang="en-US" dirty="0"/>
              <a:t> - if the specified object is null</a:t>
            </a:r>
          </a:p>
          <a:p>
            <a:r>
              <a:rPr lang="en-US" altLang="en-US" dirty="0" err="1"/>
              <a:t>ClassCastException</a:t>
            </a:r>
            <a:r>
              <a:rPr lang="en-US" altLang="en-US" dirty="0"/>
              <a:t> - if the specified object's type prevents it from being compared to this object</a:t>
            </a:r>
            <a:endParaRPr lang="en-GB" alt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6127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is a strongly-typed language, this means that the JVM will always try to enforce data types for us and will not allow us to mix data types!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493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out the Student classes in </a:t>
            </a:r>
            <a:r>
              <a:rPr lang="en-US" dirty="0" err="1"/>
              <a:t>comparableVsComparator</a:t>
            </a:r>
            <a:r>
              <a:rPr lang="en-US" dirty="0"/>
              <a:t> package!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1810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3419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you’re searching for the element first – that’s another O(n) you’re doing first!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657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you’re searching for the element first – that’s another O(n) you’re doing first!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6797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/>
              <a:t>Invariant</a:t>
            </a:r>
            <a:r>
              <a:rPr lang="en-US" altLang="en-US" dirty="0"/>
              <a:t>: A </a:t>
            </a:r>
            <a:r>
              <a:rPr lang="en-US" altLang="en-US" u="none" dirty="0">
                <a:solidFill>
                  <a:schemeClr val="tx1"/>
                </a:solidFill>
              </a:rPr>
              <a:t>rule, such as the </a:t>
            </a:r>
            <a:r>
              <a:rPr lang="en-US" altLang="en-US" u="none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ordering</a:t>
            </a:r>
            <a:r>
              <a:rPr lang="en-US" altLang="en-US" u="none" dirty="0">
                <a:solidFill>
                  <a:schemeClr val="tx1"/>
                </a:solidFill>
              </a:rPr>
              <a:t> of an ordered list or </a:t>
            </a:r>
            <a:r>
              <a:rPr lang="en-US" altLang="en-US" u="none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heap</a:t>
            </a:r>
            <a:r>
              <a:rPr lang="en-US" altLang="en-US" u="none" dirty="0">
                <a:solidFill>
                  <a:schemeClr val="tx1"/>
                </a:solidFill>
              </a:rPr>
              <a:t>, that applies throughout the life of a data structure or procedure. Each change to the data structure must maintain the correctness of the invariant.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u="non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3278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array is sorted in ascending order!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2695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8420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81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Check Wikipedia!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7259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“sorted” portion = invariant!</a:t>
            </a:r>
          </a:p>
          <a:p>
            <a:endParaRPr lang="en-US" dirty="0"/>
          </a:p>
          <a:p>
            <a:r>
              <a:rPr lang="en-CA" dirty="0"/>
              <a:t>https://visualgo.net/en/sorting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9221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CS50 channel from Harvard contains a wealth of videos! Check it out for anything you might be interested in learning!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9883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called bubble sort because every pass, you move (bubble) the largest element to the end – like a glass of carbonated drink, the biggest bubble goes up to the top first!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3686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1641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7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54464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some reason, we decided to name certain sorting algorithms without a space (“quicksort”, “heapsort”) and others with a space (“comb sort”, “exchange sort”)… don’t ask me why! </a:t>
            </a:r>
            <a:r>
              <a:rPr lang="en-US"/>
              <a:t>:P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81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first or last or just any static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35147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3 elements is fast, no matter what algorithm you use!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89194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76583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68647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Order matters! 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on’t do it like a human, do it like a computer!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16576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10910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19395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93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3"/>
            <a:ext cx="6845328" cy="2387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8"/>
            <a:ext cx="6845328" cy="1655762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4A6AB35-C22C-4755-9BC8-96579CB6319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904252"/>
            <a:ext cx="3708372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3E21CB55-4C39-4DF9-B29B-0DDB979E079F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-27337"/>
            <a:ext cx="2311400" cy="2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E9DC3DE2-2DBA-41B6-ABDF-9E46BDE3E6CB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horiz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8" y="6176963"/>
            <a:ext cx="165097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CA" dirty="0"/>
              <a:t>Headline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CA"/>
              <a:t>Headline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2672" y="6356350"/>
            <a:ext cx="123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0FE8BCE-6DE9-499B-B47E-840C645FA6F5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7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FG-XuyPYUQ&amp;ab_channel=CS50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8hXR_Hvybo&amp;ab_channel=CS50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JLwnsLn0_Q&amp;ab_channel=ProgrammingwithMosh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eQ8pwjQxTM&amp;ab_channel=CS50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eQ8pwjQxTM&amp;ab_channel=CS50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8eyY7dIiN4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Searching and Sorting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Unit </a:t>
            </a:r>
            <a:r>
              <a:rPr lang="en-US" dirty="0"/>
              <a:t>2</a:t>
            </a:r>
          </a:p>
          <a:p>
            <a:r>
              <a:rPr lang="en-US" dirty="0"/>
              <a:t>CPRG304 – Object-Oriented Programming III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4D4B33-3A5F-4979-822B-8FAADD5E5A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232372" y="6390216"/>
            <a:ext cx="5435628" cy="36512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Kitty Wong © 2026</a:t>
            </a:r>
          </a:p>
        </p:txBody>
      </p:sp>
    </p:spTree>
    <p:extLst>
      <p:ext uri="{BB962C8B-B14F-4D97-AF65-F5344CB8AC3E}">
        <p14:creationId xmlns:p14="http://schemas.microsoft.com/office/powerpoint/2010/main" val="71254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and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837755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Donald Knuth: </a:t>
            </a:r>
          </a:p>
          <a:p>
            <a:pPr lvl="1"/>
            <a:r>
              <a:rPr lang="en-US" dirty="0"/>
              <a:t>“Indeed, I believe that virtually every important aspect of programming arises somewhere in the context of sorting or searching!”</a:t>
            </a:r>
          </a:p>
          <a:p>
            <a:pPr lvl="6"/>
            <a:endParaRPr lang="en-US" dirty="0"/>
          </a:p>
          <a:p>
            <a:r>
              <a:rPr lang="en-US" dirty="0"/>
              <a:t>It’s what all our software must do!</a:t>
            </a:r>
          </a:p>
          <a:p>
            <a:pPr lvl="1"/>
            <a:r>
              <a:rPr lang="en-US" dirty="0"/>
              <a:t>We interact with data to locate a specific item = searching</a:t>
            </a:r>
          </a:p>
          <a:p>
            <a:pPr lvl="1"/>
            <a:r>
              <a:rPr lang="en-US" dirty="0"/>
              <a:t>To find something easier, we have to order it in a specific way = sorting</a:t>
            </a:r>
          </a:p>
          <a:p>
            <a:pPr lvl="6"/>
            <a:endParaRPr lang="en-US" dirty="0"/>
          </a:p>
          <a:p>
            <a:r>
              <a:rPr lang="en-US" dirty="0"/>
              <a:t>How our data is stored affects how we can search and sort!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13123A-E339-4E09-88C0-0C7CFF45B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2127726"/>
            <a:ext cx="2590800" cy="357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69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8C6C-AC38-4201-A641-521C70A8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54D6-174B-453F-96C4-7B1E8E56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 dirty="0"/>
              <a:t>A sequence of indexed </a:t>
            </a:r>
            <a:r>
              <a:rPr lang="en-US" altLang="en-US" sz="2800" b="1" dirty="0"/>
              <a:t>elements</a:t>
            </a:r>
            <a:r>
              <a:rPr lang="en-US" altLang="en-US" sz="2800" dirty="0"/>
              <a:t>:</a:t>
            </a:r>
          </a:p>
          <a:p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The size of the array is fixed when the array is constructed</a:t>
            </a:r>
          </a:p>
          <a:p>
            <a:pPr lvl="1"/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Static-sized, cannot be changed</a:t>
            </a:r>
          </a:p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Each array element has a fixed and unique 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</a:rPr>
              <a:t>index</a:t>
            </a:r>
          </a:p>
          <a:p>
            <a:pPr lvl="1"/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The index range from a lower bound to an upper bound</a:t>
            </a:r>
          </a:p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Any array element can be accessed in O(1) time</a:t>
            </a:r>
          </a:p>
          <a:p>
            <a:pPr lvl="1"/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Inspected or updated</a:t>
            </a:r>
          </a:p>
        </p:txBody>
      </p:sp>
      <p:sp>
        <p:nvSpPr>
          <p:cNvPr id="64" name="AutoShape 6">
            <a:extLst>
              <a:ext uri="{FF2B5EF4-FFF2-40B4-BE49-F238E27FC236}">
                <a16:creationId xmlns:a16="http://schemas.microsoft.com/office/drawing/2014/main" id="{3CF7E50E-2B1D-4821-B88A-6EABA570A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1842" y="2299332"/>
            <a:ext cx="1778635" cy="371475"/>
          </a:xfrm>
          <a:prstGeom prst="wedgeRectCallout">
            <a:avLst>
              <a:gd name="adj1" fmla="val -78424"/>
              <a:gd name="adj2" fmla="val -249"/>
            </a:avLst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0" rIns="3600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chemeClr val="accent1"/>
                </a:solidFill>
                <a:latin typeface="Times New Roman" panose="02020603050405020304" pitchFamily="18" charset="0"/>
              </a:rPr>
              <a:t>array indexes</a:t>
            </a:r>
            <a:endParaRPr lang="en-GB" alt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" name="Group 7">
            <a:extLst>
              <a:ext uri="{FF2B5EF4-FFF2-40B4-BE49-F238E27FC236}">
                <a16:creationId xmlns:a16="http://schemas.microsoft.com/office/drawing/2014/main" id="{153221EE-A74A-44D7-9C8C-BBFF30B6554B}"/>
              </a:ext>
            </a:extLst>
          </p:cNvPr>
          <p:cNvGrpSpPr>
            <a:grpSpLocks/>
          </p:cNvGrpSpPr>
          <p:nvPr/>
        </p:nvGrpSpPr>
        <p:grpSpPr bwMode="auto">
          <a:xfrm>
            <a:off x="2240280" y="2283458"/>
            <a:ext cx="5745163" cy="747712"/>
            <a:chOff x="576" y="1401"/>
            <a:chExt cx="3619" cy="471"/>
          </a:xfrm>
        </p:grpSpPr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ACC9884A-DE5A-42EB-B1FE-D0DAD3137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41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low+1</a:t>
              </a:r>
              <a:endPara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C4BCCE0B-1C3B-4C37-9E7C-AD519C910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94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8" name="Rectangle 10">
              <a:extLst>
                <a:ext uri="{FF2B5EF4-FFF2-40B4-BE49-F238E27FC236}">
                  <a16:creationId xmlns:a16="http://schemas.microsoft.com/office/drawing/2014/main" id="{78936D3C-40EB-477B-BEC5-DAED3FEC2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" y="159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11">
              <a:extLst>
                <a:ext uri="{FF2B5EF4-FFF2-40B4-BE49-F238E27FC236}">
                  <a16:creationId xmlns:a16="http://schemas.microsoft.com/office/drawing/2014/main" id="{55293CB4-8339-4B03-8765-F5E126D1A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FBD3A0A7-889A-4ABB-9EED-37F64A370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136C6DCA-50F0-491A-A506-F6D68169C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2" name="Rectangle 14">
              <a:extLst>
                <a:ext uri="{FF2B5EF4-FFF2-40B4-BE49-F238E27FC236}">
                  <a16:creationId xmlns:a16="http://schemas.microsoft.com/office/drawing/2014/main" id="{A7A3B2E1-9090-4848-B29C-8059A2914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3" name="Rectangle 15">
              <a:extLst>
                <a:ext uri="{FF2B5EF4-FFF2-40B4-BE49-F238E27FC236}">
                  <a16:creationId xmlns:a16="http://schemas.microsoft.com/office/drawing/2014/main" id="{E52F9DD2-EC14-4350-B625-5CFD9EE70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4" name="Rectangle 16">
              <a:extLst>
                <a:ext uri="{FF2B5EF4-FFF2-40B4-BE49-F238E27FC236}">
                  <a16:creationId xmlns:a16="http://schemas.microsoft.com/office/drawing/2014/main" id="{DF96D92B-3E4F-4821-9215-0CD82D66E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5" name="Rectangle 17">
              <a:extLst>
                <a:ext uri="{FF2B5EF4-FFF2-40B4-BE49-F238E27FC236}">
                  <a16:creationId xmlns:a16="http://schemas.microsoft.com/office/drawing/2014/main" id="{F5A54113-7DE3-4581-BD40-D6FDFEE50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8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6" name="Rectangle 18">
              <a:extLst>
                <a:ext uri="{FF2B5EF4-FFF2-40B4-BE49-F238E27FC236}">
                  <a16:creationId xmlns:a16="http://schemas.microsoft.com/office/drawing/2014/main" id="{C45580C4-7E4F-49D5-97FF-773E61199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40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low+2</a:t>
              </a:r>
              <a:endPara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7501F7E3-2009-4B09-8F3D-E9B8C0239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40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high-1</a:t>
              </a:r>
              <a:endPara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485BDE5A-1011-4989-AB44-00E31E50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40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high</a:t>
              </a:r>
              <a:endPara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21">
              <a:extLst>
                <a:ext uri="{FF2B5EF4-FFF2-40B4-BE49-F238E27FC236}">
                  <a16:creationId xmlns:a16="http://schemas.microsoft.com/office/drawing/2014/main" id="{3F8ACC95-A665-4A7B-938B-4147DF844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1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low</a:t>
              </a:r>
              <a:endPara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22">
              <a:extLst>
                <a:ext uri="{FF2B5EF4-FFF2-40B4-BE49-F238E27FC236}">
                  <a16:creationId xmlns:a16="http://schemas.microsoft.com/office/drawing/2014/main" id="{A0DE9265-0888-44DA-B09C-16E3055E5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41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high-2</a:t>
              </a:r>
              <a:endPara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Freeform 23">
              <a:extLst>
                <a:ext uri="{FF2B5EF4-FFF2-40B4-BE49-F238E27FC236}">
                  <a16:creationId xmlns:a16="http://schemas.microsoft.com/office/drawing/2014/main" id="{DF4FFACA-B845-40D2-8109-C2615EBA6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536"/>
              <a:ext cx="192" cy="336"/>
            </a:xfrm>
            <a:custGeom>
              <a:avLst/>
              <a:gdLst>
                <a:gd name="T0" fmla="*/ 96 w 192"/>
                <a:gd name="T1" fmla="*/ 0 h 336"/>
                <a:gd name="T2" fmla="*/ 192 w 192"/>
                <a:gd name="T3" fmla="*/ 0 h 336"/>
                <a:gd name="T4" fmla="*/ 96 w 192"/>
                <a:gd name="T5" fmla="*/ 336 h 336"/>
                <a:gd name="T6" fmla="*/ 0 w 192"/>
                <a:gd name="T7" fmla="*/ 336 h 336"/>
                <a:gd name="T8" fmla="*/ 96 w 19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36"/>
                <a:gd name="T17" fmla="*/ 192 w 19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36">
                  <a:moveTo>
                    <a:pt x="96" y="0"/>
                  </a:moveTo>
                  <a:lnTo>
                    <a:pt x="192" y="0"/>
                  </a:lnTo>
                  <a:lnTo>
                    <a:pt x="96" y="336"/>
                  </a:lnTo>
                  <a:lnTo>
                    <a:pt x="0" y="33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/>
            <a:lstStyle/>
            <a:p>
              <a:endParaRPr lang="en-US"/>
            </a:p>
          </p:txBody>
        </p:sp>
      </p:grpSp>
      <p:sp>
        <p:nvSpPr>
          <p:cNvPr id="63" name="AutoShape 5">
            <a:extLst>
              <a:ext uri="{FF2B5EF4-FFF2-40B4-BE49-F238E27FC236}">
                <a16:creationId xmlns:a16="http://schemas.microsoft.com/office/drawing/2014/main" id="{3D7D17F1-A6CD-4562-9C1C-43CDBB74C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1842" y="2729544"/>
            <a:ext cx="2245678" cy="371475"/>
          </a:xfrm>
          <a:prstGeom prst="wedgeRectCallout">
            <a:avLst>
              <a:gd name="adj1" fmla="val -96049"/>
              <a:gd name="adj2" fmla="val -42715"/>
            </a:avLst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0" rIns="3600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chemeClr val="accent1"/>
                </a:solidFill>
                <a:latin typeface="Times New Roman" panose="02020603050405020304" pitchFamily="18" charset="0"/>
              </a:rPr>
              <a:t>array elements</a:t>
            </a:r>
            <a:endParaRPr lang="en-GB" alt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2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AFBA-B1BA-488E-829A-C1A3A5C5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Arrays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349D-A34C-4939-BEEA-8D194FFF2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6105"/>
            <a:ext cx="10515600" cy="4351338"/>
          </a:xfrm>
        </p:spPr>
        <p:txBody>
          <a:bodyPr/>
          <a:lstStyle/>
          <a:p>
            <a:r>
              <a:rPr lang="en-US" altLang="en-US" dirty="0"/>
              <a:t>A Java array consist of elements are either values of a primitive type or objects of a class	</a:t>
            </a:r>
          </a:p>
          <a:p>
            <a:pPr lvl="1"/>
            <a:r>
              <a:rPr lang="en-US" altLang="en-US" dirty="0"/>
              <a:t>A Java array of length </a:t>
            </a:r>
            <a:r>
              <a:rPr lang="en-US" altLang="en-US" i="1" dirty="0"/>
              <a:t>n</a:t>
            </a:r>
            <a:r>
              <a:rPr lang="en-US" altLang="en-US" dirty="0"/>
              <a:t> has indexes of lower bound 0 and upper bound </a:t>
            </a:r>
            <a:r>
              <a:rPr lang="en-US" altLang="en-US" i="1" dirty="0"/>
              <a:t>n</a:t>
            </a:r>
            <a:r>
              <a:rPr lang="en-US" altLang="en-US" dirty="0"/>
              <a:t>–1</a:t>
            </a:r>
          </a:p>
          <a:p>
            <a:pPr lvl="5"/>
            <a:endParaRPr lang="en-US" altLang="en-US" dirty="0"/>
          </a:p>
          <a:p>
            <a:r>
              <a:rPr lang="en-US" altLang="en-US" dirty="0"/>
              <a:t>A Java array is itself an object, allocated dynamically by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 T[n]</a:t>
            </a:r>
          </a:p>
        </p:txBody>
      </p:sp>
      <p:grpSp>
        <p:nvGrpSpPr>
          <p:cNvPr id="5" name="Group 1029">
            <a:extLst>
              <a:ext uri="{FF2B5EF4-FFF2-40B4-BE49-F238E27FC236}">
                <a16:creationId xmlns:a16="http://schemas.microsoft.com/office/drawing/2014/main" id="{B8949511-6DAC-486D-B1C6-DE826844FA13}"/>
              </a:ext>
            </a:extLst>
          </p:cNvPr>
          <p:cNvGrpSpPr>
            <a:grpSpLocks/>
          </p:cNvGrpSpPr>
          <p:nvPr/>
        </p:nvGrpSpPr>
        <p:grpSpPr bwMode="auto">
          <a:xfrm>
            <a:off x="1347519" y="4694308"/>
            <a:ext cx="10006282" cy="1151950"/>
            <a:chOff x="822" y="2784"/>
            <a:chExt cx="4218" cy="528"/>
          </a:xfrm>
        </p:grpSpPr>
        <p:sp>
          <p:nvSpPr>
            <p:cNvPr id="8" name="Rectangle 1032">
              <a:extLst>
                <a:ext uri="{FF2B5EF4-FFF2-40B4-BE49-F238E27FC236}">
                  <a16:creationId xmlns:a16="http://schemas.microsoft.com/office/drawing/2014/main" id="{39D74FCF-BD05-44A5-9A5D-10AD80359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2963"/>
              <a:ext cx="319" cy="1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Rectangle 1030">
              <a:extLst>
                <a:ext uri="{FF2B5EF4-FFF2-40B4-BE49-F238E27FC236}">
                  <a16:creationId xmlns:a16="http://schemas.microsoft.com/office/drawing/2014/main" id="{DB98D01C-6798-45A7-A889-D1FDF64EE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2808"/>
              <a:ext cx="19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–1</a:t>
              </a:r>
            </a:p>
          </p:txBody>
        </p:sp>
        <p:sp>
          <p:nvSpPr>
            <p:cNvPr id="7" name="Rectangle 1031">
              <a:extLst>
                <a:ext uri="{FF2B5EF4-FFF2-40B4-BE49-F238E27FC236}">
                  <a16:creationId xmlns:a16="http://schemas.microsoft.com/office/drawing/2014/main" id="{CD45EB26-B1A7-4AD5-BEFA-4E9E4BA63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8" y="2832"/>
              <a:ext cx="324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length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033">
              <a:extLst>
                <a:ext uri="{FF2B5EF4-FFF2-40B4-BE49-F238E27FC236}">
                  <a16:creationId xmlns:a16="http://schemas.microsoft.com/office/drawing/2014/main" id="{45878666-5E45-4765-A651-BBFC2894E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832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" name="Rectangle 1034">
              <a:extLst>
                <a:ext uri="{FF2B5EF4-FFF2-40B4-BE49-F238E27FC236}">
                  <a16:creationId xmlns:a16="http://schemas.microsoft.com/office/drawing/2014/main" id="{8BC8F86C-06EC-444C-8EC9-9564C93BD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784"/>
              <a:ext cx="81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Rectangle 1035">
              <a:extLst>
                <a:ext uri="{FF2B5EF4-FFF2-40B4-BE49-F238E27FC236}">
                  <a16:creationId xmlns:a16="http://schemas.microsoft.com/office/drawing/2014/main" id="{92CCDD6E-A594-41CE-BCBA-3E77764D9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832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Rectangle 1036">
              <a:extLst>
                <a:ext uri="{FF2B5EF4-FFF2-40B4-BE49-F238E27FC236}">
                  <a16:creationId xmlns:a16="http://schemas.microsoft.com/office/drawing/2014/main" id="{A09706D0-7D37-4172-B3E4-DF3E7C9BB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2808"/>
              <a:ext cx="19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–2</a:t>
              </a:r>
            </a:p>
          </p:txBody>
        </p:sp>
        <p:sp>
          <p:nvSpPr>
            <p:cNvPr id="13" name="Rectangle 1037">
              <a:extLst>
                <a:ext uri="{FF2B5EF4-FFF2-40B4-BE49-F238E27FC236}">
                  <a16:creationId xmlns:a16="http://schemas.microsoft.com/office/drawing/2014/main" id="{9E619D52-083B-4EE2-B2CF-ABB7E01C5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2959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Rectangle 1038">
              <a:extLst>
                <a:ext uri="{FF2B5EF4-FFF2-40B4-BE49-F238E27FC236}">
                  <a16:creationId xmlns:a16="http://schemas.microsoft.com/office/drawing/2014/main" id="{689E0C68-923D-44AB-AB86-B050237DC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039">
              <a:extLst>
                <a:ext uri="{FF2B5EF4-FFF2-40B4-BE49-F238E27FC236}">
                  <a16:creationId xmlns:a16="http://schemas.microsoft.com/office/drawing/2014/main" id="{775AAF44-01AC-43F1-99F1-9E25633F1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2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1040">
              <a:extLst>
                <a:ext uri="{FF2B5EF4-FFF2-40B4-BE49-F238E27FC236}">
                  <a16:creationId xmlns:a16="http://schemas.microsoft.com/office/drawing/2014/main" id="{2936A17A-FB9A-457D-A3AD-8ECB80F1C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Rectangle 1041">
              <a:extLst>
                <a:ext uri="{FF2B5EF4-FFF2-40B4-BE49-F238E27FC236}">
                  <a16:creationId xmlns:a16="http://schemas.microsoft.com/office/drawing/2014/main" id="{8E0F6450-3AAF-4172-B8F9-E759DBF73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1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" name="Rectangle 1042">
              <a:extLst>
                <a:ext uri="{FF2B5EF4-FFF2-40B4-BE49-F238E27FC236}">
                  <a16:creationId xmlns:a16="http://schemas.microsoft.com/office/drawing/2014/main" id="{8288D16E-9AFE-491F-8A3A-82798374C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i="1" dirty="0">
                  <a:latin typeface="Times New Roman" panose="02020603050405020304" pitchFamily="18" charset="0"/>
                </a:rPr>
                <a:t>n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043">
              <a:extLst>
                <a:ext uri="{FF2B5EF4-FFF2-40B4-BE49-F238E27FC236}">
                  <a16:creationId xmlns:a16="http://schemas.microsoft.com/office/drawing/2014/main" id="{6B83BBD2-8013-47FD-83A1-8531CEA8E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i="1" dirty="0">
                  <a:latin typeface="Times New Roman" panose="02020603050405020304" pitchFamily="18" charset="0"/>
                </a:rPr>
                <a:t>T</a:t>
              </a:r>
              <a:r>
                <a:rPr lang="en-US" altLang="en-US" sz="2400" dirty="0">
                  <a:latin typeface="Courier New" panose="02070309020205020404" pitchFamily="49" charset="0"/>
                </a:rPr>
                <a:t>[]</a:t>
              </a:r>
            </a:p>
          </p:txBody>
        </p:sp>
        <p:sp>
          <p:nvSpPr>
            <p:cNvPr id="20" name="Rectangle 1044">
              <a:extLst>
                <a:ext uri="{FF2B5EF4-FFF2-40B4-BE49-F238E27FC236}">
                  <a16:creationId xmlns:a16="http://schemas.microsoft.com/office/drawing/2014/main" id="{45D3C6FE-E777-4A24-AF57-E0F661145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2832"/>
              <a:ext cx="44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 tag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Line 1045">
              <a:extLst>
                <a:ext uri="{FF2B5EF4-FFF2-40B4-BE49-F238E27FC236}">
                  <a16:creationId xmlns:a16="http://schemas.microsoft.com/office/drawing/2014/main" id="{4A45FEEB-6B2C-4C3C-BDD4-3F71FB683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3024"/>
              <a:ext cx="540" cy="9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4000" rIns="54000" anchor="ctr"/>
            <a:lstStyle/>
            <a:p>
              <a:endParaRPr lang="en-US"/>
            </a:p>
          </p:txBody>
        </p:sp>
        <p:sp>
          <p:nvSpPr>
            <p:cNvPr id="22" name="Rectangle 1046">
              <a:extLst>
                <a:ext uri="{FF2B5EF4-FFF2-40B4-BE49-F238E27FC236}">
                  <a16:creationId xmlns:a16="http://schemas.microsoft.com/office/drawing/2014/main" id="{20B11918-950C-4FA2-9F65-3684632E5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Freeform 1047">
              <a:extLst>
                <a:ext uri="{FF2B5EF4-FFF2-40B4-BE49-F238E27FC236}">
                  <a16:creationId xmlns:a16="http://schemas.microsoft.com/office/drawing/2014/main" id="{6E4B947D-0FA9-4FFA-837A-B7158E50A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976"/>
              <a:ext cx="192" cy="336"/>
            </a:xfrm>
            <a:custGeom>
              <a:avLst/>
              <a:gdLst>
                <a:gd name="T0" fmla="*/ 96 w 192"/>
                <a:gd name="T1" fmla="*/ 0 h 336"/>
                <a:gd name="T2" fmla="*/ 192 w 192"/>
                <a:gd name="T3" fmla="*/ 0 h 336"/>
                <a:gd name="T4" fmla="*/ 96 w 192"/>
                <a:gd name="T5" fmla="*/ 336 h 336"/>
                <a:gd name="T6" fmla="*/ 0 w 192"/>
                <a:gd name="T7" fmla="*/ 336 h 336"/>
                <a:gd name="T8" fmla="*/ 96 w 19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36"/>
                <a:gd name="T17" fmla="*/ 192 w 19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36">
                  <a:moveTo>
                    <a:pt x="96" y="0"/>
                  </a:moveTo>
                  <a:lnTo>
                    <a:pt x="192" y="0"/>
                  </a:lnTo>
                  <a:lnTo>
                    <a:pt x="96" y="336"/>
                  </a:lnTo>
                  <a:lnTo>
                    <a:pt x="0" y="33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/>
            <a:lstStyle/>
            <a:p>
              <a:endParaRPr lang="en-US"/>
            </a:p>
          </p:txBody>
        </p:sp>
      </p:grpSp>
      <p:sp>
        <p:nvSpPr>
          <p:cNvPr id="4" name="AutoShape 1028">
            <a:extLst>
              <a:ext uri="{FF2B5EF4-FFF2-40B4-BE49-F238E27FC236}">
                <a16:creationId xmlns:a16="http://schemas.microsoft.com/office/drawing/2014/main" id="{8F865359-3BAA-46BA-9D58-70F0732A8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864" y="6039436"/>
            <a:ext cx="1989455" cy="381000"/>
          </a:xfrm>
          <a:prstGeom prst="wedgeRectCallout">
            <a:avLst>
              <a:gd name="adj1" fmla="val 49695"/>
              <a:gd name="adj2" fmla="val -197333"/>
            </a:avLst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0" rIns="3600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2000" dirty="0">
                <a:solidFill>
                  <a:schemeClr val="accent1"/>
                </a:solidFill>
                <a:latin typeface="Times New Roman" panose="02020603050405020304" pitchFamily="18" charset="0"/>
              </a:rPr>
              <a:t>array elements</a:t>
            </a:r>
            <a:endParaRPr lang="en-GB" alt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1032">
            <a:extLst>
              <a:ext uri="{FF2B5EF4-FFF2-40B4-BE49-F238E27FC236}">
                <a16:creationId xmlns:a16="http://schemas.microsoft.com/office/drawing/2014/main" id="{786345AF-4A35-48ED-BDFD-11AF1B0C7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820" y="5429700"/>
            <a:ext cx="756758" cy="34471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5" name="Rectangle 1032">
            <a:extLst>
              <a:ext uri="{FF2B5EF4-FFF2-40B4-BE49-F238E27FC236}">
                <a16:creationId xmlns:a16="http://schemas.microsoft.com/office/drawing/2014/main" id="{52B21972-C73A-438A-91A5-8A00EAD8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820" y="4725836"/>
            <a:ext cx="756758" cy="34471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" name="Rectangle 1032">
            <a:extLst>
              <a:ext uri="{FF2B5EF4-FFF2-40B4-BE49-F238E27FC236}">
                <a16:creationId xmlns:a16="http://schemas.microsoft.com/office/drawing/2014/main" id="{6B055F9C-A2DC-47C1-938D-A89C0E2AC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820" y="5774412"/>
            <a:ext cx="756758" cy="34471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34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1C8A-9820-4BE5-AC9D-3D0914F88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 Primitive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BE80-58FF-4C69-AE4E-EC42C4D17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582" y="1825625"/>
            <a:ext cx="10515600" cy="42856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Example: </a:t>
            </a:r>
            <a:r>
              <a:rPr lang="en-US" altLang="en-US" sz="2800" dirty="0">
                <a:latin typeface="Courier New" panose="02070309020205020404" pitchFamily="49" charset="0"/>
              </a:rPr>
              <a:t>int[] primes = {2, 3, 5, 7, 11};</a:t>
            </a:r>
          </a:p>
          <a:p>
            <a:endParaRPr lang="en-US" dirty="0">
              <a:latin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Arrays are an object in Java</a:t>
            </a:r>
          </a:p>
          <a:p>
            <a:pPr lvl="1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Created during run-time (dynamically allocated)</a:t>
            </a:r>
          </a:p>
          <a:p>
            <a:pPr lvl="1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Resides in dynamic memory (the Java heap)</a:t>
            </a:r>
          </a:p>
          <a:p>
            <a:pPr lvl="2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area of memory used to store objects instantiated by the JVM (run-time)</a:t>
            </a:r>
            <a:endParaRPr lang="en-CA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25" name="Group 1029">
            <a:extLst>
              <a:ext uri="{FF2B5EF4-FFF2-40B4-BE49-F238E27FC236}">
                <a16:creationId xmlns:a16="http://schemas.microsoft.com/office/drawing/2014/main" id="{2619D7F5-4730-4F84-9883-A5F2A77708E4}"/>
              </a:ext>
            </a:extLst>
          </p:cNvPr>
          <p:cNvGrpSpPr>
            <a:grpSpLocks/>
          </p:cNvGrpSpPr>
          <p:nvPr/>
        </p:nvGrpSpPr>
        <p:grpSpPr bwMode="auto">
          <a:xfrm>
            <a:off x="648340" y="2615027"/>
            <a:ext cx="10608842" cy="1151950"/>
            <a:chOff x="568" y="2784"/>
            <a:chExt cx="4472" cy="528"/>
          </a:xfrm>
        </p:grpSpPr>
        <p:sp>
          <p:nvSpPr>
            <p:cNvPr id="26" name="Rectangle 1030">
              <a:extLst>
                <a:ext uri="{FF2B5EF4-FFF2-40B4-BE49-F238E27FC236}">
                  <a16:creationId xmlns:a16="http://schemas.microsoft.com/office/drawing/2014/main" id="{097F9D4E-EC73-43FD-A811-3F4498669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" y="2828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7" name="Rectangle 1031">
              <a:extLst>
                <a:ext uri="{FF2B5EF4-FFF2-40B4-BE49-F238E27FC236}">
                  <a16:creationId xmlns:a16="http://schemas.microsoft.com/office/drawing/2014/main" id="{FBF9503A-834E-4E3D-B984-2ADB39EA4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8" y="2832"/>
              <a:ext cx="324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length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1032">
              <a:extLst>
                <a:ext uri="{FF2B5EF4-FFF2-40B4-BE49-F238E27FC236}">
                  <a16:creationId xmlns:a16="http://schemas.microsoft.com/office/drawing/2014/main" id="{9AD82B6C-8223-49CE-825E-C694A9107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3024"/>
              <a:ext cx="227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" name="Rectangle 1033">
              <a:extLst>
                <a:ext uri="{FF2B5EF4-FFF2-40B4-BE49-F238E27FC236}">
                  <a16:creationId xmlns:a16="http://schemas.microsoft.com/office/drawing/2014/main" id="{F92EC5CB-8531-436D-9327-4726384EB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832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" name="Rectangle 1034">
              <a:extLst>
                <a:ext uri="{FF2B5EF4-FFF2-40B4-BE49-F238E27FC236}">
                  <a16:creationId xmlns:a16="http://schemas.microsoft.com/office/drawing/2014/main" id="{E74C4D5F-593C-4631-94D0-B74E9FFBB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784"/>
              <a:ext cx="81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" name="Rectangle 1035">
              <a:extLst>
                <a:ext uri="{FF2B5EF4-FFF2-40B4-BE49-F238E27FC236}">
                  <a16:creationId xmlns:a16="http://schemas.microsoft.com/office/drawing/2014/main" id="{7285A54A-AAAC-4B0E-8791-DE0263A2D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2832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" name="Rectangle 1036">
              <a:extLst>
                <a:ext uri="{FF2B5EF4-FFF2-40B4-BE49-F238E27FC236}">
                  <a16:creationId xmlns:a16="http://schemas.microsoft.com/office/drawing/2014/main" id="{7D3F258F-4D39-4AC4-880D-F76D255D8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2828"/>
              <a:ext cx="65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3" name="Rectangle 1037">
              <a:extLst>
                <a:ext uri="{FF2B5EF4-FFF2-40B4-BE49-F238E27FC236}">
                  <a16:creationId xmlns:a16="http://schemas.microsoft.com/office/drawing/2014/main" id="{35C689D4-7D09-427B-9F00-A47C02C0F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" y="3050"/>
              <a:ext cx="35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primes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1038">
              <a:extLst>
                <a:ext uri="{FF2B5EF4-FFF2-40B4-BE49-F238E27FC236}">
                  <a16:creationId xmlns:a16="http://schemas.microsoft.com/office/drawing/2014/main" id="{66A0C0E8-93F1-465B-AD6D-D29320A15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3024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35" name="Rectangle 1039">
              <a:extLst>
                <a:ext uri="{FF2B5EF4-FFF2-40B4-BE49-F238E27FC236}">
                  <a16:creationId xmlns:a16="http://schemas.microsoft.com/office/drawing/2014/main" id="{6814C9E5-74D0-42BC-B998-B596458DC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2" y="3024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" name="Rectangle 1040">
              <a:extLst>
                <a:ext uri="{FF2B5EF4-FFF2-40B4-BE49-F238E27FC236}">
                  <a16:creationId xmlns:a16="http://schemas.microsoft.com/office/drawing/2014/main" id="{59298C2B-E1FE-49AA-8710-7B2DA788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3024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" name="Rectangle 1041">
              <a:extLst>
                <a:ext uri="{FF2B5EF4-FFF2-40B4-BE49-F238E27FC236}">
                  <a16:creationId xmlns:a16="http://schemas.microsoft.com/office/drawing/2014/main" id="{34356D77-92B8-4C04-B294-94DCBA6C9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1" y="3024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" name="Rectangle 1042">
              <a:extLst>
                <a:ext uri="{FF2B5EF4-FFF2-40B4-BE49-F238E27FC236}">
                  <a16:creationId xmlns:a16="http://schemas.microsoft.com/office/drawing/2014/main" id="{99339EA3-8F06-4351-BAAC-B7D5212AC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i="1" dirty="0">
                  <a:latin typeface="Times New Roman" panose="02020603050405020304" pitchFamily="18" charset="0"/>
                </a:rPr>
                <a:t>5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9" name="Rectangle 1043">
              <a:extLst>
                <a:ext uri="{FF2B5EF4-FFF2-40B4-BE49-F238E27FC236}">
                  <a16:creationId xmlns:a16="http://schemas.microsoft.com/office/drawing/2014/main" id="{EBE0B06E-CA31-46CB-815E-5B87B87D9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3024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 i="1" dirty="0">
                  <a:latin typeface="Times New Roman" panose="02020603050405020304" pitchFamily="18" charset="0"/>
                </a:rPr>
                <a:t>int</a:t>
              </a:r>
              <a:r>
                <a:rPr lang="en-US" altLang="en-US" sz="2400" dirty="0">
                  <a:latin typeface="Courier New" panose="02070309020205020404" pitchFamily="49" charset="0"/>
                </a:rPr>
                <a:t>[]</a:t>
              </a:r>
            </a:p>
          </p:txBody>
        </p:sp>
        <p:sp>
          <p:nvSpPr>
            <p:cNvPr id="40" name="Rectangle 1044">
              <a:extLst>
                <a:ext uri="{FF2B5EF4-FFF2-40B4-BE49-F238E27FC236}">
                  <a16:creationId xmlns:a16="http://schemas.microsoft.com/office/drawing/2014/main" id="{AA9EB51C-C3BD-4C0B-9EA9-F27821F75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2832"/>
              <a:ext cx="44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 tag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1" name="Line 1045">
              <a:extLst>
                <a:ext uri="{FF2B5EF4-FFF2-40B4-BE49-F238E27FC236}">
                  <a16:creationId xmlns:a16="http://schemas.microsoft.com/office/drawing/2014/main" id="{69B70DF3-5B7E-4171-9D18-92B6157DD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6" y="3120"/>
              <a:ext cx="56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4000" rIns="54000" anchor="ctr"/>
            <a:lstStyle/>
            <a:p>
              <a:endParaRPr lang="en-US"/>
            </a:p>
          </p:txBody>
        </p:sp>
        <p:sp>
          <p:nvSpPr>
            <p:cNvPr id="42" name="Rectangle 1046">
              <a:extLst>
                <a:ext uri="{FF2B5EF4-FFF2-40B4-BE49-F238E27FC236}">
                  <a16:creationId xmlns:a16="http://schemas.microsoft.com/office/drawing/2014/main" id="{6B7E98B6-2438-418B-9772-8D98344D1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024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" name="Freeform 1047">
              <a:extLst>
                <a:ext uri="{FF2B5EF4-FFF2-40B4-BE49-F238E27FC236}">
                  <a16:creationId xmlns:a16="http://schemas.microsoft.com/office/drawing/2014/main" id="{9CEDA49B-A36C-4C25-9240-251E83C0C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976"/>
              <a:ext cx="192" cy="336"/>
            </a:xfrm>
            <a:custGeom>
              <a:avLst/>
              <a:gdLst>
                <a:gd name="T0" fmla="*/ 96 w 192"/>
                <a:gd name="T1" fmla="*/ 0 h 336"/>
                <a:gd name="T2" fmla="*/ 192 w 192"/>
                <a:gd name="T3" fmla="*/ 0 h 336"/>
                <a:gd name="T4" fmla="*/ 96 w 192"/>
                <a:gd name="T5" fmla="*/ 336 h 336"/>
                <a:gd name="T6" fmla="*/ 0 w 192"/>
                <a:gd name="T7" fmla="*/ 336 h 336"/>
                <a:gd name="T8" fmla="*/ 96 w 19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36"/>
                <a:gd name="T17" fmla="*/ 192 w 19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36">
                  <a:moveTo>
                    <a:pt x="96" y="0"/>
                  </a:moveTo>
                  <a:lnTo>
                    <a:pt x="192" y="0"/>
                  </a:lnTo>
                  <a:lnTo>
                    <a:pt x="96" y="336"/>
                  </a:lnTo>
                  <a:lnTo>
                    <a:pt x="0" y="33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/>
            <a:lstStyle/>
            <a:p>
              <a:endParaRPr lang="en-US"/>
            </a:p>
          </p:txBody>
        </p:sp>
      </p:grpSp>
      <p:sp>
        <p:nvSpPr>
          <p:cNvPr id="46" name="Rectangle 1042">
            <a:extLst>
              <a:ext uri="{FF2B5EF4-FFF2-40B4-BE49-F238E27FC236}">
                <a16:creationId xmlns:a16="http://schemas.microsoft.com/office/drawing/2014/main" id="{825C31FE-7B02-4E5E-A162-B99B50525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560" y="3138641"/>
            <a:ext cx="1183768" cy="495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4000" rIns="5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 dirty="0">
                <a:latin typeface="Times New Roman" panose="02020603050405020304" pitchFamily="18" charset="0"/>
              </a:rPr>
              <a:t>2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7" name="Rectangle 1042">
            <a:extLst>
              <a:ext uri="{FF2B5EF4-FFF2-40B4-BE49-F238E27FC236}">
                <a16:creationId xmlns:a16="http://schemas.microsoft.com/office/drawing/2014/main" id="{4F335A09-63CD-46C4-AB6A-AB1FAC977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042" y="3138641"/>
            <a:ext cx="1183768" cy="495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4000" rIns="5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 dirty="0">
                <a:latin typeface="Times New Roman" panose="02020603050405020304" pitchFamily="18" charset="0"/>
              </a:rPr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8" name="Rectangle 1042">
            <a:extLst>
              <a:ext uri="{FF2B5EF4-FFF2-40B4-BE49-F238E27FC236}">
                <a16:creationId xmlns:a16="http://schemas.microsoft.com/office/drawing/2014/main" id="{702F4303-7B04-413E-8D0F-61BBB7CC5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560" y="3138641"/>
            <a:ext cx="1183768" cy="495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4000" rIns="5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 dirty="0">
                <a:latin typeface="Times New Roman" panose="02020603050405020304" pitchFamily="18" charset="0"/>
              </a:rPr>
              <a:t>5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9" name="Rectangle 1042">
            <a:extLst>
              <a:ext uri="{FF2B5EF4-FFF2-40B4-BE49-F238E27FC236}">
                <a16:creationId xmlns:a16="http://schemas.microsoft.com/office/drawing/2014/main" id="{44448CF0-B9FE-43F7-ACB9-D752F19E0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2328" y="3138641"/>
            <a:ext cx="1183768" cy="495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4000" rIns="5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 dirty="0">
                <a:latin typeface="Times New Roman" panose="02020603050405020304" pitchFamily="18" charset="0"/>
              </a:rPr>
              <a:t>7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0" name="Rectangle 1042">
            <a:extLst>
              <a:ext uri="{FF2B5EF4-FFF2-40B4-BE49-F238E27FC236}">
                <a16:creationId xmlns:a16="http://schemas.microsoft.com/office/drawing/2014/main" id="{5B3C70D1-F72C-46F0-9147-FE5FF9401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032" y="3132290"/>
            <a:ext cx="1183768" cy="495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54000" rIns="5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 dirty="0">
                <a:latin typeface="Times New Roman" panose="02020603050405020304" pitchFamily="18" charset="0"/>
              </a:rPr>
              <a:t>11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Rectangle 1036">
            <a:extLst>
              <a:ext uri="{FF2B5EF4-FFF2-40B4-BE49-F238E27FC236}">
                <a16:creationId xmlns:a16="http://schemas.microsoft.com/office/drawing/2014/main" id="{0BB0693A-4D7A-414A-BFD5-9DBD3028F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3345" y="2711325"/>
            <a:ext cx="154198" cy="36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545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E66D-8321-47A6-A531-4825651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Object Array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C3C92-53BC-4653-B1F6-CD0388244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20" y="1776311"/>
            <a:ext cx="10515600" cy="4351338"/>
          </a:xfrm>
        </p:spPr>
        <p:txBody>
          <a:bodyPr/>
          <a:lstStyle/>
          <a:p>
            <a:r>
              <a:rPr lang="en-US" dirty="0"/>
              <a:t>Example: </a:t>
            </a:r>
            <a:r>
              <a:rPr lang="en-US" altLang="en-US" sz="2800" dirty="0">
                <a:latin typeface="Courier New" panose="02070309020205020404" pitchFamily="49" charset="0"/>
              </a:rPr>
              <a:t>Date[] holidays = new Date[3];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	</a:t>
            </a:r>
            <a:r>
              <a:rPr lang="en-US" altLang="en-US" sz="2400" dirty="0">
                <a:latin typeface="Courier New" panose="02070309020205020404" pitchFamily="49" charset="0"/>
              </a:rPr>
              <a:t>holidays[0] = </a:t>
            </a:r>
            <a:r>
              <a:rPr lang="en-US" altLang="en-US" sz="2400" b="1" dirty="0">
                <a:latin typeface="Courier New" panose="02070309020205020404" pitchFamily="49" charset="0"/>
              </a:rPr>
              <a:t>new</a:t>
            </a:r>
            <a:r>
              <a:rPr lang="en-US" altLang="en-US" sz="2400" dirty="0">
                <a:latin typeface="Courier New" panose="02070309020205020404" pitchFamily="49" charset="0"/>
              </a:rPr>
              <a:t> Date(2024, 10, 11);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	holidays[1] = </a:t>
            </a:r>
            <a:r>
              <a:rPr lang="en-US" altLang="en-US" sz="2400" b="1" dirty="0">
                <a:latin typeface="Courier New" panose="02070309020205020404" pitchFamily="49" charset="0"/>
              </a:rPr>
              <a:t>new</a:t>
            </a:r>
            <a:r>
              <a:rPr lang="en-US" altLang="en-US" sz="2400" dirty="0">
                <a:latin typeface="Courier New" panose="02070309020205020404" pitchFamily="49" charset="0"/>
              </a:rPr>
              <a:t> Date(2024, 11, 11);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	holidays[2] = </a:t>
            </a:r>
            <a:r>
              <a:rPr lang="en-US" altLang="en-US" sz="2400" b="1" dirty="0">
                <a:latin typeface="Courier New" panose="02070309020205020404" pitchFamily="49" charset="0"/>
              </a:rPr>
              <a:t>new</a:t>
            </a:r>
            <a:r>
              <a:rPr lang="en-US" altLang="en-US" sz="2400" dirty="0">
                <a:latin typeface="Courier New" panose="02070309020205020404" pitchFamily="49" charset="0"/>
              </a:rPr>
              <a:t> Date(2024, 12, 25);</a:t>
            </a:r>
            <a:endParaRPr lang="en-US" altLang="en-US" sz="2800" dirty="0">
              <a:latin typeface="Courier New" panose="02070309020205020404" pitchFamily="49" charset="0"/>
            </a:endParaRPr>
          </a:p>
          <a:p>
            <a:endParaRPr lang="en-CA" dirty="0"/>
          </a:p>
        </p:txBody>
      </p:sp>
      <p:grpSp>
        <p:nvGrpSpPr>
          <p:cNvPr id="4" name="Group 50">
            <a:extLst>
              <a:ext uri="{FF2B5EF4-FFF2-40B4-BE49-F238E27FC236}">
                <a16:creationId xmlns:a16="http://schemas.microsoft.com/office/drawing/2014/main" id="{25D64D46-0673-4988-8902-5EEDB52BFCF9}"/>
              </a:ext>
            </a:extLst>
          </p:cNvPr>
          <p:cNvGrpSpPr>
            <a:grpSpLocks/>
          </p:cNvGrpSpPr>
          <p:nvPr/>
        </p:nvGrpSpPr>
        <p:grpSpPr bwMode="auto">
          <a:xfrm>
            <a:off x="512382" y="3325226"/>
            <a:ext cx="10734380" cy="3186045"/>
            <a:chOff x="144" y="2047"/>
            <a:chExt cx="5833" cy="1852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C546575-27F2-4256-A0C1-02327686E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057"/>
              <a:ext cx="40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length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BB30A70-CF5B-4471-AF9F-18C8A178E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" y="2256"/>
              <a:ext cx="227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F4CAF3EB-223E-4406-98B8-6ED6D7066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1" y="2073"/>
              <a:ext cx="4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00D2464-9577-4798-A81C-BC789B30B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64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82A4827-9844-4F7E-9EDB-01E3862E1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256"/>
              <a:ext cx="91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altLang="en-US" sz="2000" dirty="0">
                  <a:latin typeface="Courier New" panose="02070309020205020404" pitchFamily="49" charset="0"/>
                </a:rPr>
                <a:t>holidays</a:t>
              </a:r>
              <a:endParaRPr lang="en-US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5A660DA0-5E90-4164-B5B3-3A8D4B198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2261"/>
              <a:ext cx="499" cy="22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GB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4C77D16D-52F2-4F13-B63A-0297F5C43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" y="2256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GB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0A1BAA30-F153-4142-BB41-A6155A72C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2" y="2256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D06D564F-9D2A-4DF4-93BF-D84BB571B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2256"/>
              <a:ext cx="544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latin typeface="Courier New" panose="02070309020205020404" pitchFamily="49" charset="0"/>
                </a:rPr>
                <a:t>Date[]</a:t>
              </a:r>
              <a:endParaRPr lang="en-US" altLang="en-US" sz="2800" dirty="0">
                <a:latin typeface="Courier New" panose="02070309020205020404" pitchFamily="49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CE6D95CF-4CCB-4CFA-848C-D194ED7A1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2047"/>
              <a:ext cx="54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 tag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DD7BFC00-D79E-491C-AACF-65D80A68F9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13" y="2352"/>
              <a:ext cx="275" cy="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54000" rIns="54000" anchor="ctr"/>
            <a:lstStyle/>
            <a:p>
              <a:endParaRPr lang="en-US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B4B8563F-AD80-4F7E-8C7E-3598EEEFB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073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8221FC32-992F-477A-99D6-F6E43BD65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" y="2256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GB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5DB12851-FCBF-4A22-808B-8B691A217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3672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144BB299-F7E1-498E-B6F0-963AD17C1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3672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6F8CB2F3-4CC4-4CD1-9941-23E51E6F0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6" y="3672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80092BF7-A4A5-43A8-AC43-6D4834C4A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672"/>
              <a:ext cx="544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latin typeface="Courier New" panose="02070309020205020404" pitchFamily="49" charset="0"/>
                </a:rPr>
                <a:t>Date</a:t>
              </a:r>
              <a:endParaRPr lang="en-US" altLang="en-US" sz="2800" dirty="0">
                <a:latin typeface="Courier New" panose="02070309020205020404" pitchFamily="49" charset="0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B5DDFB2B-2414-420E-AEB0-21B07C0E8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3211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1C585BE-5D4E-495F-B783-75A50465F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" y="3211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D78D2C3F-93A4-4AE4-9959-8BEE18FCC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8" y="3211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CAA30878-014F-4770-88B2-018755915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" y="3211"/>
              <a:ext cx="544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latin typeface="Courier New" panose="02070309020205020404" pitchFamily="49" charset="0"/>
                </a:rPr>
                <a:t>Date</a:t>
              </a:r>
              <a:endParaRPr lang="en-US" altLang="en-US" sz="2800" dirty="0">
                <a:latin typeface="Courier New" panose="02070309020205020404" pitchFamily="49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FE7A91BD-9D3D-45AB-9216-E13A48724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" y="254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y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523FC275-8CFC-4630-848B-85722C25E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254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m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C96FC5E8-1784-47E7-975C-140BEE8AF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" y="254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d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D645F655-5AD9-407B-B2AA-8FF3A209B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2733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8022B154-6ABC-4087-B85E-D94CA6BF2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733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25</a:t>
              </a: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43B1B160-2000-403B-AC31-CD52C2E8F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" y="2733"/>
              <a:ext cx="499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latin typeface="Times New Roman" panose="02020603050405020304" pitchFamily="18" charset="0"/>
                </a:rPr>
                <a:t>2024	</a:t>
              </a: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710B155C-2530-4060-90A6-5E212C8D2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2733"/>
              <a:ext cx="544" cy="2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4000" rIns="5400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latin typeface="Courier New" panose="02070309020205020404" pitchFamily="49" charset="0"/>
                </a:rPr>
                <a:t>Date</a:t>
              </a:r>
              <a:endParaRPr lang="en-US" altLang="en-US" sz="2800" dirty="0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C208F07E-70F5-40AE-9EB7-05A93AEC2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" y="3038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y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21023991-6571-4783-98E5-EEB7E08C8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" y="3038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m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391648D2-EC77-4370-BA9F-FD6C9A603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8" y="3038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d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1496CFFA-7A97-466B-B048-2C9102B61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3045"/>
              <a:ext cx="4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 tag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F95F8D17-562A-423A-BCC6-A8262EE99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" y="3518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y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D5D0B9D7-6B9B-47DA-8E1A-E92DC45E2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5" y="3518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m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1C680E3A-B640-43C7-80D6-8F647FB7E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3518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>
                  <a:solidFill>
                    <a:srgbClr val="000000"/>
                  </a:solidFill>
                  <a:latin typeface="Courier New" panose="02070309020205020404" pitchFamily="49" charset="0"/>
                </a:rPr>
                <a:t>d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34F4579F-A125-44AD-9547-95B2E0AC6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7" y="3501"/>
              <a:ext cx="4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 tag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EB362A7D-C60C-4BE0-926C-F14BFB4CD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" y="2552"/>
              <a:ext cx="4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class tag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151430A5-A6E6-4C9D-9503-B9F0CD464DA2}"/>
              </a:ext>
            </a:extLst>
          </p:cNvPr>
          <p:cNvCxnSpPr>
            <a:cxnSpLocks/>
            <a:stCxn id="10" idx="2"/>
            <a:endCxn id="21" idx="1"/>
          </p:cNvCxnSpPr>
          <p:nvPr/>
        </p:nvCxnSpPr>
        <p:spPr>
          <a:xfrm rot="16200000" flipH="1">
            <a:off x="4526874" y="4929270"/>
            <a:ext cx="2240725" cy="532762"/>
          </a:xfrm>
          <a:prstGeom prst="bentConnector2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55D3ECFD-8BDC-4FFF-8E29-4E6F301CC84A}"/>
              </a:ext>
            </a:extLst>
          </p:cNvPr>
          <p:cNvCxnSpPr>
            <a:stCxn id="11" idx="2"/>
            <a:endCxn id="25" idx="1"/>
          </p:cNvCxnSpPr>
          <p:nvPr/>
        </p:nvCxnSpPr>
        <p:spPr>
          <a:xfrm rot="16200000" flipH="1">
            <a:off x="5922683" y="4446239"/>
            <a:ext cx="1447655" cy="705749"/>
          </a:xfrm>
          <a:prstGeom prst="bentConnector2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E2079850-D603-48F4-97E5-01B04FC92128}"/>
              </a:ext>
            </a:extLst>
          </p:cNvPr>
          <p:cNvCxnSpPr>
            <a:stCxn id="17" idx="2"/>
            <a:endCxn id="32" idx="1"/>
          </p:cNvCxnSpPr>
          <p:nvPr/>
        </p:nvCxnSpPr>
        <p:spPr>
          <a:xfrm rot="16200000" flipH="1">
            <a:off x="7105841" y="4181384"/>
            <a:ext cx="625339" cy="413144"/>
          </a:xfrm>
          <a:prstGeom prst="bentConnector2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69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996D-4261-4932-BAF5-8BB2C00E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24404-FC5E-4CDF-889E-8A93AF34F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A sequence of consecutive elements that forms a part of a larger array</a:t>
            </a:r>
          </a:p>
          <a:p>
            <a:pPr lvl="4"/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Notation: let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l..r</a:t>
            </a:r>
            <a:r>
              <a:rPr lang="en-US" altLang="en-US" sz="2800" dirty="0"/>
              <a:t>] be the subarray consisting of elements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/>
              <a:t>l</a:t>
            </a:r>
            <a:r>
              <a:rPr lang="en-US" altLang="en-US" sz="2800" dirty="0"/>
              <a:t>], …,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/>
              <a:t>r</a:t>
            </a:r>
            <a:r>
              <a:rPr lang="en-US" altLang="en-US" sz="2800" dirty="0"/>
              <a:t>]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Subarray notation is used here, but is </a:t>
            </a:r>
            <a:r>
              <a:rPr lang="en-US" altLang="en-US" sz="2400" b="1" dirty="0"/>
              <a:t>not</a:t>
            </a:r>
            <a:r>
              <a:rPr lang="en-US" altLang="en-US" sz="2400" dirty="0"/>
              <a:t> supported by Java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2400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Length of subarray a[</a:t>
            </a:r>
            <a:r>
              <a:rPr lang="en-US" alt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l..r</a:t>
            </a: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] is r – l + 1</a:t>
            </a:r>
          </a:p>
          <a:p>
            <a:endParaRPr lang="en-CA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C575371-7719-4D2F-96BA-41F0B205D642}"/>
              </a:ext>
            </a:extLst>
          </p:cNvPr>
          <p:cNvGrpSpPr>
            <a:grpSpLocks/>
          </p:cNvGrpSpPr>
          <p:nvPr/>
        </p:nvGrpSpPr>
        <p:grpSpPr bwMode="auto">
          <a:xfrm>
            <a:off x="1930400" y="4019550"/>
            <a:ext cx="7848600" cy="665163"/>
            <a:chOff x="576" y="2400"/>
            <a:chExt cx="4944" cy="41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199BB5CC-E19B-4CEE-9984-B02209BD6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9ED20E48-9E93-431D-973D-95C8BC5EC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98D0B932-D98D-4B34-A4D8-79A98228D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3F9A64D0-5DCC-4737-B811-6F26F74D2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AD92D41C-48E0-4533-AFF4-1FC935777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59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D7D69ECC-639C-421F-9A05-DBBC2B8B0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31383084-341A-428A-87AE-3DEA259A0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A0218F1C-D0F6-4644-BAD1-2198763AD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34C4C7F0-E6C3-4572-A200-AE2182BA2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9F1CEA85-C915-4165-88CD-19698A731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E8E59E39-4943-4F5D-B406-115AEB67B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229EF87C-05F5-4A6C-9624-96B80E5F5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1EDE5A1D-04AB-47E3-94F5-A7B0A78DB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F57613B2-3BB1-41BF-9074-2E358789B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3F060336-69D0-41F2-85EE-708A17373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1AEF90DD-30A2-4E89-A7EF-1FA4B484C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6BAD6E0-111F-4EDD-9374-ED13E939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55258F5B-F7CD-42A5-9E94-8C4956DDD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9C5950E6-E9DD-42E3-BF4F-AA5194935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0C10A7E8-272B-4EF9-A4D0-7AFB06E57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BCE80E1F-2EB2-4DA3-B337-171C08988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1" y="2592"/>
              <a:ext cx="499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6" name="Group 27">
            <a:extLst>
              <a:ext uri="{FF2B5EF4-FFF2-40B4-BE49-F238E27FC236}">
                <a16:creationId xmlns:a16="http://schemas.microsoft.com/office/drawing/2014/main" id="{B4ACDE50-05E6-4DA9-A042-760E39838D77}"/>
              </a:ext>
            </a:extLst>
          </p:cNvPr>
          <p:cNvGrpSpPr>
            <a:grpSpLocks/>
          </p:cNvGrpSpPr>
          <p:nvPr/>
        </p:nvGrpSpPr>
        <p:grpSpPr bwMode="auto">
          <a:xfrm>
            <a:off x="6700838" y="4324350"/>
            <a:ext cx="3078162" cy="1066800"/>
            <a:chOff x="3581" y="2592"/>
            <a:chExt cx="1939" cy="672"/>
          </a:xfrm>
        </p:grpSpPr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4D0E5BF5-9E72-4C61-9D92-9FDBBC30E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" name="Rectangle 30">
              <a:extLst>
                <a:ext uri="{FF2B5EF4-FFF2-40B4-BE49-F238E27FC236}">
                  <a16:creationId xmlns:a16="http://schemas.microsoft.com/office/drawing/2014/main" id="{A6367280-6B39-4E43-9B4A-74E548A83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1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27E4ED45-AFFB-4570-B2E4-DE8738ABF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1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C33BF809-8ECF-498D-8678-EA0AA5F4E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1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AutoShape 28">
              <a:extLst>
                <a:ext uri="{FF2B5EF4-FFF2-40B4-BE49-F238E27FC236}">
                  <a16:creationId xmlns:a16="http://schemas.microsoft.com/office/drawing/2014/main" id="{87E32BF4-628E-4234-B761-330C01F82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024"/>
              <a:ext cx="1200" cy="240"/>
            </a:xfrm>
            <a:prstGeom prst="wedgeRectCallout">
              <a:avLst>
                <a:gd name="adj1" fmla="val 467"/>
                <a:gd name="adj2" fmla="val -188000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subarray </a:t>
              </a:r>
              <a:r>
                <a:rPr lang="en-US" altLang="en-US" sz="2000" i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[6..9]</a:t>
              </a:r>
              <a:endParaRPr lang="en-GB" altLang="en-US" sz="2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" name="Group 33">
            <a:extLst>
              <a:ext uri="{FF2B5EF4-FFF2-40B4-BE49-F238E27FC236}">
                <a16:creationId xmlns:a16="http://schemas.microsoft.com/office/drawing/2014/main" id="{3F6A1F0E-D61A-4231-A2A1-A39E08CF5262}"/>
              </a:ext>
            </a:extLst>
          </p:cNvPr>
          <p:cNvGrpSpPr>
            <a:grpSpLocks/>
          </p:cNvGrpSpPr>
          <p:nvPr/>
        </p:nvGrpSpPr>
        <p:grpSpPr bwMode="auto">
          <a:xfrm>
            <a:off x="2997200" y="4324350"/>
            <a:ext cx="2265363" cy="1066800"/>
            <a:chOff x="1248" y="2592"/>
            <a:chExt cx="1427" cy="672"/>
          </a:xfrm>
        </p:grpSpPr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06591CD0-47CE-4291-8BC6-65007E4C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6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74FB4CF8-105A-4641-8892-AB5A0F851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52486264-E2D6-44A1-9BB2-80815E12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3" name="AutoShape 34">
              <a:extLst>
                <a:ext uri="{FF2B5EF4-FFF2-40B4-BE49-F238E27FC236}">
                  <a16:creationId xmlns:a16="http://schemas.microsoft.com/office/drawing/2014/main" id="{88CE2F4F-2E22-4445-A444-C3713BBFA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" y="3024"/>
              <a:ext cx="1200" cy="240"/>
            </a:xfrm>
            <a:prstGeom prst="wedgeRectCallout">
              <a:avLst>
                <a:gd name="adj1" fmla="val -1133"/>
                <a:gd name="adj2" fmla="val -184000"/>
              </a:avLst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0" rIns="36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subarray </a:t>
              </a:r>
              <a:r>
                <a:rPr lang="en-US" altLang="en-US" sz="2000" i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[1..3]</a:t>
              </a:r>
              <a:endParaRPr lang="en-GB" altLang="en-US" sz="2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94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103B-6D56-48E3-9A3B-823BDD80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Sorted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9B9EE-BB85-4E48-908D-11F75437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A (sub)array is </a:t>
            </a:r>
            <a:r>
              <a:rPr lang="en-US" altLang="en-US" b="1" dirty="0"/>
              <a:t>sorted</a:t>
            </a:r>
            <a:r>
              <a:rPr lang="en-US" altLang="en-US" dirty="0"/>
              <a:t> if its elements are in ascending order</a:t>
            </a:r>
          </a:p>
          <a:p>
            <a:pPr lvl="1"/>
            <a:r>
              <a:rPr lang="en-US" altLang="en-US" sz="2600" dirty="0"/>
              <a:t>i.e., each element is less than or equal to the element on its right</a:t>
            </a:r>
          </a:p>
          <a:p>
            <a:pPr lvl="4"/>
            <a:endParaRPr lang="en-US" altLang="en-US" sz="1400" dirty="0"/>
          </a:p>
          <a:p>
            <a:r>
              <a:rPr lang="en-US" altLang="en-US" dirty="0"/>
              <a:t>The meaning of the comparison “</a:t>
            </a:r>
            <a:r>
              <a:rPr lang="en-US" altLang="en-US" i="1" dirty="0"/>
              <a:t>x</a:t>
            </a:r>
            <a:r>
              <a:rPr lang="en-US" altLang="en-US" dirty="0"/>
              <a:t> is </a:t>
            </a:r>
            <a:r>
              <a:rPr lang="en-US" altLang="en-US" b="1" dirty="0"/>
              <a:t>less</a:t>
            </a:r>
            <a:r>
              <a:rPr lang="en-US" altLang="en-US" dirty="0"/>
              <a:t> than </a:t>
            </a:r>
            <a:r>
              <a:rPr lang="en-US" altLang="en-US" i="1" dirty="0"/>
              <a:t>y</a:t>
            </a:r>
            <a:r>
              <a:rPr lang="en-US" altLang="en-US" dirty="0"/>
              <a:t>” must be defined for each data type</a:t>
            </a:r>
          </a:p>
          <a:p>
            <a:pPr lvl="1"/>
            <a:r>
              <a:rPr lang="en-US" altLang="en-US" sz="2600" dirty="0"/>
              <a:t>Meaning of </a:t>
            </a:r>
            <a:r>
              <a:rPr lang="en-US" altLang="en-US" sz="2600" b="1" dirty="0"/>
              <a:t>less</a:t>
            </a:r>
            <a:r>
              <a:rPr lang="en-US" altLang="en-US" sz="2600" dirty="0"/>
              <a:t> for numbers:</a:t>
            </a:r>
          </a:p>
          <a:p>
            <a:pPr lvl="2"/>
            <a:r>
              <a:rPr lang="en-US" altLang="en-US" sz="2200" i="1" dirty="0"/>
              <a:t>x</a:t>
            </a:r>
            <a:r>
              <a:rPr lang="en-US" altLang="en-US" sz="2200" dirty="0"/>
              <a:t> is numerically less than </a:t>
            </a:r>
            <a:r>
              <a:rPr lang="en-US" altLang="en-US" sz="2200" i="1" dirty="0"/>
              <a:t>y</a:t>
            </a:r>
            <a:r>
              <a:rPr lang="en-US" altLang="en-US" sz="2200" dirty="0"/>
              <a:t>, i.e., </a:t>
            </a:r>
            <a:r>
              <a:rPr lang="en-US" altLang="en-US" sz="2200" i="1" dirty="0"/>
              <a:t>x</a:t>
            </a:r>
            <a:r>
              <a:rPr lang="en-US" altLang="en-US" sz="2200" dirty="0"/>
              <a:t> &lt; </a:t>
            </a:r>
            <a:r>
              <a:rPr lang="en-US" altLang="en-US" sz="2200" i="1" dirty="0"/>
              <a:t>y</a:t>
            </a:r>
            <a:endParaRPr lang="en-US" altLang="en-US" sz="2200" dirty="0"/>
          </a:p>
          <a:p>
            <a:pPr lvl="1"/>
            <a:r>
              <a:rPr lang="en-US" altLang="en-US" sz="2600" dirty="0"/>
              <a:t>Conventional meaning of </a:t>
            </a:r>
            <a:r>
              <a:rPr lang="en-US" altLang="en-US" sz="2600" b="1" dirty="0"/>
              <a:t>less</a:t>
            </a:r>
            <a:r>
              <a:rPr lang="en-US" altLang="en-US" sz="2600" dirty="0"/>
              <a:t> for Strings:</a:t>
            </a:r>
          </a:p>
          <a:p>
            <a:pPr lvl="2"/>
            <a:r>
              <a:rPr lang="en-US" altLang="en-US" sz="2200" i="1" dirty="0"/>
              <a:t>x</a:t>
            </a:r>
            <a:r>
              <a:rPr lang="en-US" altLang="en-US" sz="2200" dirty="0"/>
              <a:t> precedes </a:t>
            </a:r>
            <a:r>
              <a:rPr lang="en-US" altLang="en-US" sz="2200" i="1" dirty="0"/>
              <a:t>y</a:t>
            </a:r>
            <a:r>
              <a:rPr lang="en-US" altLang="en-US" sz="2200" dirty="0"/>
              <a:t> lexicographically (dictionary order) E.g.: “bat” is less than “bath”, which is less than “bay”</a:t>
            </a:r>
          </a:p>
          <a:p>
            <a:pPr lvl="1"/>
            <a:r>
              <a:rPr lang="en-US" altLang="en-US" sz="2600" dirty="0"/>
              <a:t>Conventional meaning of </a:t>
            </a:r>
            <a:r>
              <a:rPr lang="en-US" altLang="en-US" sz="2600" b="1" dirty="0"/>
              <a:t>less</a:t>
            </a:r>
            <a:r>
              <a:rPr lang="en-US" altLang="en-US" sz="2600" dirty="0"/>
              <a:t> for Date: </a:t>
            </a:r>
          </a:p>
          <a:p>
            <a:pPr lvl="2"/>
            <a:r>
              <a:rPr lang="en-US" altLang="en-US" sz="2200" dirty="0"/>
              <a:t>Today precedes tomorrow (“earlier”)</a:t>
            </a:r>
          </a:p>
        </p:txBody>
      </p:sp>
    </p:spTree>
    <p:extLst>
      <p:ext uri="{BB962C8B-B14F-4D97-AF65-F5344CB8AC3E}">
        <p14:creationId xmlns:p14="http://schemas.microsoft.com/office/powerpoint/2010/main" val="122094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81AA-F5B0-B1C2-CBCA-AD3C40A7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A6AEB-6980-4F5E-44F7-B3FAE6351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an abstract type to specify the behavior of a class!</a:t>
            </a:r>
          </a:p>
          <a:p>
            <a:pPr lvl="1"/>
            <a:r>
              <a:rPr lang="en-US" dirty="0"/>
              <a:t>Can have static constants</a:t>
            </a:r>
          </a:p>
          <a:p>
            <a:pPr lvl="1"/>
            <a:r>
              <a:rPr lang="en-US" dirty="0"/>
              <a:t>Can only have abstract methods (no implementation)</a:t>
            </a:r>
          </a:p>
        </p:txBody>
      </p:sp>
      <p:sp>
        <p:nvSpPr>
          <p:cNvPr id="5" name="AutoShape 2" descr="Lightbox">
            <a:extLst>
              <a:ext uri="{FF2B5EF4-FFF2-40B4-BE49-F238E27FC236}">
                <a16:creationId xmlns:a16="http://schemas.microsoft.com/office/drawing/2014/main" id="{80F487A8-9FC7-469C-A00A-8825A808A8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F931E4-C96F-82EB-005A-8EFCE367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912" y="3594340"/>
            <a:ext cx="521017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2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89C5-4B47-4EEB-8CBF-719F268BE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Comparable vs Comparator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1489F-FE60-4044-A54D-D073CD09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provides 2 interfaces for comparisons:</a:t>
            </a:r>
          </a:p>
          <a:p>
            <a:pPr lvl="2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Comparable&lt;T&gt;</a:t>
            </a:r>
          </a:p>
          <a:p>
            <a:pPr lvl="1"/>
            <a:r>
              <a:rPr lang="en-US" dirty="0"/>
              <a:t>For objects that have a natural order</a:t>
            </a:r>
          </a:p>
          <a:p>
            <a:pPr lvl="2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Comparator&lt;T&gt;</a:t>
            </a:r>
          </a:p>
          <a:p>
            <a:pPr lvl="1"/>
            <a:r>
              <a:rPr lang="en-US" dirty="0"/>
              <a:t>For objects that:</a:t>
            </a:r>
          </a:p>
          <a:p>
            <a:pPr lvl="2"/>
            <a:r>
              <a:rPr lang="en-US" dirty="0"/>
              <a:t>Can have multiple comparison attributes</a:t>
            </a:r>
          </a:p>
          <a:p>
            <a:pPr lvl="2"/>
            <a:r>
              <a:rPr lang="en-US" dirty="0"/>
              <a:t>You have no control over</a:t>
            </a:r>
          </a:p>
          <a:p>
            <a:pPr lvl="2"/>
            <a:r>
              <a:rPr lang="en-US" dirty="0"/>
              <a:t>Needs to implement the Strategy design pattern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2603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0921-79BB-43A6-AFDA-C455AF4DE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Comparable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B0DF-5151-4892-B8DB-3E789ABF9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tabLst>
                <a:tab pos="1138238" algn="l"/>
              </a:tabLst>
            </a:pPr>
            <a:r>
              <a:rPr lang="en-US" altLang="en-US" sz="3300" dirty="0"/>
              <a:t>If a class implements </a:t>
            </a:r>
            <a:r>
              <a:rPr lang="en-US" altLang="en-US" sz="3300" dirty="0">
                <a:latin typeface="Courier New" panose="02070309020205020404" pitchFamily="49" charset="0"/>
              </a:rPr>
              <a:t>Comparable</a:t>
            </a:r>
            <a:r>
              <a:rPr lang="en-US" altLang="en-US" sz="3300" dirty="0"/>
              <a:t>, it must implement </a:t>
            </a:r>
            <a:r>
              <a:rPr lang="en-US" altLang="en-US" sz="3300" dirty="0" err="1">
                <a:latin typeface="Courier New" panose="02070309020205020404" pitchFamily="49" charset="0"/>
              </a:rPr>
              <a:t>compareTo</a:t>
            </a:r>
            <a:r>
              <a:rPr lang="en-US" altLang="en-US" sz="3300" dirty="0">
                <a:latin typeface="Courier New" panose="02070309020205020404" pitchFamily="49" charset="0"/>
              </a:rPr>
              <a:t>()</a:t>
            </a:r>
            <a:r>
              <a:rPr lang="en-US" altLang="en-US" sz="3300" dirty="0"/>
              <a:t> in accordance with its “contract”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endParaRPr lang="en-US" altLang="en-US" sz="2800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2800" dirty="0">
                <a:latin typeface="Courier New" panose="02070309020205020404" pitchFamily="49" charset="0"/>
              </a:rPr>
              <a:t>/** @return </a:t>
            </a:r>
            <a:r>
              <a:rPr lang="en-US" altLang="en-US" sz="2800" dirty="0"/>
              <a:t>a negative integer if this object is less than </a:t>
            </a:r>
            <a:r>
              <a:rPr lang="en-US" altLang="en-US" sz="2800" dirty="0">
                <a:latin typeface="Courier New" panose="02070309020205020404" pitchFamily="49" charset="0"/>
              </a:rPr>
              <a:t>that</a:t>
            </a:r>
            <a:r>
              <a:rPr lang="en-US" altLang="en-US" sz="2800" dirty="0"/>
              <a:t>,</a:t>
            </a:r>
            <a:endParaRPr lang="en-US" altLang="en-US" sz="2800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2800" dirty="0">
                <a:latin typeface="Courier New" panose="02070309020205020404" pitchFamily="49" charset="0"/>
              </a:rPr>
              <a:t> * </a:t>
            </a:r>
            <a:r>
              <a:rPr lang="en-US" altLang="en-US" sz="2800" dirty="0"/>
              <a:t>or zero if this object is equal to </a:t>
            </a:r>
            <a:r>
              <a:rPr lang="en-US" altLang="en-US" sz="2800" dirty="0">
                <a:latin typeface="Courier New" panose="02070309020205020404" pitchFamily="49" charset="0"/>
              </a:rPr>
              <a:t>that</a:t>
            </a:r>
            <a:r>
              <a:rPr lang="en-US" altLang="en-US" sz="2800" dirty="0"/>
              <a:t>,</a:t>
            </a:r>
            <a:r>
              <a:rPr lang="en-US" altLang="en-US" sz="28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2800" dirty="0">
                <a:latin typeface="Courier New" panose="02070309020205020404" pitchFamily="49" charset="0"/>
              </a:rPr>
              <a:t> * </a:t>
            </a:r>
            <a:r>
              <a:rPr lang="en-US" altLang="en-US" sz="2800" dirty="0"/>
              <a:t>or a positive integer if this object is greater than </a:t>
            </a:r>
            <a:r>
              <a:rPr lang="en-US" altLang="en-US" sz="2800" dirty="0">
                <a:latin typeface="Courier New" panose="02070309020205020404" pitchFamily="49" charset="0"/>
              </a:rPr>
              <a:t>that</a:t>
            </a:r>
            <a:r>
              <a:rPr lang="en-US" altLang="en-US" sz="2800" dirty="0"/>
              <a:t>. </a:t>
            </a:r>
            <a:r>
              <a:rPr lang="en-US" altLang="en-US" sz="2800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3200" b="1" dirty="0">
                <a:latin typeface="Courier New" panose="02070309020205020404" pitchFamily="49" charset="0"/>
              </a:rPr>
              <a:t>public</a:t>
            </a:r>
            <a:r>
              <a:rPr lang="en-US" altLang="en-US" sz="3200" dirty="0">
                <a:latin typeface="Courier New" panose="02070309020205020404" pitchFamily="49" charset="0"/>
              </a:rPr>
              <a:t> </a:t>
            </a:r>
            <a:r>
              <a:rPr lang="en-US" altLang="en-US" sz="3200" b="1" dirty="0">
                <a:latin typeface="Courier New" panose="02070309020205020404" pitchFamily="49" charset="0"/>
              </a:rPr>
              <a:t>int</a:t>
            </a:r>
            <a:r>
              <a:rPr lang="en-US" altLang="en-US" sz="3200" dirty="0">
                <a:latin typeface="Courier New" panose="02070309020205020404" pitchFamily="49" charset="0"/>
              </a:rPr>
              <a:t> </a:t>
            </a:r>
            <a:r>
              <a:rPr lang="en-US" altLang="en-US" sz="3200" dirty="0" err="1">
                <a:latin typeface="Courier New" panose="02070309020205020404" pitchFamily="49" charset="0"/>
              </a:rPr>
              <a:t>compareTo</a:t>
            </a:r>
            <a:r>
              <a:rPr lang="en-US" altLang="en-US" sz="3200" dirty="0">
                <a:latin typeface="Courier New" panose="02070309020205020404" pitchFamily="49" charset="0"/>
              </a:rPr>
              <a:t>(T that);</a:t>
            </a:r>
            <a:br>
              <a:rPr lang="en-US" altLang="en-US" sz="3200" dirty="0">
                <a:latin typeface="Courier New" panose="02070309020205020404" pitchFamily="49" charset="0"/>
              </a:rPr>
            </a:br>
            <a:endParaRPr lang="en-US" altLang="en-US" sz="3200" dirty="0"/>
          </a:p>
          <a:p>
            <a:pPr>
              <a:lnSpc>
                <a:spcPct val="90000"/>
              </a:lnSpc>
              <a:tabLst>
                <a:tab pos="1138238" algn="l"/>
              </a:tabLst>
            </a:pPr>
            <a:r>
              <a:rPr lang="en-US" altLang="en-US" sz="3300" dirty="0"/>
              <a:t>The </a:t>
            </a:r>
            <a:r>
              <a:rPr lang="en-US" altLang="en-US" sz="3300" dirty="0" err="1">
                <a:latin typeface="Courier New" panose="02070309020205020404" pitchFamily="49" charset="0"/>
              </a:rPr>
              <a:t>compareTo</a:t>
            </a:r>
            <a:r>
              <a:rPr lang="en-US" altLang="en-US" sz="3300" dirty="0"/>
              <a:t> method captures the notion of </a:t>
            </a:r>
            <a:r>
              <a:rPr lang="en-US" altLang="en-US" sz="3300" b="1" dirty="0"/>
              <a:t>less</a:t>
            </a:r>
            <a:r>
              <a:rPr lang="en-US" altLang="en-US" sz="3300" dirty="0"/>
              <a:t> or </a:t>
            </a:r>
            <a:r>
              <a:rPr lang="en-US" altLang="en-US" sz="3300" b="1" dirty="0"/>
              <a:t>greater than </a:t>
            </a:r>
            <a:r>
              <a:rPr lang="en-US" altLang="en-US" sz="3300" dirty="0"/>
              <a:t>for objects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4035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946B5-1B44-4334-8A12-EFBBA80E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Introduction to Generics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06BF-CD99-462B-A55C-634023CA5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8659" cy="4351338"/>
          </a:xfrm>
        </p:spPr>
        <p:txBody>
          <a:bodyPr/>
          <a:lstStyle/>
          <a:p>
            <a:r>
              <a:rPr lang="en-US" dirty="0"/>
              <a:t>The &lt;T&gt; is like a placeholder</a:t>
            </a:r>
          </a:p>
          <a:p>
            <a:pPr lvl="1"/>
            <a:r>
              <a:rPr lang="en-US" dirty="0"/>
              <a:t>Allows it to be replaced by an actual type later!</a:t>
            </a:r>
          </a:p>
          <a:p>
            <a:pPr lvl="1"/>
            <a:r>
              <a:rPr lang="en-US" dirty="0"/>
              <a:t>Done by the class implementing the interface</a:t>
            </a:r>
          </a:p>
          <a:p>
            <a:pPr lvl="5"/>
            <a:endParaRPr lang="en-US" dirty="0"/>
          </a:p>
          <a:p>
            <a:r>
              <a:rPr lang="en-US" dirty="0"/>
              <a:t>Why not use Object?</a:t>
            </a:r>
          </a:p>
          <a:p>
            <a:pPr lvl="1"/>
            <a:r>
              <a:rPr lang="en-US" dirty="0"/>
              <a:t>Everything is a Object!</a:t>
            </a:r>
          </a:p>
          <a:p>
            <a:pPr lvl="2"/>
            <a:r>
              <a:rPr lang="en-US" dirty="0"/>
              <a:t>We can’t compare “cat” with 42</a:t>
            </a:r>
          </a:p>
          <a:p>
            <a:pPr lvl="2"/>
            <a:r>
              <a:rPr lang="en-US" dirty="0"/>
              <a:t>Java can’t enforce types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E5E6E-B574-4098-BD94-1E439239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842" y="1825624"/>
            <a:ext cx="4480829" cy="429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DD45EF-488F-4466-AEE0-333F5F326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859" y="2390455"/>
            <a:ext cx="5315812" cy="17406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852A68-8C3A-4D30-8C4B-02B70E0DF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897" y="4266085"/>
            <a:ext cx="3363774" cy="174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4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648A-3C2A-41C6-8A11-FC14F205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Comparator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647A-5678-425D-BC51-B35B8C79F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  <a:tabLst>
                <a:tab pos="1138238" algn="l"/>
              </a:tabLst>
            </a:pPr>
            <a:r>
              <a:rPr lang="en-US" altLang="en-US" sz="4500" dirty="0">
                <a:latin typeface="Verdana" panose="020B0604030504040204" pitchFamily="34" charset="0"/>
                <a:ea typeface="Verdana" panose="020B0604030504040204" pitchFamily="34" charset="0"/>
              </a:rPr>
              <a:t>An external class (or multiple classes) that implements Comparator can be used</a:t>
            </a:r>
          </a:p>
          <a:p>
            <a:pPr lvl="6">
              <a:tabLst>
                <a:tab pos="1138238" algn="l"/>
              </a:tabLst>
            </a:pPr>
            <a:endParaRPr lang="en-US" altLang="en-US" sz="3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90000"/>
              </a:lnSpc>
              <a:tabLst>
                <a:tab pos="1138238" algn="l"/>
              </a:tabLst>
            </a:pPr>
            <a:r>
              <a:rPr lang="en-US" altLang="en-US" sz="4500" dirty="0">
                <a:latin typeface="Verdana" panose="020B0604030504040204" pitchFamily="34" charset="0"/>
                <a:ea typeface="Verdana" panose="020B0604030504040204" pitchFamily="34" charset="0"/>
              </a:rPr>
              <a:t>The compare() method implements the comparison of objects to impose an order</a:t>
            </a:r>
          </a:p>
          <a:p>
            <a:pPr lvl="3">
              <a:tabLst>
                <a:tab pos="1138238" algn="l"/>
              </a:tabLst>
            </a:pPr>
            <a:endParaRPr lang="en-US" alt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4000" dirty="0">
                <a:latin typeface="Courier New" panose="02070309020205020404" pitchFamily="49" charset="0"/>
              </a:rPr>
              <a:t>/** @return </a:t>
            </a:r>
            <a:r>
              <a:rPr lang="en-US" altLang="en-US" sz="4000" dirty="0"/>
              <a:t>a negative integer if the first object is less than 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4000" dirty="0">
                <a:latin typeface="Courier New" panose="02070309020205020404" pitchFamily="49" charset="0"/>
              </a:rPr>
              <a:t> * </a:t>
            </a:r>
            <a:r>
              <a:rPr lang="en-US" altLang="en-US" sz="4000" dirty="0"/>
              <a:t>the second object,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4000" dirty="0">
                <a:latin typeface="Courier New" panose="02070309020205020404" pitchFamily="49" charset="0"/>
              </a:rPr>
              <a:t> * </a:t>
            </a:r>
            <a:r>
              <a:rPr lang="en-US" altLang="en-US" sz="4000" dirty="0"/>
              <a:t>or zero if the first object is equal to the second object,</a:t>
            </a:r>
            <a:r>
              <a:rPr lang="en-US" altLang="en-US" sz="4000" dirty="0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4000" dirty="0">
                <a:latin typeface="Courier New" panose="02070309020205020404" pitchFamily="49" charset="0"/>
              </a:rPr>
              <a:t> * </a:t>
            </a:r>
            <a:r>
              <a:rPr lang="en-US" altLang="en-US" sz="4000" dirty="0"/>
              <a:t>or a positive integer if the first object is greater than the 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4000" dirty="0">
                <a:latin typeface="Courier New" panose="02070309020205020404" pitchFamily="49" charset="0"/>
              </a:rPr>
              <a:t> * </a:t>
            </a:r>
            <a:r>
              <a:rPr lang="en-US" altLang="en-US" sz="4000" dirty="0"/>
              <a:t>second object  </a:t>
            </a:r>
            <a:r>
              <a:rPr lang="en-US" altLang="en-US" sz="4000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90000"/>
              </a:lnSpc>
              <a:buFontTx/>
              <a:buNone/>
              <a:tabLst>
                <a:tab pos="1138238" algn="l"/>
              </a:tabLst>
            </a:pPr>
            <a:r>
              <a:rPr lang="en-US" altLang="en-US" sz="4000" b="1" dirty="0">
                <a:latin typeface="Courier New" panose="02070309020205020404" pitchFamily="49" charset="0"/>
              </a:rPr>
              <a:t>public</a:t>
            </a:r>
            <a:r>
              <a:rPr lang="en-US" altLang="en-US" sz="4000" dirty="0">
                <a:latin typeface="Courier New" panose="02070309020205020404" pitchFamily="49" charset="0"/>
              </a:rPr>
              <a:t> </a:t>
            </a:r>
            <a:r>
              <a:rPr lang="en-US" altLang="en-US" sz="4000" b="1" dirty="0">
                <a:latin typeface="Courier New" panose="02070309020205020404" pitchFamily="49" charset="0"/>
              </a:rPr>
              <a:t>int</a:t>
            </a:r>
            <a:r>
              <a:rPr lang="en-US" altLang="en-US" sz="4000" dirty="0">
                <a:latin typeface="Courier New" panose="02070309020205020404" pitchFamily="49" charset="0"/>
              </a:rPr>
              <a:t> compare(T o1, T o2);</a:t>
            </a:r>
            <a:br>
              <a:rPr lang="en-US" altLang="en-US" sz="3200" dirty="0">
                <a:solidFill>
                  <a:schemeClr val="accent2"/>
                </a:solidFill>
                <a:latin typeface="Courier New" panose="02070309020205020404" pitchFamily="49" charset="0"/>
              </a:rPr>
            </a:br>
            <a:endParaRPr lang="en-US" altLang="en-US" sz="3200" dirty="0">
              <a:solidFill>
                <a:schemeClr val="accent2"/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93120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6B52-BA73-4167-B72A-AF183C0E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Arrays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FFB78-FFF2-41EA-943C-E0D7DE89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do you find an element in an array of </a:t>
            </a:r>
            <a:r>
              <a:rPr lang="en-US" i="1" dirty="0"/>
              <a:t>n</a:t>
            </a:r>
            <a:r>
              <a:rPr lang="en-US" dirty="0"/>
              <a:t> elements?</a:t>
            </a:r>
          </a:p>
          <a:p>
            <a:pPr lvl="1"/>
            <a:r>
              <a:rPr lang="en-US" dirty="0"/>
              <a:t>Via index: direct access – O(1)</a:t>
            </a:r>
          </a:p>
          <a:p>
            <a:pPr lvl="1"/>
            <a:r>
              <a:rPr lang="en-US" dirty="0"/>
              <a:t>Via a value of the element: sequential – O(n)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Add an element?</a:t>
            </a:r>
          </a:p>
          <a:p>
            <a:pPr lvl="1"/>
            <a:r>
              <a:rPr lang="en-US" dirty="0"/>
              <a:t>Must shift every element to the right to make room</a:t>
            </a:r>
          </a:p>
          <a:p>
            <a:pPr lvl="2"/>
            <a:r>
              <a:rPr lang="en-US" dirty="0"/>
              <a:t>O(n)</a:t>
            </a:r>
          </a:p>
          <a:p>
            <a:r>
              <a:rPr lang="en-US" dirty="0"/>
              <a:t>Remove an element?</a:t>
            </a:r>
          </a:p>
          <a:p>
            <a:pPr lvl="1"/>
            <a:r>
              <a:rPr lang="en-US" dirty="0"/>
              <a:t>Must shift every element to the left to fill the gap</a:t>
            </a:r>
          </a:p>
          <a:p>
            <a:pPr lvl="2"/>
            <a:r>
              <a:rPr lang="en-CA" dirty="0"/>
              <a:t>O(n)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6E349AC8-0FE9-4EBF-83FB-A442E1084F2C}"/>
              </a:ext>
            </a:extLst>
          </p:cNvPr>
          <p:cNvGrpSpPr>
            <a:grpSpLocks/>
          </p:cNvGrpSpPr>
          <p:nvPr/>
        </p:nvGrpSpPr>
        <p:grpSpPr bwMode="auto">
          <a:xfrm>
            <a:off x="1713998" y="3012852"/>
            <a:ext cx="8764004" cy="500222"/>
            <a:chOff x="576" y="2400"/>
            <a:chExt cx="4944" cy="41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E752ECE-F9AD-4159-967B-C9ABFB1FF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3369E70-3033-43C8-8455-18785FF30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1E9D1F5E-4E05-4752-ACA7-2D2DCD46C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2072AD8D-6C6E-435F-8F59-CE49F09FB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368FAE24-D053-4C11-AFD9-9515AA0B6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59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15328FF-B0D3-4565-B336-755BAFA8D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AA0A215C-3330-44AB-A61C-72FA71A8A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B4314625-2042-4FD8-8D26-F850A1053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9F8FA697-0242-4076-AEF8-710E4F582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4BF34A1-F1DF-47BE-91CA-5116BFC8D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BF784C5D-D4B5-40D5-B253-5F0029502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91049C41-B7C3-4777-8A84-B36657A7E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81FA838-5F64-49F3-85C6-9B5810E95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3FE4A8DA-AF65-4F73-BF16-F087A1D19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AD2E358F-73E4-4F89-93FC-B021A8A4B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A2D52220-F922-42F4-AE55-2D3F6D7A3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7B404C81-38F9-4097-8F4C-36A6480BF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EFF88156-C254-4C91-A33F-E4BBFA11F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9015E1DC-0870-4928-9210-DB003293E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2E5582B6-033A-4E88-A08F-57D89EA29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993DBAF-4AB3-4068-82C8-A0EE7788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1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6403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3080-D80F-4458-B690-FA303C2C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Insertions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079D-0B24-4499-BE4A-DB8702EE2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r>
              <a:rPr lang="en-US" altLang="en-US" sz="2800" dirty="0"/>
              <a:t>Given a (sub)array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left..right</a:t>
            </a:r>
            <a:r>
              <a:rPr lang="en-US" altLang="en-US" sz="2800" dirty="0"/>
              <a:t>], insert a value </a:t>
            </a:r>
            <a:r>
              <a:rPr lang="en-US" altLang="en-US" sz="2800" i="1" dirty="0" err="1"/>
              <a:t>val</a:t>
            </a:r>
            <a:r>
              <a:rPr lang="en-US" altLang="en-US" sz="2800" dirty="0"/>
              <a:t> at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/>
              <a:t>ins</a:t>
            </a:r>
            <a:r>
              <a:rPr lang="en-US" altLang="en-US" sz="2800" dirty="0"/>
              <a:t>]</a:t>
            </a:r>
          </a:p>
          <a:p>
            <a:pPr marL="914400" lvl="1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r>
              <a:rPr lang="en-US" altLang="en-US" dirty="0"/>
              <a:t>If necessary, shift values right to make room for it</a:t>
            </a:r>
          </a:p>
          <a:p>
            <a:pPr marL="2286000" lvl="4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endParaRPr lang="en-US" altLang="en-US" dirty="0"/>
          </a:p>
          <a:p>
            <a:pPr marL="457200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r>
              <a:rPr lang="en-US" altLang="en-US" dirty="0"/>
              <a:t>Array insertion algorithm t</a:t>
            </a:r>
            <a:r>
              <a:rPr lang="en-US" altLang="en-US" sz="2800" dirty="0"/>
              <a:t>o insert </a:t>
            </a:r>
            <a:r>
              <a:rPr lang="en-US" altLang="en-US" sz="2800" i="1" dirty="0" err="1"/>
              <a:t>val</a:t>
            </a:r>
            <a:r>
              <a:rPr lang="en-US" altLang="en-US" sz="2800" dirty="0"/>
              <a:t> at index </a:t>
            </a:r>
            <a:r>
              <a:rPr lang="en-US" altLang="en-US" sz="2800" i="1" dirty="0"/>
              <a:t>ins</a:t>
            </a:r>
            <a:r>
              <a:rPr lang="en-US" altLang="en-US" sz="2800" dirty="0"/>
              <a:t> in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left..right</a:t>
            </a:r>
            <a:r>
              <a:rPr lang="en-US" altLang="en-US" sz="2800" dirty="0"/>
              <a:t>], where </a:t>
            </a:r>
            <a:r>
              <a:rPr lang="en-US" altLang="en-US" sz="2800" i="1" dirty="0"/>
              <a:t>left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</a:t>
            </a:r>
            <a:r>
              <a:rPr lang="en-US" altLang="en-US" sz="2800" i="1" dirty="0"/>
              <a:t>ins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</a:t>
            </a:r>
            <a:r>
              <a:rPr lang="en-US" altLang="en-US" sz="2800" i="1" dirty="0"/>
              <a:t>right</a:t>
            </a:r>
            <a:r>
              <a:rPr lang="en-US" altLang="en-US" sz="2800" dirty="0"/>
              <a:t>):</a:t>
            </a:r>
          </a:p>
          <a:p>
            <a:pPr lvl="6">
              <a:lnSpc>
                <a:spcPct val="80000"/>
              </a:lnSpc>
              <a:tabLst>
                <a:tab pos="749300" algn="l"/>
                <a:tab pos="1333500" algn="l"/>
              </a:tabLst>
            </a:pPr>
            <a:endParaRPr lang="en-US" altLang="en-US" dirty="0"/>
          </a:p>
          <a:p>
            <a:pPr marL="914400" lvl="2" indent="0">
              <a:lnSpc>
                <a:spcPct val="80000"/>
              </a:lnSpc>
              <a:spcBef>
                <a:spcPts val="9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2400" dirty="0"/>
              <a:t>Copy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 err="1"/>
              <a:t>ins..right</a:t>
            </a:r>
            <a:r>
              <a:rPr lang="en-US" altLang="en-US" sz="2400" dirty="0"/>
              <a:t>] into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ins</a:t>
            </a:r>
            <a:r>
              <a:rPr lang="en-US" altLang="en-US" sz="2400" dirty="0"/>
              <a:t>+1…</a:t>
            </a:r>
            <a:r>
              <a:rPr lang="en-US" altLang="en-US" sz="2400" i="1" dirty="0"/>
              <a:t>right+</a:t>
            </a:r>
            <a:r>
              <a:rPr lang="en-US" altLang="en-US" sz="2400" dirty="0"/>
              <a:t>1]</a:t>
            </a:r>
          </a:p>
          <a:p>
            <a:pPr marL="914400" lvl="2" indent="0">
              <a:lnSpc>
                <a:spcPct val="80000"/>
              </a:lnSpc>
              <a:spcBef>
                <a:spcPts val="9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2400" dirty="0"/>
              <a:t>Copy </a:t>
            </a:r>
            <a:r>
              <a:rPr lang="en-US" altLang="en-US" sz="2400" i="1" dirty="0" err="1"/>
              <a:t>val</a:t>
            </a:r>
            <a:r>
              <a:rPr lang="en-US" altLang="en-US" sz="2400" dirty="0"/>
              <a:t> into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ins</a:t>
            </a:r>
            <a:r>
              <a:rPr lang="en-US" altLang="en-US" sz="2400" dirty="0"/>
              <a:t>]</a:t>
            </a:r>
          </a:p>
          <a:p>
            <a:pPr marL="914400" lvl="2" indent="0">
              <a:lnSpc>
                <a:spcPct val="80000"/>
              </a:lnSpc>
              <a:spcBef>
                <a:spcPts val="9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2400" dirty="0"/>
              <a:t>Terminate</a:t>
            </a:r>
          </a:p>
        </p:txBody>
      </p:sp>
    </p:spTree>
    <p:extLst>
      <p:ext uri="{BB962C8B-B14F-4D97-AF65-F5344CB8AC3E}">
        <p14:creationId xmlns:p14="http://schemas.microsoft.com/office/powerpoint/2010/main" val="218425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3080-D80F-4458-B690-FA303C2C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Deletions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079D-0B24-4499-BE4A-DB8702EE2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r>
              <a:rPr lang="en-US" altLang="en-US" sz="2800" dirty="0"/>
              <a:t>Given a (sub)array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left..right</a:t>
            </a:r>
            <a:r>
              <a:rPr lang="en-US" altLang="en-US" sz="2800" dirty="0"/>
              <a:t>], delete the value at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i="1" dirty="0"/>
              <a:t>del</a:t>
            </a:r>
            <a:r>
              <a:rPr lang="en-US" altLang="en-US" sz="2800" dirty="0"/>
              <a:t>]</a:t>
            </a:r>
          </a:p>
          <a:p>
            <a:pPr marL="914400" lvl="1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r>
              <a:rPr lang="en-US" altLang="en-US" dirty="0"/>
              <a:t>If necessary, shift values left to fill the gap</a:t>
            </a:r>
          </a:p>
          <a:p>
            <a:pPr marL="2286000" lvl="4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endParaRPr lang="en-US" altLang="en-US" dirty="0"/>
          </a:p>
          <a:p>
            <a:pPr marL="457200" indent="-457200">
              <a:lnSpc>
                <a:spcPct val="80000"/>
              </a:lnSpc>
              <a:tabLst>
                <a:tab pos="749300" algn="l"/>
                <a:tab pos="1333500" algn="l"/>
              </a:tabLst>
            </a:pPr>
            <a:r>
              <a:rPr lang="en-US" altLang="en-US" dirty="0"/>
              <a:t>Array deletion algorithm t</a:t>
            </a:r>
            <a:r>
              <a:rPr lang="en-US" altLang="en-US" sz="2800" dirty="0"/>
              <a:t>o delete the value at index </a:t>
            </a:r>
            <a:r>
              <a:rPr lang="en-US" altLang="en-US" sz="2800" i="1" dirty="0"/>
              <a:t>del</a:t>
            </a:r>
            <a:r>
              <a:rPr lang="en-US" altLang="en-US" sz="2800" dirty="0"/>
              <a:t> in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left..right</a:t>
            </a:r>
            <a:r>
              <a:rPr lang="en-US" altLang="en-US" sz="2800" dirty="0"/>
              <a:t>], where </a:t>
            </a:r>
            <a:r>
              <a:rPr lang="en-US" altLang="en-US" sz="2800" i="1" dirty="0"/>
              <a:t>left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</a:t>
            </a:r>
            <a:r>
              <a:rPr lang="en-US" altLang="en-US" sz="2800" i="1" dirty="0"/>
              <a:t>del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</a:t>
            </a:r>
            <a:r>
              <a:rPr lang="en-US" altLang="en-US" sz="2800" dirty="0"/>
              <a:t> </a:t>
            </a:r>
            <a:r>
              <a:rPr lang="en-US" altLang="en-US" sz="2800" i="1" dirty="0"/>
              <a:t>right</a:t>
            </a:r>
            <a:r>
              <a:rPr lang="en-US" altLang="en-US" sz="2800" dirty="0"/>
              <a:t>):</a:t>
            </a:r>
          </a:p>
          <a:p>
            <a:pPr lvl="6">
              <a:lnSpc>
                <a:spcPct val="80000"/>
              </a:lnSpc>
              <a:tabLst>
                <a:tab pos="749300" algn="l"/>
                <a:tab pos="1333500" algn="l"/>
              </a:tabLst>
            </a:pPr>
            <a:endParaRPr lang="en-US" altLang="en-US" dirty="0"/>
          </a:p>
          <a:p>
            <a:pPr marL="914400" lvl="2" indent="0">
              <a:lnSpc>
                <a:spcPct val="80000"/>
              </a:lnSpc>
              <a:spcBef>
                <a:spcPts val="9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2400" dirty="0"/>
              <a:t>Copy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del+1..right</a:t>
            </a:r>
            <a:r>
              <a:rPr lang="en-US" altLang="en-US" sz="2400" dirty="0"/>
              <a:t>] into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del</a:t>
            </a:r>
            <a:r>
              <a:rPr lang="en-US" altLang="en-US" sz="2400" dirty="0"/>
              <a:t>…</a:t>
            </a:r>
            <a:r>
              <a:rPr lang="en-US" altLang="en-US" sz="2400" i="1" dirty="0"/>
              <a:t>right-</a:t>
            </a:r>
            <a:r>
              <a:rPr lang="en-US" altLang="en-US" sz="2400" dirty="0"/>
              <a:t>1]</a:t>
            </a:r>
          </a:p>
          <a:p>
            <a:pPr marL="914400" lvl="2" indent="0">
              <a:lnSpc>
                <a:spcPct val="80000"/>
              </a:lnSpc>
              <a:spcBef>
                <a:spcPts val="9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2400" dirty="0"/>
              <a:t>Make </a:t>
            </a:r>
            <a:r>
              <a:rPr lang="en-US" altLang="en-US" sz="2400" i="1" dirty="0"/>
              <a:t>a</a:t>
            </a:r>
            <a:r>
              <a:rPr lang="en-US" altLang="en-US" sz="2400" dirty="0"/>
              <a:t>[</a:t>
            </a:r>
            <a:r>
              <a:rPr lang="en-US" altLang="en-US" sz="2400" i="1" dirty="0"/>
              <a:t>right</a:t>
            </a:r>
            <a:r>
              <a:rPr lang="en-US" altLang="en-US" sz="2400" dirty="0"/>
              <a:t>] unoccupied</a:t>
            </a:r>
          </a:p>
          <a:p>
            <a:pPr marL="914400" lvl="2" indent="0">
              <a:lnSpc>
                <a:spcPct val="80000"/>
              </a:lnSpc>
              <a:spcBef>
                <a:spcPts val="9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2400" dirty="0"/>
              <a:t>Terminate</a:t>
            </a:r>
          </a:p>
        </p:txBody>
      </p:sp>
    </p:spTree>
    <p:extLst>
      <p:ext uri="{BB962C8B-B14F-4D97-AF65-F5344CB8AC3E}">
        <p14:creationId xmlns:p14="http://schemas.microsoft.com/office/powerpoint/2010/main" val="2875322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89EC-172E-4E95-85A2-6AE35002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Search an Array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4191-10F7-4777-A032-603BEA918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we’ve assumed so far is linear search</a:t>
            </a:r>
          </a:p>
          <a:p>
            <a:pPr lvl="1"/>
            <a:r>
              <a:rPr lang="en-US" dirty="0"/>
              <a:t>Works for unsorted and sorted arrays</a:t>
            </a:r>
          </a:p>
          <a:p>
            <a:pPr lvl="1"/>
            <a:r>
              <a:rPr lang="en-US" dirty="0"/>
              <a:t>Always O(n) for successful or unsuccessful search</a:t>
            </a:r>
          </a:p>
          <a:p>
            <a:pPr lvl="5"/>
            <a:endParaRPr lang="en-US" dirty="0"/>
          </a:p>
          <a:p>
            <a:r>
              <a:rPr lang="en-CA" dirty="0"/>
              <a:t>If the array is sorted then we can perform binary search</a:t>
            </a:r>
          </a:p>
          <a:p>
            <a:pPr lvl="1"/>
            <a:r>
              <a:rPr lang="en-CA" dirty="0"/>
              <a:t>Performs much better!</a:t>
            </a:r>
          </a:p>
          <a:p>
            <a:pPr lvl="1"/>
            <a:r>
              <a:rPr lang="en-CA" dirty="0"/>
              <a:t>Invariant: a rule that is always true at every step of the algorithm</a:t>
            </a:r>
          </a:p>
          <a:p>
            <a:pPr lvl="2"/>
            <a:r>
              <a:rPr lang="en-CA" dirty="0"/>
              <a:t>With binary searches, the invariant is that the </a:t>
            </a:r>
            <a:r>
              <a:rPr lang="en-CA" b="1" dirty="0"/>
              <a:t>array is sorted</a:t>
            </a:r>
          </a:p>
          <a:p>
            <a:pPr lvl="2"/>
            <a:r>
              <a:rPr lang="en-CA" dirty="0"/>
              <a:t>Like an assumption</a:t>
            </a:r>
          </a:p>
          <a:p>
            <a:pPr lvl="2"/>
            <a:r>
              <a:rPr lang="en-CA" dirty="0"/>
              <a:t>The condition that must be true to execute correctly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2866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D3FD-1151-4D3E-9752-D29565DD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300E4-8DD6-4341-838C-4B014CA5B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749300" algn="l"/>
                <a:tab pos="1333500" algn="l"/>
              </a:tabLst>
            </a:pPr>
            <a:r>
              <a:rPr lang="en-US" altLang="en-US" sz="2800" dirty="0"/>
              <a:t>To find which (if any) element of the sorted (sub)array </a:t>
            </a:r>
            <a:r>
              <a:rPr lang="en-US" altLang="en-US" sz="2800" i="1" dirty="0"/>
              <a:t>a</a:t>
            </a:r>
            <a:r>
              <a:rPr lang="en-US" altLang="en-US" sz="2800" dirty="0"/>
              <a:t>[</a:t>
            </a:r>
            <a:r>
              <a:rPr lang="en-US" altLang="en-US" sz="2800" i="1" dirty="0" err="1"/>
              <a:t>left..right</a:t>
            </a:r>
            <a:r>
              <a:rPr lang="en-US" altLang="en-US" sz="2800" dirty="0"/>
              <a:t>] equals </a:t>
            </a:r>
            <a:r>
              <a:rPr lang="en-US" altLang="en-US" sz="2800" i="1" dirty="0"/>
              <a:t>target</a:t>
            </a:r>
            <a:r>
              <a:rPr lang="en-US" altLang="en-US" sz="2800" dirty="0"/>
              <a:t>: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Set </a:t>
            </a:r>
            <a:r>
              <a:rPr lang="en-US" altLang="en-US" sz="1800" i="1" dirty="0"/>
              <a:t>l</a:t>
            </a:r>
            <a:r>
              <a:rPr lang="en-US" altLang="en-US" sz="1800" dirty="0"/>
              <a:t> = </a:t>
            </a:r>
            <a:r>
              <a:rPr lang="en-US" altLang="en-US" sz="1800" i="1" dirty="0"/>
              <a:t>left</a:t>
            </a:r>
            <a:r>
              <a:rPr lang="en-US" altLang="en-US" sz="1800" dirty="0"/>
              <a:t>, and set </a:t>
            </a:r>
            <a:r>
              <a:rPr lang="en-US" altLang="en-US" sz="1800" i="1" dirty="0"/>
              <a:t>r</a:t>
            </a:r>
            <a:r>
              <a:rPr lang="en-US" altLang="en-US" sz="1800" dirty="0"/>
              <a:t> = </a:t>
            </a:r>
            <a:r>
              <a:rPr lang="en-US" altLang="en-US" sz="1800" i="1" dirty="0"/>
              <a:t>right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While </a:t>
            </a:r>
            <a:r>
              <a:rPr lang="en-US" altLang="en-US" sz="1800" i="1" dirty="0"/>
              <a:t>l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</a:t>
            </a:r>
            <a:r>
              <a:rPr lang="en-US" altLang="en-US" sz="1800" dirty="0"/>
              <a:t> </a:t>
            </a:r>
            <a:r>
              <a:rPr lang="en-US" altLang="en-US" sz="1800" i="1" dirty="0"/>
              <a:t>r</a:t>
            </a:r>
            <a:r>
              <a:rPr lang="en-US" altLang="en-US" sz="1800" dirty="0"/>
              <a:t>: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		Let </a:t>
            </a:r>
            <a:r>
              <a:rPr lang="en-US" altLang="en-US" sz="1800" i="1" dirty="0"/>
              <a:t>m</a:t>
            </a:r>
            <a:r>
              <a:rPr lang="en-US" altLang="en-US" sz="1800" dirty="0"/>
              <a:t> be an integer about midway between </a:t>
            </a:r>
            <a:r>
              <a:rPr lang="en-US" altLang="en-US" sz="1800" i="1" dirty="0"/>
              <a:t>l</a:t>
            </a:r>
            <a:r>
              <a:rPr lang="en-US" altLang="en-US" sz="1800" dirty="0"/>
              <a:t> and </a:t>
            </a:r>
            <a:r>
              <a:rPr lang="en-US" altLang="en-US" sz="1800" i="1" dirty="0"/>
              <a:t>r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		If </a:t>
            </a:r>
            <a:r>
              <a:rPr lang="en-US" altLang="en-US" sz="1800" i="1" dirty="0"/>
              <a:t>target</a:t>
            </a:r>
            <a:r>
              <a:rPr lang="en-US" altLang="en-US" sz="1800" dirty="0"/>
              <a:t> equals </a:t>
            </a:r>
            <a:r>
              <a:rPr lang="en-US" altLang="en-US" sz="1800" i="1" dirty="0"/>
              <a:t>a</a:t>
            </a:r>
            <a:r>
              <a:rPr lang="en-US" altLang="en-US" sz="1800" dirty="0"/>
              <a:t>[</a:t>
            </a:r>
            <a:r>
              <a:rPr lang="en-US" altLang="en-US" sz="1800" i="1" dirty="0"/>
              <a:t>m</a:t>
            </a:r>
            <a:r>
              <a:rPr lang="en-US" altLang="en-US" sz="1800" dirty="0"/>
              <a:t>], terminate with answer </a:t>
            </a:r>
            <a:r>
              <a:rPr lang="en-US" altLang="en-US" sz="1800" i="1" dirty="0"/>
              <a:t>m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		If </a:t>
            </a:r>
            <a:r>
              <a:rPr lang="en-US" altLang="en-US" sz="1800" i="1" dirty="0"/>
              <a:t>target</a:t>
            </a:r>
            <a:r>
              <a:rPr lang="en-US" altLang="en-US" sz="1800" dirty="0"/>
              <a:t> is less than </a:t>
            </a:r>
            <a:r>
              <a:rPr lang="en-US" altLang="en-US" sz="1800" i="1" dirty="0"/>
              <a:t>a</a:t>
            </a:r>
            <a:r>
              <a:rPr lang="en-US" altLang="en-US" sz="1800" dirty="0"/>
              <a:t>[</a:t>
            </a:r>
            <a:r>
              <a:rPr lang="en-US" altLang="en-US" sz="1800" i="1" dirty="0"/>
              <a:t>m</a:t>
            </a:r>
            <a:r>
              <a:rPr lang="en-US" altLang="en-US" sz="1800" dirty="0"/>
              <a:t>], set </a:t>
            </a:r>
            <a:r>
              <a:rPr lang="en-US" altLang="en-US" sz="1800" i="1" dirty="0"/>
              <a:t>r</a:t>
            </a:r>
            <a:r>
              <a:rPr lang="en-US" altLang="en-US" sz="1800" dirty="0"/>
              <a:t> = </a:t>
            </a:r>
            <a:r>
              <a:rPr lang="en-US" altLang="en-US" sz="1800" i="1" dirty="0"/>
              <a:t>m</a:t>
            </a:r>
            <a:r>
              <a:rPr lang="en-US" altLang="en-US" sz="1800" dirty="0"/>
              <a:t>–1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		If </a:t>
            </a:r>
            <a:r>
              <a:rPr lang="en-US" altLang="en-US" sz="1800" i="1" dirty="0"/>
              <a:t>target</a:t>
            </a:r>
            <a:r>
              <a:rPr lang="en-US" altLang="en-US" sz="1800" dirty="0"/>
              <a:t> is greater than </a:t>
            </a:r>
            <a:r>
              <a:rPr lang="en-US" altLang="en-US" sz="1800" i="1" dirty="0"/>
              <a:t>a</a:t>
            </a:r>
            <a:r>
              <a:rPr lang="en-US" altLang="en-US" sz="1800" dirty="0"/>
              <a:t>[</a:t>
            </a:r>
            <a:r>
              <a:rPr lang="en-US" altLang="en-US" sz="1800" i="1" dirty="0"/>
              <a:t>m</a:t>
            </a:r>
            <a:r>
              <a:rPr lang="en-US" altLang="en-US" sz="1800" dirty="0"/>
              <a:t>], set </a:t>
            </a:r>
            <a:r>
              <a:rPr lang="en-US" altLang="en-US" sz="1800" i="1" dirty="0"/>
              <a:t>l</a:t>
            </a:r>
            <a:r>
              <a:rPr lang="en-US" altLang="en-US" sz="1800" dirty="0"/>
              <a:t> = </a:t>
            </a:r>
            <a:r>
              <a:rPr lang="en-US" altLang="en-US" sz="1800" i="1" dirty="0"/>
              <a:t>m</a:t>
            </a:r>
            <a:r>
              <a:rPr lang="en-US" altLang="en-US" sz="1800" dirty="0"/>
              <a:t>+1</a:t>
            </a:r>
          </a:p>
          <a:p>
            <a:pPr lvl="2">
              <a:spcBef>
                <a:spcPts val="600"/>
              </a:spcBef>
              <a:buNone/>
              <a:tabLst>
                <a:tab pos="749300" algn="l"/>
                <a:tab pos="1333500" algn="l"/>
              </a:tabLst>
            </a:pPr>
            <a:r>
              <a:rPr lang="en-US" altLang="en-US" sz="1800" dirty="0"/>
              <a:t>Terminate with answer </a:t>
            </a:r>
            <a:r>
              <a:rPr lang="en-US" altLang="en-US" sz="1800" i="1" dirty="0"/>
              <a:t>none</a:t>
            </a:r>
            <a:endParaRPr lang="en-US" altLang="en-US" sz="1800" dirty="0"/>
          </a:p>
          <a:p>
            <a:endParaRPr lang="en-CA" dirty="0"/>
          </a:p>
        </p:txBody>
      </p:sp>
      <p:grpSp>
        <p:nvGrpSpPr>
          <p:cNvPr id="4" name="Group 1028">
            <a:extLst>
              <a:ext uri="{FF2B5EF4-FFF2-40B4-BE49-F238E27FC236}">
                <a16:creationId xmlns:a16="http://schemas.microsoft.com/office/drawing/2014/main" id="{11740405-C8E2-402C-AA6A-7A26F08E6B64}"/>
              </a:ext>
            </a:extLst>
          </p:cNvPr>
          <p:cNvGrpSpPr>
            <a:grpSpLocks/>
          </p:cNvGrpSpPr>
          <p:nvPr/>
        </p:nvGrpSpPr>
        <p:grpSpPr bwMode="auto">
          <a:xfrm>
            <a:off x="1482726" y="5621338"/>
            <a:ext cx="4064000" cy="615950"/>
            <a:chOff x="-167" y="1621"/>
            <a:chExt cx="2560" cy="388"/>
          </a:xfrm>
        </p:grpSpPr>
        <p:sp>
          <p:nvSpPr>
            <p:cNvPr id="5" name="Freeform 1029">
              <a:extLst>
                <a:ext uri="{FF2B5EF4-FFF2-40B4-BE49-F238E27FC236}">
                  <a16:creationId xmlns:a16="http://schemas.microsoft.com/office/drawing/2014/main" id="{5465B109-ED20-4EBD-AC44-99BCD9BA4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1621"/>
              <a:ext cx="1344" cy="144"/>
            </a:xfrm>
            <a:custGeom>
              <a:avLst/>
              <a:gdLst>
                <a:gd name="T0" fmla="*/ 0 w 2099"/>
                <a:gd name="T1" fmla="*/ 0 h 137"/>
                <a:gd name="T2" fmla="*/ 3 w 2099"/>
                <a:gd name="T3" fmla="*/ 15 h 137"/>
                <a:gd name="T4" fmla="*/ 8 w 2099"/>
                <a:gd name="T5" fmla="*/ 28 h 137"/>
                <a:gd name="T6" fmla="*/ 20 w 2099"/>
                <a:gd name="T7" fmla="*/ 41 h 137"/>
                <a:gd name="T8" fmla="*/ 33 w 2099"/>
                <a:gd name="T9" fmla="*/ 53 h 137"/>
                <a:gd name="T10" fmla="*/ 49 w 2099"/>
                <a:gd name="T11" fmla="*/ 61 h 137"/>
                <a:gd name="T12" fmla="*/ 69 w 2099"/>
                <a:gd name="T13" fmla="*/ 67 h 137"/>
                <a:gd name="T14" fmla="*/ 90 w 2099"/>
                <a:gd name="T15" fmla="*/ 71 h 137"/>
                <a:gd name="T16" fmla="*/ 112 w 2099"/>
                <a:gd name="T17" fmla="*/ 73 h 137"/>
                <a:gd name="T18" fmla="*/ 560 w 2099"/>
                <a:gd name="T19" fmla="*/ 73 h 137"/>
                <a:gd name="T20" fmla="*/ 582 w 2099"/>
                <a:gd name="T21" fmla="*/ 75 h 137"/>
                <a:gd name="T22" fmla="*/ 603 w 2099"/>
                <a:gd name="T23" fmla="*/ 79 h 137"/>
                <a:gd name="T24" fmla="*/ 623 w 2099"/>
                <a:gd name="T25" fmla="*/ 85 h 137"/>
                <a:gd name="T26" fmla="*/ 639 w 2099"/>
                <a:gd name="T27" fmla="*/ 94 h 137"/>
                <a:gd name="T28" fmla="*/ 652 w 2099"/>
                <a:gd name="T29" fmla="*/ 105 h 137"/>
                <a:gd name="T30" fmla="*/ 663 w 2099"/>
                <a:gd name="T31" fmla="*/ 118 h 137"/>
                <a:gd name="T32" fmla="*/ 670 w 2099"/>
                <a:gd name="T33" fmla="*/ 129 h 137"/>
                <a:gd name="T34" fmla="*/ 672 w 2099"/>
                <a:gd name="T35" fmla="*/ 144 h 137"/>
                <a:gd name="T36" fmla="*/ 674 w 2099"/>
                <a:gd name="T37" fmla="*/ 129 h 137"/>
                <a:gd name="T38" fmla="*/ 681 w 2099"/>
                <a:gd name="T39" fmla="*/ 118 h 137"/>
                <a:gd name="T40" fmla="*/ 692 w 2099"/>
                <a:gd name="T41" fmla="*/ 105 h 137"/>
                <a:gd name="T42" fmla="*/ 706 w 2099"/>
                <a:gd name="T43" fmla="*/ 94 h 137"/>
                <a:gd name="T44" fmla="*/ 722 w 2099"/>
                <a:gd name="T45" fmla="*/ 85 h 137"/>
                <a:gd name="T46" fmla="*/ 741 w 2099"/>
                <a:gd name="T47" fmla="*/ 79 h 137"/>
                <a:gd name="T48" fmla="*/ 762 w 2099"/>
                <a:gd name="T49" fmla="*/ 75 h 137"/>
                <a:gd name="T50" fmla="*/ 784 w 2099"/>
                <a:gd name="T51" fmla="*/ 73 h 137"/>
                <a:gd name="T52" fmla="*/ 1233 w 2099"/>
                <a:gd name="T53" fmla="*/ 73 h 137"/>
                <a:gd name="T54" fmla="*/ 1254 w 2099"/>
                <a:gd name="T55" fmla="*/ 71 h 137"/>
                <a:gd name="T56" fmla="*/ 1275 w 2099"/>
                <a:gd name="T57" fmla="*/ 67 h 137"/>
                <a:gd name="T58" fmla="*/ 1295 w 2099"/>
                <a:gd name="T59" fmla="*/ 61 h 137"/>
                <a:gd name="T60" fmla="*/ 1311 w 2099"/>
                <a:gd name="T61" fmla="*/ 53 h 137"/>
                <a:gd name="T62" fmla="*/ 1325 w 2099"/>
                <a:gd name="T63" fmla="*/ 41 h 137"/>
                <a:gd name="T64" fmla="*/ 1336 w 2099"/>
                <a:gd name="T65" fmla="*/ 28 h 137"/>
                <a:gd name="T66" fmla="*/ 1342 w 2099"/>
                <a:gd name="T67" fmla="*/ 15 h 137"/>
                <a:gd name="T68" fmla="*/ 1344 w 2099"/>
                <a:gd name="T69" fmla="*/ 0 h 13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099"/>
                <a:gd name="T106" fmla="*/ 0 h 137"/>
                <a:gd name="T107" fmla="*/ 2099 w 2099"/>
                <a:gd name="T108" fmla="*/ 137 h 13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099" h="137">
                  <a:moveTo>
                    <a:pt x="0" y="0"/>
                  </a:moveTo>
                  <a:lnTo>
                    <a:pt x="4" y="14"/>
                  </a:lnTo>
                  <a:lnTo>
                    <a:pt x="13" y="27"/>
                  </a:lnTo>
                  <a:lnTo>
                    <a:pt x="31" y="39"/>
                  </a:lnTo>
                  <a:lnTo>
                    <a:pt x="52" y="50"/>
                  </a:lnTo>
                  <a:lnTo>
                    <a:pt x="77" y="58"/>
                  </a:lnTo>
                  <a:lnTo>
                    <a:pt x="107" y="64"/>
                  </a:lnTo>
                  <a:lnTo>
                    <a:pt x="140" y="68"/>
                  </a:lnTo>
                  <a:lnTo>
                    <a:pt x="175" y="69"/>
                  </a:lnTo>
                  <a:lnTo>
                    <a:pt x="875" y="69"/>
                  </a:lnTo>
                  <a:lnTo>
                    <a:pt x="909" y="71"/>
                  </a:lnTo>
                  <a:lnTo>
                    <a:pt x="942" y="75"/>
                  </a:lnTo>
                  <a:lnTo>
                    <a:pt x="973" y="81"/>
                  </a:lnTo>
                  <a:lnTo>
                    <a:pt x="998" y="89"/>
                  </a:lnTo>
                  <a:lnTo>
                    <a:pt x="1019" y="100"/>
                  </a:lnTo>
                  <a:lnTo>
                    <a:pt x="1036" y="112"/>
                  </a:lnTo>
                  <a:lnTo>
                    <a:pt x="1046" y="123"/>
                  </a:lnTo>
                  <a:lnTo>
                    <a:pt x="1050" y="137"/>
                  </a:lnTo>
                  <a:lnTo>
                    <a:pt x="1053" y="123"/>
                  </a:lnTo>
                  <a:lnTo>
                    <a:pt x="1063" y="112"/>
                  </a:lnTo>
                  <a:lnTo>
                    <a:pt x="1080" y="100"/>
                  </a:lnTo>
                  <a:lnTo>
                    <a:pt x="1102" y="89"/>
                  </a:lnTo>
                  <a:lnTo>
                    <a:pt x="1127" y="81"/>
                  </a:lnTo>
                  <a:lnTo>
                    <a:pt x="1157" y="75"/>
                  </a:lnTo>
                  <a:lnTo>
                    <a:pt x="1190" y="71"/>
                  </a:lnTo>
                  <a:lnTo>
                    <a:pt x="1225" y="69"/>
                  </a:lnTo>
                  <a:lnTo>
                    <a:pt x="1925" y="69"/>
                  </a:lnTo>
                  <a:lnTo>
                    <a:pt x="1959" y="68"/>
                  </a:lnTo>
                  <a:lnTo>
                    <a:pt x="1992" y="64"/>
                  </a:lnTo>
                  <a:lnTo>
                    <a:pt x="2023" y="58"/>
                  </a:lnTo>
                  <a:lnTo>
                    <a:pt x="2048" y="50"/>
                  </a:lnTo>
                  <a:lnTo>
                    <a:pt x="2069" y="39"/>
                  </a:lnTo>
                  <a:lnTo>
                    <a:pt x="2086" y="27"/>
                  </a:lnTo>
                  <a:lnTo>
                    <a:pt x="2096" y="14"/>
                  </a:lnTo>
                  <a:lnTo>
                    <a:pt x="2099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1030">
              <a:extLst>
                <a:ext uri="{FF2B5EF4-FFF2-40B4-BE49-F238E27FC236}">
                  <a16:creationId xmlns:a16="http://schemas.microsoft.com/office/drawing/2014/main" id="{2D089ADA-6BC9-4334-8112-5A92D7C5F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7" y="1815"/>
              <a:ext cx="256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known to be less than </a:t>
              </a:r>
              <a:r>
                <a:rPr lang="en-US" altLang="en-US" sz="2000" i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target</a:t>
              </a:r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7" name="Group 1031">
            <a:extLst>
              <a:ext uri="{FF2B5EF4-FFF2-40B4-BE49-F238E27FC236}">
                <a16:creationId xmlns:a16="http://schemas.microsoft.com/office/drawing/2014/main" id="{E03FCB0E-96B5-4175-BF5F-561A8BE390E9}"/>
              </a:ext>
            </a:extLst>
          </p:cNvPr>
          <p:cNvGrpSpPr>
            <a:grpSpLocks/>
          </p:cNvGrpSpPr>
          <p:nvPr/>
        </p:nvGrpSpPr>
        <p:grpSpPr bwMode="auto">
          <a:xfrm>
            <a:off x="5176838" y="5639437"/>
            <a:ext cx="2057400" cy="609600"/>
            <a:chOff x="2160" y="1776"/>
            <a:chExt cx="1296" cy="384"/>
          </a:xfrm>
        </p:grpSpPr>
        <p:sp>
          <p:nvSpPr>
            <p:cNvPr id="8" name="Freeform 1032">
              <a:extLst>
                <a:ext uri="{FF2B5EF4-FFF2-40B4-BE49-F238E27FC236}">
                  <a16:creationId xmlns:a16="http://schemas.microsoft.com/office/drawing/2014/main" id="{31FB61A6-9BC8-490D-B368-EBFC0B847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776"/>
              <a:ext cx="1296" cy="144"/>
            </a:xfrm>
            <a:custGeom>
              <a:avLst/>
              <a:gdLst>
                <a:gd name="T0" fmla="*/ 0 w 1644"/>
                <a:gd name="T1" fmla="*/ 0 h 137"/>
                <a:gd name="T2" fmla="*/ 2 w 1644"/>
                <a:gd name="T3" fmla="*/ 15 h 137"/>
                <a:gd name="T4" fmla="*/ 9 w 1644"/>
                <a:gd name="T5" fmla="*/ 28 h 137"/>
                <a:gd name="T6" fmla="*/ 19 w 1644"/>
                <a:gd name="T7" fmla="*/ 41 h 137"/>
                <a:gd name="T8" fmla="*/ 32 w 1644"/>
                <a:gd name="T9" fmla="*/ 53 h 137"/>
                <a:gd name="T10" fmla="*/ 47 w 1644"/>
                <a:gd name="T11" fmla="*/ 61 h 137"/>
                <a:gd name="T12" fmla="*/ 65 w 1644"/>
                <a:gd name="T13" fmla="*/ 67 h 137"/>
                <a:gd name="T14" fmla="*/ 87 w 1644"/>
                <a:gd name="T15" fmla="*/ 71 h 137"/>
                <a:gd name="T16" fmla="*/ 108 w 1644"/>
                <a:gd name="T17" fmla="*/ 73 h 137"/>
                <a:gd name="T18" fmla="*/ 540 w 1644"/>
                <a:gd name="T19" fmla="*/ 73 h 137"/>
                <a:gd name="T20" fmla="*/ 563 w 1644"/>
                <a:gd name="T21" fmla="*/ 75 h 137"/>
                <a:gd name="T22" fmla="*/ 583 w 1644"/>
                <a:gd name="T23" fmla="*/ 79 h 137"/>
                <a:gd name="T24" fmla="*/ 601 w 1644"/>
                <a:gd name="T25" fmla="*/ 85 h 137"/>
                <a:gd name="T26" fmla="*/ 617 w 1644"/>
                <a:gd name="T27" fmla="*/ 94 h 137"/>
                <a:gd name="T28" fmla="*/ 631 w 1644"/>
                <a:gd name="T29" fmla="*/ 105 h 137"/>
                <a:gd name="T30" fmla="*/ 640 w 1644"/>
                <a:gd name="T31" fmla="*/ 118 h 137"/>
                <a:gd name="T32" fmla="*/ 648 w 1644"/>
                <a:gd name="T33" fmla="*/ 129 h 137"/>
                <a:gd name="T34" fmla="*/ 649 w 1644"/>
                <a:gd name="T35" fmla="*/ 144 h 137"/>
                <a:gd name="T36" fmla="*/ 650 w 1644"/>
                <a:gd name="T37" fmla="*/ 129 h 137"/>
                <a:gd name="T38" fmla="*/ 658 w 1644"/>
                <a:gd name="T39" fmla="*/ 118 h 137"/>
                <a:gd name="T40" fmla="*/ 668 w 1644"/>
                <a:gd name="T41" fmla="*/ 105 h 137"/>
                <a:gd name="T42" fmla="*/ 681 w 1644"/>
                <a:gd name="T43" fmla="*/ 94 h 137"/>
                <a:gd name="T44" fmla="*/ 696 w 1644"/>
                <a:gd name="T45" fmla="*/ 85 h 137"/>
                <a:gd name="T46" fmla="*/ 714 w 1644"/>
                <a:gd name="T47" fmla="*/ 79 h 137"/>
                <a:gd name="T48" fmla="*/ 736 w 1644"/>
                <a:gd name="T49" fmla="*/ 75 h 137"/>
                <a:gd name="T50" fmla="*/ 757 w 1644"/>
                <a:gd name="T51" fmla="*/ 73 h 137"/>
                <a:gd name="T52" fmla="*/ 1189 w 1644"/>
                <a:gd name="T53" fmla="*/ 73 h 137"/>
                <a:gd name="T54" fmla="*/ 1210 w 1644"/>
                <a:gd name="T55" fmla="*/ 71 h 137"/>
                <a:gd name="T56" fmla="*/ 1231 w 1644"/>
                <a:gd name="T57" fmla="*/ 67 h 137"/>
                <a:gd name="T58" fmla="*/ 1249 w 1644"/>
                <a:gd name="T59" fmla="*/ 61 h 137"/>
                <a:gd name="T60" fmla="*/ 1264 w 1644"/>
                <a:gd name="T61" fmla="*/ 53 h 137"/>
                <a:gd name="T62" fmla="*/ 1278 w 1644"/>
                <a:gd name="T63" fmla="*/ 41 h 137"/>
                <a:gd name="T64" fmla="*/ 1287 w 1644"/>
                <a:gd name="T65" fmla="*/ 28 h 137"/>
                <a:gd name="T66" fmla="*/ 1295 w 1644"/>
                <a:gd name="T67" fmla="*/ 15 h 137"/>
                <a:gd name="T68" fmla="*/ 1296 w 1644"/>
                <a:gd name="T69" fmla="*/ 0 h 13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644"/>
                <a:gd name="T106" fmla="*/ 0 h 137"/>
                <a:gd name="T107" fmla="*/ 1644 w 1644"/>
                <a:gd name="T108" fmla="*/ 137 h 13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644" h="137">
                  <a:moveTo>
                    <a:pt x="0" y="0"/>
                  </a:moveTo>
                  <a:lnTo>
                    <a:pt x="2" y="14"/>
                  </a:lnTo>
                  <a:lnTo>
                    <a:pt x="12" y="27"/>
                  </a:lnTo>
                  <a:lnTo>
                    <a:pt x="24" y="39"/>
                  </a:lnTo>
                  <a:lnTo>
                    <a:pt x="41" y="50"/>
                  </a:lnTo>
                  <a:lnTo>
                    <a:pt x="60" y="58"/>
                  </a:lnTo>
                  <a:lnTo>
                    <a:pt x="83" y="64"/>
                  </a:lnTo>
                  <a:lnTo>
                    <a:pt x="110" y="68"/>
                  </a:lnTo>
                  <a:lnTo>
                    <a:pt x="137" y="69"/>
                  </a:lnTo>
                  <a:lnTo>
                    <a:pt x="685" y="69"/>
                  </a:lnTo>
                  <a:lnTo>
                    <a:pt x="714" y="71"/>
                  </a:lnTo>
                  <a:lnTo>
                    <a:pt x="739" y="75"/>
                  </a:lnTo>
                  <a:lnTo>
                    <a:pt x="762" y="81"/>
                  </a:lnTo>
                  <a:lnTo>
                    <a:pt x="783" y="89"/>
                  </a:lnTo>
                  <a:lnTo>
                    <a:pt x="800" y="100"/>
                  </a:lnTo>
                  <a:lnTo>
                    <a:pt x="812" y="112"/>
                  </a:lnTo>
                  <a:lnTo>
                    <a:pt x="822" y="123"/>
                  </a:lnTo>
                  <a:lnTo>
                    <a:pt x="823" y="137"/>
                  </a:lnTo>
                  <a:lnTo>
                    <a:pt x="825" y="123"/>
                  </a:lnTo>
                  <a:lnTo>
                    <a:pt x="835" y="112"/>
                  </a:lnTo>
                  <a:lnTo>
                    <a:pt x="847" y="100"/>
                  </a:lnTo>
                  <a:lnTo>
                    <a:pt x="864" y="89"/>
                  </a:lnTo>
                  <a:lnTo>
                    <a:pt x="883" y="81"/>
                  </a:lnTo>
                  <a:lnTo>
                    <a:pt x="906" y="75"/>
                  </a:lnTo>
                  <a:lnTo>
                    <a:pt x="933" y="71"/>
                  </a:lnTo>
                  <a:lnTo>
                    <a:pt x="960" y="69"/>
                  </a:lnTo>
                  <a:lnTo>
                    <a:pt x="1508" y="69"/>
                  </a:lnTo>
                  <a:lnTo>
                    <a:pt x="1535" y="68"/>
                  </a:lnTo>
                  <a:lnTo>
                    <a:pt x="1562" y="64"/>
                  </a:lnTo>
                  <a:lnTo>
                    <a:pt x="1585" y="58"/>
                  </a:lnTo>
                  <a:lnTo>
                    <a:pt x="1604" y="50"/>
                  </a:lnTo>
                  <a:lnTo>
                    <a:pt x="1621" y="39"/>
                  </a:lnTo>
                  <a:lnTo>
                    <a:pt x="1633" y="27"/>
                  </a:lnTo>
                  <a:lnTo>
                    <a:pt x="1643" y="14"/>
                  </a:lnTo>
                  <a:lnTo>
                    <a:pt x="1644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1033">
              <a:extLst>
                <a:ext uri="{FF2B5EF4-FFF2-40B4-BE49-F238E27FC236}">
                  <a16:creationId xmlns:a16="http://schemas.microsoft.com/office/drawing/2014/main" id="{02CED559-4797-4A44-AFF4-6F935FF65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968"/>
              <a:ext cx="1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still to be searched</a:t>
              </a:r>
            </a:p>
          </p:txBody>
        </p:sp>
      </p:grpSp>
      <p:grpSp>
        <p:nvGrpSpPr>
          <p:cNvPr id="10" name="Group 1034">
            <a:extLst>
              <a:ext uri="{FF2B5EF4-FFF2-40B4-BE49-F238E27FC236}">
                <a16:creationId xmlns:a16="http://schemas.microsoft.com/office/drawing/2014/main" id="{5BA6E7DC-D3C5-434C-88C5-8B894A8E1701}"/>
              </a:ext>
            </a:extLst>
          </p:cNvPr>
          <p:cNvGrpSpPr>
            <a:grpSpLocks/>
          </p:cNvGrpSpPr>
          <p:nvPr/>
        </p:nvGrpSpPr>
        <p:grpSpPr bwMode="auto">
          <a:xfrm>
            <a:off x="7091999" y="5639437"/>
            <a:ext cx="4195763" cy="612775"/>
            <a:chOff x="3358" y="1776"/>
            <a:chExt cx="2643" cy="386"/>
          </a:xfrm>
        </p:grpSpPr>
        <p:sp>
          <p:nvSpPr>
            <p:cNvPr id="11" name="Freeform 1035">
              <a:extLst>
                <a:ext uri="{FF2B5EF4-FFF2-40B4-BE49-F238E27FC236}">
                  <a16:creationId xmlns:a16="http://schemas.microsoft.com/office/drawing/2014/main" id="{4BCF678D-9719-49CB-B155-89F5BF5C1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776"/>
              <a:ext cx="1296" cy="144"/>
            </a:xfrm>
            <a:custGeom>
              <a:avLst/>
              <a:gdLst>
                <a:gd name="T0" fmla="*/ 0 w 1644"/>
                <a:gd name="T1" fmla="*/ 0 h 137"/>
                <a:gd name="T2" fmla="*/ 2 w 1644"/>
                <a:gd name="T3" fmla="*/ 15 h 137"/>
                <a:gd name="T4" fmla="*/ 9 w 1644"/>
                <a:gd name="T5" fmla="*/ 28 h 137"/>
                <a:gd name="T6" fmla="*/ 19 w 1644"/>
                <a:gd name="T7" fmla="*/ 41 h 137"/>
                <a:gd name="T8" fmla="*/ 32 w 1644"/>
                <a:gd name="T9" fmla="*/ 53 h 137"/>
                <a:gd name="T10" fmla="*/ 47 w 1644"/>
                <a:gd name="T11" fmla="*/ 61 h 137"/>
                <a:gd name="T12" fmla="*/ 65 w 1644"/>
                <a:gd name="T13" fmla="*/ 67 h 137"/>
                <a:gd name="T14" fmla="*/ 87 w 1644"/>
                <a:gd name="T15" fmla="*/ 71 h 137"/>
                <a:gd name="T16" fmla="*/ 108 w 1644"/>
                <a:gd name="T17" fmla="*/ 73 h 137"/>
                <a:gd name="T18" fmla="*/ 540 w 1644"/>
                <a:gd name="T19" fmla="*/ 73 h 137"/>
                <a:gd name="T20" fmla="*/ 563 w 1644"/>
                <a:gd name="T21" fmla="*/ 75 h 137"/>
                <a:gd name="T22" fmla="*/ 583 w 1644"/>
                <a:gd name="T23" fmla="*/ 79 h 137"/>
                <a:gd name="T24" fmla="*/ 601 w 1644"/>
                <a:gd name="T25" fmla="*/ 85 h 137"/>
                <a:gd name="T26" fmla="*/ 617 w 1644"/>
                <a:gd name="T27" fmla="*/ 94 h 137"/>
                <a:gd name="T28" fmla="*/ 631 w 1644"/>
                <a:gd name="T29" fmla="*/ 105 h 137"/>
                <a:gd name="T30" fmla="*/ 640 w 1644"/>
                <a:gd name="T31" fmla="*/ 118 h 137"/>
                <a:gd name="T32" fmla="*/ 648 w 1644"/>
                <a:gd name="T33" fmla="*/ 129 h 137"/>
                <a:gd name="T34" fmla="*/ 649 w 1644"/>
                <a:gd name="T35" fmla="*/ 144 h 137"/>
                <a:gd name="T36" fmla="*/ 650 w 1644"/>
                <a:gd name="T37" fmla="*/ 129 h 137"/>
                <a:gd name="T38" fmla="*/ 658 w 1644"/>
                <a:gd name="T39" fmla="*/ 118 h 137"/>
                <a:gd name="T40" fmla="*/ 668 w 1644"/>
                <a:gd name="T41" fmla="*/ 105 h 137"/>
                <a:gd name="T42" fmla="*/ 681 w 1644"/>
                <a:gd name="T43" fmla="*/ 94 h 137"/>
                <a:gd name="T44" fmla="*/ 696 w 1644"/>
                <a:gd name="T45" fmla="*/ 85 h 137"/>
                <a:gd name="T46" fmla="*/ 714 w 1644"/>
                <a:gd name="T47" fmla="*/ 79 h 137"/>
                <a:gd name="T48" fmla="*/ 736 w 1644"/>
                <a:gd name="T49" fmla="*/ 75 h 137"/>
                <a:gd name="T50" fmla="*/ 757 w 1644"/>
                <a:gd name="T51" fmla="*/ 73 h 137"/>
                <a:gd name="T52" fmla="*/ 1189 w 1644"/>
                <a:gd name="T53" fmla="*/ 73 h 137"/>
                <a:gd name="T54" fmla="*/ 1210 w 1644"/>
                <a:gd name="T55" fmla="*/ 71 h 137"/>
                <a:gd name="T56" fmla="*/ 1231 w 1644"/>
                <a:gd name="T57" fmla="*/ 67 h 137"/>
                <a:gd name="T58" fmla="*/ 1249 w 1644"/>
                <a:gd name="T59" fmla="*/ 61 h 137"/>
                <a:gd name="T60" fmla="*/ 1264 w 1644"/>
                <a:gd name="T61" fmla="*/ 53 h 137"/>
                <a:gd name="T62" fmla="*/ 1278 w 1644"/>
                <a:gd name="T63" fmla="*/ 41 h 137"/>
                <a:gd name="T64" fmla="*/ 1287 w 1644"/>
                <a:gd name="T65" fmla="*/ 28 h 137"/>
                <a:gd name="T66" fmla="*/ 1295 w 1644"/>
                <a:gd name="T67" fmla="*/ 15 h 137"/>
                <a:gd name="T68" fmla="*/ 1296 w 1644"/>
                <a:gd name="T69" fmla="*/ 0 h 13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644"/>
                <a:gd name="T106" fmla="*/ 0 h 137"/>
                <a:gd name="T107" fmla="*/ 1644 w 1644"/>
                <a:gd name="T108" fmla="*/ 137 h 13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644" h="137">
                  <a:moveTo>
                    <a:pt x="0" y="0"/>
                  </a:moveTo>
                  <a:lnTo>
                    <a:pt x="2" y="14"/>
                  </a:lnTo>
                  <a:lnTo>
                    <a:pt x="12" y="27"/>
                  </a:lnTo>
                  <a:lnTo>
                    <a:pt x="24" y="39"/>
                  </a:lnTo>
                  <a:lnTo>
                    <a:pt x="41" y="50"/>
                  </a:lnTo>
                  <a:lnTo>
                    <a:pt x="60" y="58"/>
                  </a:lnTo>
                  <a:lnTo>
                    <a:pt x="83" y="64"/>
                  </a:lnTo>
                  <a:lnTo>
                    <a:pt x="110" y="68"/>
                  </a:lnTo>
                  <a:lnTo>
                    <a:pt x="137" y="69"/>
                  </a:lnTo>
                  <a:lnTo>
                    <a:pt x="685" y="69"/>
                  </a:lnTo>
                  <a:lnTo>
                    <a:pt x="714" y="71"/>
                  </a:lnTo>
                  <a:lnTo>
                    <a:pt x="739" y="75"/>
                  </a:lnTo>
                  <a:lnTo>
                    <a:pt x="762" y="81"/>
                  </a:lnTo>
                  <a:lnTo>
                    <a:pt x="783" y="89"/>
                  </a:lnTo>
                  <a:lnTo>
                    <a:pt x="800" y="100"/>
                  </a:lnTo>
                  <a:lnTo>
                    <a:pt x="812" y="112"/>
                  </a:lnTo>
                  <a:lnTo>
                    <a:pt x="822" y="123"/>
                  </a:lnTo>
                  <a:lnTo>
                    <a:pt x="823" y="137"/>
                  </a:lnTo>
                  <a:lnTo>
                    <a:pt x="825" y="123"/>
                  </a:lnTo>
                  <a:lnTo>
                    <a:pt x="835" y="112"/>
                  </a:lnTo>
                  <a:lnTo>
                    <a:pt x="847" y="100"/>
                  </a:lnTo>
                  <a:lnTo>
                    <a:pt x="864" y="89"/>
                  </a:lnTo>
                  <a:lnTo>
                    <a:pt x="883" y="81"/>
                  </a:lnTo>
                  <a:lnTo>
                    <a:pt x="906" y="75"/>
                  </a:lnTo>
                  <a:lnTo>
                    <a:pt x="933" y="71"/>
                  </a:lnTo>
                  <a:lnTo>
                    <a:pt x="960" y="69"/>
                  </a:lnTo>
                  <a:lnTo>
                    <a:pt x="1508" y="69"/>
                  </a:lnTo>
                  <a:lnTo>
                    <a:pt x="1535" y="68"/>
                  </a:lnTo>
                  <a:lnTo>
                    <a:pt x="1562" y="64"/>
                  </a:lnTo>
                  <a:lnTo>
                    <a:pt x="1585" y="58"/>
                  </a:lnTo>
                  <a:lnTo>
                    <a:pt x="1604" y="50"/>
                  </a:lnTo>
                  <a:lnTo>
                    <a:pt x="1621" y="39"/>
                  </a:lnTo>
                  <a:lnTo>
                    <a:pt x="1633" y="27"/>
                  </a:lnTo>
                  <a:lnTo>
                    <a:pt x="1643" y="14"/>
                  </a:lnTo>
                  <a:lnTo>
                    <a:pt x="1644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036">
              <a:extLst>
                <a:ext uri="{FF2B5EF4-FFF2-40B4-BE49-F238E27FC236}">
                  <a16:creationId xmlns:a16="http://schemas.microsoft.com/office/drawing/2014/main" id="{B0E77339-B0A8-4644-8237-FBE7B9BD6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968"/>
              <a:ext cx="26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known to be greater than </a:t>
              </a:r>
              <a:r>
                <a:rPr lang="en-US" altLang="en-US" sz="2000" i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target</a:t>
              </a:r>
              <a:r>
                <a:rPr lang="en-US" altLang="en-US" sz="2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13" name="Group 1037">
            <a:extLst>
              <a:ext uri="{FF2B5EF4-FFF2-40B4-BE49-F238E27FC236}">
                <a16:creationId xmlns:a16="http://schemas.microsoft.com/office/drawing/2014/main" id="{211E0B94-054E-42ED-92A6-EDEF4C136727}"/>
              </a:ext>
            </a:extLst>
          </p:cNvPr>
          <p:cNvGrpSpPr>
            <a:grpSpLocks/>
          </p:cNvGrpSpPr>
          <p:nvPr/>
        </p:nvGrpSpPr>
        <p:grpSpPr bwMode="auto">
          <a:xfrm>
            <a:off x="2824163" y="4953000"/>
            <a:ext cx="6500813" cy="762000"/>
            <a:chOff x="678" y="1296"/>
            <a:chExt cx="4095" cy="480"/>
          </a:xfrm>
        </p:grpSpPr>
        <p:sp>
          <p:nvSpPr>
            <p:cNvPr id="14" name="Rectangle 1038">
              <a:extLst>
                <a:ext uri="{FF2B5EF4-FFF2-40B4-BE49-F238E27FC236}">
                  <a16:creationId xmlns:a16="http://schemas.microsoft.com/office/drawing/2014/main" id="{7819E52A-7873-4FBE-AF5A-B490DB207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039">
              <a:extLst>
                <a:ext uri="{FF2B5EF4-FFF2-40B4-BE49-F238E27FC236}">
                  <a16:creationId xmlns:a16="http://schemas.microsoft.com/office/drawing/2014/main" id="{CDFD4C97-D1FF-4657-ABDA-BED01CC55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" y="1296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left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1040">
              <a:extLst>
                <a:ext uri="{FF2B5EF4-FFF2-40B4-BE49-F238E27FC236}">
                  <a16:creationId xmlns:a16="http://schemas.microsoft.com/office/drawing/2014/main" id="{B8B82C43-244F-496A-B578-5A77D5A5B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296"/>
              <a:ext cx="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041">
              <a:extLst>
                <a:ext uri="{FF2B5EF4-FFF2-40B4-BE49-F238E27FC236}">
                  <a16:creationId xmlns:a16="http://schemas.microsoft.com/office/drawing/2014/main" id="{EA0AFDEF-418D-404B-A8CB-B6E0D7693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296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–1</a:t>
              </a:r>
            </a:p>
          </p:txBody>
        </p:sp>
        <p:sp>
          <p:nvSpPr>
            <p:cNvPr id="18" name="Rectangle 1042">
              <a:extLst>
                <a:ext uri="{FF2B5EF4-FFF2-40B4-BE49-F238E27FC236}">
                  <a16:creationId xmlns:a16="http://schemas.microsoft.com/office/drawing/2014/main" id="{465173FF-0493-44A0-AE0C-6266AA5C7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" y="1488"/>
              <a:ext cx="1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/>
              <a:r>
                <a:rPr lang="en-US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043">
              <a:extLst>
                <a:ext uri="{FF2B5EF4-FFF2-40B4-BE49-F238E27FC236}">
                  <a16:creationId xmlns:a16="http://schemas.microsoft.com/office/drawing/2014/main" id="{2EADC1C7-3529-428D-9BDA-F13C94B42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488"/>
              <a:ext cx="453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0" name="Rectangle 1044">
              <a:extLst>
                <a:ext uri="{FF2B5EF4-FFF2-40B4-BE49-F238E27FC236}">
                  <a16:creationId xmlns:a16="http://schemas.microsoft.com/office/drawing/2014/main" id="{A8E3D195-A300-4262-AB86-D8004A348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488"/>
              <a:ext cx="453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" name="Rectangle 1045">
              <a:extLst>
                <a:ext uri="{FF2B5EF4-FFF2-40B4-BE49-F238E27FC236}">
                  <a16:creationId xmlns:a16="http://schemas.microsoft.com/office/drawing/2014/main" id="{43FDDE54-619B-4C24-BA9F-9F1CE0C6B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488"/>
              <a:ext cx="453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" name="Rectangle 1046">
              <a:extLst>
                <a:ext uri="{FF2B5EF4-FFF2-40B4-BE49-F238E27FC236}">
                  <a16:creationId xmlns:a16="http://schemas.microsoft.com/office/drawing/2014/main" id="{EA703961-F9CE-4C93-B504-96B890E0D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296"/>
              <a:ext cx="2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right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1047">
              <a:extLst>
                <a:ext uri="{FF2B5EF4-FFF2-40B4-BE49-F238E27FC236}">
                  <a16:creationId xmlns:a16="http://schemas.microsoft.com/office/drawing/2014/main" id="{EECEDD6A-095B-4EF8-8C55-88AA39515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88"/>
              <a:ext cx="453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" name="Rectangle 1048">
              <a:extLst>
                <a:ext uri="{FF2B5EF4-FFF2-40B4-BE49-F238E27FC236}">
                  <a16:creationId xmlns:a16="http://schemas.microsoft.com/office/drawing/2014/main" id="{A095C32B-88FB-4BF3-968F-5147D1C9D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296"/>
              <a:ext cx="20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+1</a:t>
              </a:r>
            </a:p>
          </p:txBody>
        </p:sp>
        <p:sp>
          <p:nvSpPr>
            <p:cNvPr id="25" name="Rectangle 1049">
              <a:extLst>
                <a:ext uri="{FF2B5EF4-FFF2-40B4-BE49-F238E27FC236}">
                  <a16:creationId xmlns:a16="http://schemas.microsoft.com/office/drawing/2014/main" id="{1DB9657E-6A61-4118-BD60-A1FAAF910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488"/>
              <a:ext cx="453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" name="Rectangle 1050">
              <a:extLst>
                <a:ext uri="{FF2B5EF4-FFF2-40B4-BE49-F238E27FC236}">
                  <a16:creationId xmlns:a16="http://schemas.microsoft.com/office/drawing/2014/main" id="{0CEFBBD3-456A-4460-B47A-124B9EFA1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" y="1488"/>
              <a:ext cx="453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" name="Rectangle 1051">
              <a:extLst>
                <a:ext uri="{FF2B5EF4-FFF2-40B4-BE49-F238E27FC236}">
                  <a16:creationId xmlns:a16="http://schemas.microsoft.com/office/drawing/2014/main" id="{20D058ED-C68C-490D-89EF-47A5F3BB0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1488"/>
              <a:ext cx="453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" name="Rectangle 1052">
              <a:extLst>
                <a:ext uri="{FF2B5EF4-FFF2-40B4-BE49-F238E27FC236}">
                  <a16:creationId xmlns:a16="http://schemas.microsoft.com/office/drawing/2014/main" id="{8B0DA227-941B-4EC8-8350-F4A1B7B45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488"/>
              <a:ext cx="453" cy="227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" name="Rectangle 1053">
              <a:extLst>
                <a:ext uri="{FF2B5EF4-FFF2-40B4-BE49-F238E27FC236}">
                  <a16:creationId xmlns:a16="http://schemas.microsoft.com/office/drawing/2014/main" id="{748E6F59-5007-49DD-B731-93468EBEC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488"/>
              <a:ext cx="453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Freeform 1054">
              <a:extLst>
                <a:ext uri="{FF2B5EF4-FFF2-40B4-BE49-F238E27FC236}">
                  <a16:creationId xmlns:a16="http://schemas.microsoft.com/office/drawing/2014/main" id="{97BB089D-2EA4-4E56-82B0-5D2A9A072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40"/>
              <a:ext cx="192" cy="336"/>
            </a:xfrm>
            <a:custGeom>
              <a:avLst/>
              <a:gdLst>
                <a:gd name="T0" fmla="*/ 96 w 192"/>
                <a:gd name="T1" fmla="*/ 0 h 336"/>
                <a:gd name="T2" fmla="*/ 192 w 192"/>
                <a:gd name="T3" fmla="*/ 0 h 336"/>
                <a:gd name="T4" fmla="*/ 96 w 192"/>
                <a:gd name="T5" fmla="*/ 336 h 336"/>
                <a:gd name="T6" fmla="*/ 0 w 192"/>
                <a:gd name="T7" fmla="*/ 336 h 336"/>
                <a:gd name="T8" fmla="*/ 96 w 19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36"/>
                <a:gd name="T17" fmla="*/ 192 w 19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36">
                  <a:moveTo>
                    <a:pt x="96" y="0"/>
                  </a:moveTo>
                  <a:lnTo>
                    <a:pt x="192" y="0"/>
                  </a:lnTo>
                  <a:lnTo>
                    <a:pt x="96" y="336"/>
                  </a:lnTo>
                  <a:lnTo>
                    <a:pt x="0" y="33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/>
            <a:lstStyle/>
            <a:p>
              <a:endParaRPr lang="en-US"/>
            </a:p>
          </p:txBody>
        </p:sp>
        <p:sp>
          <p:nvSpPr>
            <p:cNvPr id="31" name="Freeform 1055">
              <a:extLst>
                <a:ext uri="{FF2B5EF4-FFF2-40B4-BE49-F238E27FC236}">
                  <a16:creationId xmlns:a16="http://schemas.microsoft.com/office/drawing/2014/main" id="{5BF6CB74-A203-4112-A3E7-C3B91D26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1440"/>
              <a:ext cx="192" cy="336"/>
            </a:xfrm>
            <a:custGeom>
              <a:avLst/>
              <a:gdLst>
                <a:gd name="T0" fmla="*/ 96 w 192"/>
                <a:gd name="T1" fmla="*/ 0 h 336"/>
                <a:gd name="T2" fmla="*/ 192 w 192"/>
                <a:gd name="T3" fmla="*/ 0 h 336"/>
                <a:gd name="T4" fmla="*/ 96 w 192"/>
                <a:gd name="T5" fmla="*/ 336 h 336"/>
                <a:gd name="T6" fmla="*/ 0 w 192"/>
                <a:gd name="T7" fmla="*/ 336 h 336"/>
                <a:gd name="T8" fmla="*/ 96 w 19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36"/>
                <a:gd name="T17" fmla="*/ 192 w 19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36">
                  <a:moveTo>
                    <a:pt x="96" y="0"/>
                  </a:moveTo>
                  <a:lnTo>
                    <a:pt x="192" y="0"/>
                  </a:lnTo>
                  <a:lnTo>
                    <a:pt x="96" y="336"/>
                  </a:lnTo>
                  <a:lnTo>
                    <a:pt x="0" y="33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/>
            <a:lstStyle/>
            <a:p>
              <a:endParaRPr lang="en-US"/>
            </a:p>
          </p:txBody>
        </p:sp>
        <p:sp>
          <p:nvSpPr>
            <p:cNvPr id="32" name="Freeform 1056">
              <a:extLst>
                <a:ext uri="{FF2B5EF4-FFF2-40B4-BE49-F238E27FC236}">
                  <a16:creationId xmlns:a16="http://schemas.microsoft.com/office/drawing/2014/main" id="{0FC6333C-E302-4223-950E-80D43A9E6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1440"/>
              <a:ext cx="192" cy="336"/>
            </a:xfrm>
            <a:custGeom>
              <a:avLst/>
              <a:gdLst>
                <a:gd name="T0" fmla="*/ 96 w 192"/>
                <a:gd name="T1" fmla="*/ 0 h 336"/>
                <a:gd name="T2" fmla="*/ 192 w 192"/>
                <a:gd name="T3" fmla="*/ 0 h 336"/>
                <a:gd name="T4" fmla="*/ 96 w 192"/>
                <a:gd name="T5" fmla="*/ 336 h 336"/>
                <a:gd name="T6" fmla="*/ 0 w 192"/>
                <a:gd name="T7" fmla="*/ 336 h 336"/>
                <a:gd name="T8" fmla="*/ 96 w 19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336"/>
                <a:gd name="T17" fmla="*/ 192 w 192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336">
                  <a:moveTo>
                    <a:pt x="96" y="0"/>
                  </a:moveTo>
                  <a:lnTo>
                    <a:pt x="192" y="0"/>
                  </a:lnTo>
                  <a:lnTo>
                    <a:pt x="96" y="336"/>
                  </a:lnTo>
                  <a:lnTo>
                    <a:pt x="0" y="33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971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94BBD-B1AA-45F8-8ACA-983D4A02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E62A-B898-426C-BD57-2A51218AC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Counting operations:</a:t>
            </a:r>
          </a:p>
          <a:p>
            <a:pPr lvl="1"/>
            <a:r>
              <a:rPr lang="en-US" altLang="en-US" dirty="0"/>
              <a:t>If the search is </a:t>
            </a:r>
            <a:r>
              <a:rPr lang="en-US" altLang="en-US" b="1" dirty="0"/>
              <a:t>unsuccessful</a:t>
            </a:r>
            <a:r>
              <a:rPr lang="en-US" altLang="en-US" dirty="0"/>
              <a:t>, these steps are repeated as often as we must halve </a:t>
            </a:r>
            <a:r>
              <a:rPr lang="en-US" altLang="en-US" i="1" dirty="0"/>
              <a:t>n</a:t>
            </a:r>
            <a:r>
              <a:rPr lang="en-US" altLang="en-US" dirty="0"/>
              <a:t> to reach 0:</a:t>
            </a:r>
          </a:p>
          <a:p>
            <a:pPr lvl="2"/>
            <a:r>
              <a:rPr lang="en-US" altLang="en-US" sz="2400" dirty="0"/>
              <a:t>Number of comparisons  =  3 (floor(log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</a:t>
            </a:r>
            <a:r>
              <a:rPr lang="en-US" altLang="en-US" sz="2400" i="1" dirty="0"/>
              <a:t>n</a:t>
            </a:r>
            <a:r>
              <a:rPr lang="en-US" altLang="en-US" sz="2400" dirty="0"/>
              <a:t>) + 1)</a:t>
            </a:r>
          </a:p>
          <a:p>
            <a:pPr lvl="1"/>
            <a:r>
              <a:rPr lang="en-US" altLang="en-US" dirty="0"/>
              <a:t>If the search is </a:t>
            </a:r>
            <a:r>
              <a:rPr lang="en-US" altLang="en-US" b="1" dirty="0"/>
              <a:t>successful</a:t>
            </a:r>
            <a:r>
              <a:rPr lang="en-US" altLang="en-US" dirty="0"/>
              <a:t>, these steps are repeated at most that many times:</a:t>
            </a:r>
          </a:p>
          <a:p>
            <a:pPr lvl="2"/>
            <a:r>
              <a:rPr lang="en-US" altLang="en-US" sz="2400" dirty="0"/>
              <a:t>Maximum number of comparisons  =  3 floor(log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</a:t>
            </a:r>
            <a:r>
              <a:rPr lang="en-US" altLang="en-US" sz="2400" i="1" dirty="0"/>
              <a:t>n</a:t>
            </a:r>
            <a:r>
              <a:rPr lang="en-US" altLang="en-US" sz="2400" dirty="0"/>
              <a:t>) + 3</a:t>
            </a:r>
          </a:p>
          <a:p>
            <a:pPr lvl="6">
              <a:spcBef>
                <a:spcPts val="900"/>
              </a:spcBef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In either case, the time complexity is </a:t>
            </a:r>
            <a:r>
              <a:rPr lang="en-US" altLang="en-US" sz="2800" i="1" dirty="0"/>
              <a:t>O</a:t>
            </a:r>
            <a:r>
              <a:rPr lang="en-US" altLang="en-US" sz="2800" dirty="0"/>
              <a:t>(log </a:t>
            </a:r>
            <a:r>
              <a:rPr lang="en-US" altLang="en-US" sz="2800" i="1" dirty="0"/>
              <a:t>n</a:t>
            </a:r>
            <a:r>
              <a:rPr lang="en-US" altLang="en-US" sz="2800" dirty="0"/>
              <a:t>)</a:t>
            </a:r>
          </a:p>
          <a:p>
            <a:pPr lvl="1"/>
            <a:r>
              <a:rPr lang="en-US" altLang="en-US" dirty="0"/>
              <a:t>Linear search is always O(n)</a:t>
            </a:r>
          </a:p>
          <a:p>
            <a:pPr lvl="1"/>
            <a:r>
              <a:rPr lang="en-US" altLang="en-US" dirty="0"/>
              <a:t>Trade-off: the array must always be sorted for binary search!</a:t>
            </a:r>
          </a:p>
          <a:p>
            <a:pPr lvl="2"/>
            <a:r>
              <a:rPr lang="en-US" altLang="en-US" dirty="0"/>
              <a:t>What’s the performance impact for keeping the array sorted?</a:t>
            </a:r>
          </a:p>
        </p:txBody>
      </p:sp>
    </p:spTree>
    <p:extLst>
      <p:ext uri="{BB962C8B-B14F-4D97-AF65-F5344CB8AC3E}">
        <p14:creationId xmlns:p14="http://schemas.microsoft.com/office/powerpoint/2010/main" val="81166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8EAF-D09E-471C-AFB5-855073D7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43B0-A70D-4F03-BF20-B59578F53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This is what our software has to do most of the time!</a:t>
            </a:r>
          </a:p>
          <a:p>
            <a:pPr lvl="1"/>
            <a:r>
              <a:rPr lang="en-US" altLang="en-US" dirty="0"/>
              <a:t>Sort then we can search faster!</a:t>
            </a:r>
          </a:p>
          <a:p>
            <a:pPr lvl="2"/>
            <a:r>
              <a:rPr lang="en-US" altLang="en-US" dirty="0"/>
              <a:t>E.g. Binary searching</a:t>
            </a:r>
          </a:p>
          <a:p>
            <a:pPr lvl="6"/>
            <a:endParaRPr lang="en-US" altLang="en-US" dirty="0"/>
          </a:p>
          <a:p>
            <a:r>
              <a:rPr lang="en-US" altLang="en-US" dirty="0"/>
              <a:t>Given an unsorted array of data, rearrange the data into a certain order (e.g. ascending order)</a:t>
            </a:r>
          </a:p>
          <a:p>
            <a:pPr lvl="1"/>
            <a:r>
              <a:rPr lang="en-CA" altLang="en-US" dirty="0"/>
              <a:t>If our data doesn’t change then it doesn’t matter how we sort the data</a:t>
            </a:r>
          </a:p>
          <a:p>
            <a:pPr lvl="1"/>
            <a:r>
              <a:rPr lang="en-CA" altLang="en-US" dirty="0"/>
              <a:t>If we allow adds, removes, or updates then we need to make sure it’s always in sorted order</a:t>
            </a:r>
          </a:p>
          <a:p>
            <a:pPr lvl="2"/>
            <a:r>
              <a:rPr lang="en-CA" altLang="en-US" dirty="0"/>
              <a:t>Must be efficient – always running!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1850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5220-CE87-4D5D-B296-7E3D8009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9F55-EF3C-452D-8718-54D1E4DC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many to choose from!</a:t>
            </a:r>
          </a:p>
          <a:p>
            <a:pPr lvl="4"/>
            <a:endParaRPr lang="en-US" dirty="0"/>
          </a:p>
          <a:p>
            <a:r>
              <a:rPr lang="en-US" dirty="0"/>
              <a:t>Internal Sorting</a:t>
            </a:r>
          </a:p>
          <a:p>
            <a:pPr lvl="1"/>
            <a:r>
              <a:rPr lang="en-US" dirty="0"/>
              <a:t>The whole collection of data resides in memory (RAM)</a:t>
            </a:r>
          </a:p>
          <a:p>
            <a:pPr lvl="1"/>
            <a:r>
              <a:rPr lang="en-US" dirty="0"/>
              <a:t>Faster access = faster sorting</a:t>
            </a:r>
          </a:p>
          <a:p>
            <a:r>
              <a:rPr lang="en-US" dirty="0"/>
              <a:t>External Sorting</a:t>
            </a:r>
          </a:p>
          <a:p>
            <a:pPr lvl="1"/>
            <a:r>
              <a:rPr lang="en-US" dirty="0"/>
              <a:t>Data resides in both memory and secondary storage (hard disk)</a:t>
            </a:r>
            <a:endParaRPr lang="en-CA" dirty="0"/>
          </a:p>
          <a:p>
            <a:pPr lvl="1"/>
            <a:r>
              <a:rPr lang="en-CA" dirty="0"/>
              <a:t>Slower due to transfer of data to/from disk</a:t>
            </a:r>
          </a:p>
          <a:p>
            <a:pPr lvl="1"/>
            <a:r>
              <a:rPr lang="en-CA" dirty="0"/>
              <a:t>We will not cover these types of sorts in this course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015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23B4-AEB0-43F7-B375-DA92BC89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303E6-A6FD-4599-9A48-F9F46AB8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Successively read each value and insert it into its correct position in an array</a:t>
            </a:r>
            <a:endParaRPr lang="en-CA" dirty="0"/>
          </a:p>
          <a:p>
            <a:pPr lvl="1"/>
            <a:r>
              <a:rPr lang="en-CA" dirty="0"/>
              <a:t>Very much like you would sort a hand of cards!</a:t>
            </a:r>
          </a:p>
          <a:p>
            <a:pPr lvl="5"/>
            <a:endParaRPr lang="en-CA" dirty="0"/>
          </a:p>
          <a:p>
            <a:r>
              <a:rPr lang="en-CA" dirty="0">
                <a:hlinkClick r:id="rId3"/>
              </a:rPr>
              <a:t>https://www.youtube.com/watch?v=DFG-XuyPYUQ&amp;ab_channel=CS50</a:t>
            </a:r>
            <a:endParaRPr lang="en-CA" dirty="0"/>
          </a:p>
          <a:p>
            <a:pPr lvl="4"/>
            <a:endParaRPr lang="en-CA" dirty="0"/>
          </a:p>
          <a:p>
            <a:r>
              <a:rPr lang="en-CA" dirty="0"/>
              <a:t>Time complexity – O(n</a:t>
            </a:r>
            <a:r>
              <a:rPr lang="en-CA" baseline="30000" dirty="0"/>
              <a:t>2</a:t>
            </a:r>
            <a:r>
              <a:rPr lang="en-CA" dirty="0"/>
              <a:t>)</a:t>
            </a:r>
          </a:p>
          <a:p>
            <a:r>
              <a:rPr lang="en-CA" dirty="0"/>
              <a:t>Space complexity – O(1)</a:t>
            </a:r>
          </a:p>
        </p:txBody>
      </p:sp>
    </p:spTree>
    <p:extLst>
      <p:ext uri="{BB962C8B-B14F-4D97-AF65-F5344CB8AC3E}">
        <p14:creationId xmlns:p14="http://schemas.microsoft.com/office/powerpoint/2010/main" val="2329631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23B4-AEB0-43F7-B375-DA92BC89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303E6-A6FD-4599-9A48-F9F46AB8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Find the smallest value in the array, swap it into the leftmost element where it belongs, then forget this element, repeat with next smallest value until done</a:t>
            </a:r>
          </a:p>
          <a:p>
            <a:pPr lvl="4"/>
            <a:endParaRPr lang="en-US" dirty="0"/>
          </a:p>
          <a:p>
            <a:r>
              <a:rPr lang="en-CA" dirty="0">
                <a:hlinkClick r:id="rId3"/>
              </a:rPr>
              <a:t>https://www.youtube.com/watch?v=f8hXR_Hvybo&amp;ab_channel=CS50</a:t>
            </a:r>
            <a:endParaRPr lang="en-US" dirty="0"/>
          </a:p>
          <a:p>
            <a:pPr lvl="4"/>
            <a:endParaRPr lang="en-US" dirty="0"/>
          </a:p>
          <a:p>
            <a:r>
              <a:rPr lang="en-CA" dirty="0"/>
              <a:t>Time complexity – O(n</a:t>
            </a:r>
            <a:r>
              <a:rPr lang="en-CA" baseline="30000" dirty="0"/>
              <a:t>2</a:t>
            </a:r>
            <a:r>
              <a:rPr lang="en-CA" dirty="0"/>
              <a:t>)</a:t>
            </a:r>
          </a:p>
          <a:p>
            <a:r>
              <a:rPr lang="en-CA" dirty="0"/>
              <a:t>Space complexity – O(1)</a:t>
            </a:r>
          </a:p>
        </p:txBody>
      </p:sp>
    </p:spTree>
    <p:extLst>
      <p:ext uri="{BB962C8B-B14F-4D97-AF65-F5344CB8AC3E}">
        <p14:creationId xmlns:p14="http://schemas.microsoft.com/office/powerpoint/2010/main" val="3988300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74B0-C2B8-40D7-94C7-D7FC3FC8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B29DD-7BDE-4D1C-B2DE-51FE07B9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Read each value and compare it to the next value</a:t>
            </a:r>
          </a:p>
          <a:p>
            <a:pPr lvl="1"/>
            <a:r>
              <a:rPr lang="en-CA" dirty="0"/>
              <a:t>If the current value is &gt; than the next, swap the values</a:t>
            </a:r>
          </a:p>
          <a:p>
            <a:pPr lvl="2"/>
            <a:r>
              <a:rPr lang="en-CA" dirty="0"/>
              <a:t>Repeat until end of collection</a:t>
            </a:r>
          </a:p>
          <a:p>
            <a:pPr lvl="3"/>
            <a:r>
              <a:rPr lang="en-CA" dirty="0"/>
              <a:t>This is the first pass which moves the correct element to the last position</a:t>
            </a:r>
          </a:p>
          <a:p>
            <a:pPr lvl="1"/>
            <a:r>
              <a:rPr lang="en-CA" dirty="0"/>
              <a:t>Start again at the beginning of the collection, repeat the comparisons and swapping if necessary</a:t>
            </a:r>
          </a:p>
          <a:p>
            <a:pPr lvl="2"/>
            <a:r>
              <a:rPr lang="en-CA" dirty="0"/>
              <a:t>Sorted when you pass through the entire collection without swapping any values</a:t>
            </a:r>
          </a:p>
          <a:p>
            <a:pPr lvl="6"/>
            <a:endParaRPr lang="en-CA" dirty="0"/>
          </a:p>
          <a:p>
            <a:r>
              <a:rPr lang="en-CA" dirty="0">
                <a:hlinkClick r:id="rId3"/>
              </a:rPr>
              <a:t>https://www.youtube.com/watch?v=uJLwnsLn0_Q&amp;ab_channel=ProgrammingwithMosh</a:t>
            </a:r>
            <a:endParaRPr lang="en-CA" dirty="0"/>
          </a:p>
          <a:p>
            <a:pPr lvl="7"/>
            <a:endParaRPr lang="en-CA" dirty="0"/>
          </a:p>
          <a:p>
            <a:r>
              <a:rPr lang="en-CA" dirty="0"/>
              <a:t>Time complexity – O(n</a:t>
            </a:r>
            <a:r>
              <a:rPr lang="en-CA" baseline="30000" dirty="0"/>
              <a:t>2</a:t>
            </a:r>
            <a:r>
              <a:rPr lang="en-CA" dirty="0"/>
              <a:t>)</a:t>
            </a:r>
          </a:p>
          <a:p>
            <a:r>
              <a:rPr lang="en-CA" dirty="0"/>
              <a:t>Space complexity – O(1)</a:t>
            </a:r>
          </a:p>
        </p:txBody>
      </p:sp>
    </p:spTree>
    <p:extLst>
      <p:ext uri="{BB962C8B-B14F-4D97-AF65-F5344CB8AC3E}">
        <p14:creationId xmlns:p14="http://schemas.microsoft.com/office/powerpoint/2010/main" val="2072010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8C6C-AC38-4201-A641-521C70A8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Sorts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54D6-174B-453F-96C4-7B1E8E56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Divide:</a:t>
            </a:r>
          </a:p>
          <a:p>
            <a:pPr lvl="1">
              <a:buFont typeface="Arial" panose="020B0604020202020204" pitchFamily="34" charset="0"/>
              <a:buChar char="•"/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 Break the array down to smaller subarrays</a:t>
            </a:r>
          </a:p>
          <a:p>
            <a:pPr lvl="5">
              <a:buFont typeface="Arial" panose="020B0604020202020204" pitchFamily="34" charset="0"/>
              <a:buChar char="•"/>
              <a:tabLst>
                <a:tab pos="762000" algn="l"/>
                <a:tab pos="1333500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Conquer:</a:t>
            </a:r>
          </a:p>
          <a:p>
            <a:pPr lvl="1">
              <a:buFont typeface="Arial" panose="020B0604020202020204" pitchFamily="34" charset="0"/>
              <a:buChar char="•"/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 Sort each subarray recursively</a:t>
            </a:r>
          </a:p>
          <a:p>
            <a:pPr marL="2209800" lvl="4" indent="-381000">
              <a:tabLst>
                <a:tab pos="762000" algn="l"/>
                <a:tab pos="1333500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Combine:</a:t>
            </a:r>
          </a:p>
          <a:p>
            <a:pPr marL="838200" lvl="1" indent="-381000"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Perhaps the most overlooked step!</a:t>
            </a:r>
          </a:p>
          <a:p>
            <a:pPr marL="838200" lvl="1" indent="-381000"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Reconstruct the array based on the subarrays, now in </a:t>
            </a:r>
            <a:r>
              <a:rPr lang="en-US" altLang="en-US">
                <a:cs typeface="Times New Roman" panose="02020603050405020304" pitchFamily="18" charset="0"/>
              </a:rPr>
              <a:t>sorted order!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21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for 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Given two sorted arrays, make a third sorted array containing copies of all components of the two original two arrays</a:t>
            </a:r>
          </a:p>
          <a:p>
            <a:pPr lvl="4"/>
            <a:endParaRPr lang="en-US" dirty="0"/>
          </a:p>
          <a:p>
            <a:r>
              <a:rPr lang="en-US" dirty="0">
                <a:hlinkClick r:id="rId3"/>
              </a:rPr>
              <a:t>https://www.youtube.com/watch?v=EeQ8pwjQxTM&amp;ab_channel=CS50</a:t>
            </a:r>
            <a:r>
              <a:rPr lang="en-US" dirty="0"/>
              <a:t> (until 3:18)</a:t>
            </a:r>
          </a:p>
          <a:p>
            <a:pPr lvl="4"/>
            <a:endParaRPr lang="en-US" dirty="0"/>
          </a:p>
          <a:p>
            <a:r>
              <a:rPr lang="en-US" dirty="0"/>
              <a:t>Time Complexity: O(n)</a:t>
            </a:r>
          </a:p>
          <a:p>
            <a:r>
              <a:rPr lang="en-US" dirty="0"/>
              <a:t>Space Complexity: O(2n)</a:t>
            </a:r>
          </a:p>
          <a:p>
            <a:pPr lvl="1"/>
            <a:r>
              <a:rPr lang="en-US" dirty="0"/>
              <a:t>Not considering variations of the algorithm</a:t>
            </a:r>
          </a:p>
        </p:txBody>
      </p:sp>
    </p:spTree>
    <p:extLst>
      <p:ext uri="{BB962C8B-B14F-4D97-AF65-F5344CB8AC3E}">
        <p14:creationId xmlns:p14="http://schemas.microsoft.com/office/powerpoint/2010/main" val="1071003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D11E7-D1F1-475C-863F-31179BAA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A737-38F6-4653-B37C-BD533954E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Divide: the array into two subarrays of about equal length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Conquer: Sort the subarrays separately using merge-sort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Combine: Merge the sorted subarrays</a:t>
            </a:r>
          </a:p>
          <a:p>
            <a:pPr lvl="2"/>
            <a:endParaRPr lang="en-CA" dirty="0"/>
          </a:p>
          <a:p>
            <a:r>
              <a:rPr lang="en-US" dirty="0">
                <a:hlinkClick r:id="rId3"/>
              </a:rPr>
              <a:t>https://www.youtube.com/watch?v=EeQ8pwjQxTM&amp;ab_channel=CS50</a:t>
            </a:r>
            <a:r>
              <a:rPr lang="en-US" dirty="0"/>
              <a:t> (start at 3:18)</a:t>
            </a:r>
          </a:p>
          <a:p>
            <a:pPr lvl="2"/>
            <a:endParaRPr lang="en-US" dirty="0"/>
          </a:p>
          <a:p>
            <a:r>
              <a:rPr lang="en-US" dirty="0"/>
              <a:t>Time Complexity: O(n log n)</a:t>
            </a:r>
          </a:p>
          <a:p>
            <a:r>
              <a:rPr lang="en-US" dirty="0"/>
              <a:t>Space Complexity: O(n)</a:t>
            </a:r>
          </a:p>
        </p:txBody>
      </p:sp>
    </p:spTree>
    <p:extLst>
      <p:ext uri="{BB962C8B-B14F-4D97-AF65-F5344CB8AC3E}">
        <p14:creationId xmlns:p14="http://schemas.microsoft.com/office/powerpoint/2010/main" val="3550574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C2BD-2428-4AC8-8AF3-17A65F42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A7CE-8F36-48FE-81C2-F972B47E1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Choose any value from the array called </a:t>
            </a:r>
            <a:r>
              <a:rPr lang="en-US"/>
              <a:t>the pivot </a:t>
            </a:r>
            <a:endParaRPr lang="en-US" dirty="0"/>
          </a:p>
          <a:p>
            <a:pPr lvl="1"/>
            <a:r>
              <a:rPr lang="en-US" dirty="0"/>
              <a:t>Partition the array into three subarrays such that:</a:t>
            </a:r>
          </a:p>
          <a:p>
            <a:pPr lvl="2"/>
            <a:r>
              <a:rPr lang="en-US" dirty="0"/>
              <a:t>The left subarray contains only values less than (or equal to) the pivot</a:t>
            </a:r>
          </a:p>
          <a:p>
            <a:pPr lvl="2"/>
            <a:r>
              <a:rPr lang="en-US" dirty="0"/>
              <a:t>The middle subarray contains only the pivot</a:t>
            </a:r>
          </a:p>
          <a:p>
            <a:pPr lvl="2"/>
            <a:r>
              <a:rPr lang="en-US" dirty="0"/>
              <a:t>The right subarray contains only values greater than the pivot</a:t>
            </a:r>
          </a:p>
          <a:p>
            <a:pPr lvl="1"/>
            <a:r>
              <a:rPr lang="en-US" dirty="0"/>
              <a:t>Repeat with the left subarray and the right subarray separately until sorted</a:t>
            </a:r>
          </a:p>
          <a:p>
            <a:pPr lvl="5"/>
            <a:endParaRPr lang="en-US" dirty="0">
              <a:hlinkClick r:id="rId3"/>
            </a:endParaRPr>
          </a:p>
          <a:p>
            <a:r>
              <a:rPr lang="en-CA" dirty="0">
                <a:hlinkClick r:id="rId3"/>
              </a:rPr>
              <a:t>https://www.youtube.com/watch?v=h8eyY7dIiN4&amp;ab_channel=CodingwithJohn</a:t>
            </a:r>
            <a:endParaRPr lang="en-CA" dirty="0"/>
          </a:p>
          <a:p>
            <a:pPr lvl="4"/>
            <a:endParaRPr lang="en-US" dirty="0"/>
          </a:p>
          <a:p>
            <a:r>
              <a:rPr lang="en-US" dirty="0"/>
              <a:t>Time Complexity: O(n</a:t>
            </a:r>
            <a:r>
              <a:rPr lang="en-US" baseline="30000" dirty="0"/>
              <a:t>2</a:t>
            </a:r>
            <a:r>
              <a:rPr lang="en-US" dirty="0"/>
              <a:t>) or O(n log n)</a:t>
            </a:r>
          </a:p>
          <a:p>
            <a:r>
              <a:rPr lang="en-US" dirty="0"/>
              <a:t>Space Complexity: O(n) or O(log n)</a:t>
            </a:r>
          </a:p>
        </p:txBody>
      </p:sp>
    </p:spTree>
    <p:extLst>
      <p:ext uri="{BB962C8B-B14F-4D97-AF65-F5344CB8AC3E}">
        <p14:creationId xmlns:p14="http://schemas.microsoft.com/office/powerpoint/2010/main" val="4016374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51EB-7801-4AB0-B79B-A92191216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Pivot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C1A39-CF97-4D25-87EC-983A411F7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Selecting a pivot wisely can significantly improve the performance of the algorithm</a:t>
            </a:r>
          </a:p>
          <a:p>
            <a:pPr lvl="1"/>
            <a:endParaRPr lang="en-US" dirty="0"/>
          </a:p>
          <a:p>
            <a:r>
              <a:rPr lang="en-US" dirty="0"/>
              <a:t>First element:</a:t>
            </a:r>
          </a:p>
          <a:p>
            <a:pPr lvl="1"/>
            <a:r>
              <a:rPr lang="en-US" dirty="0"/>
              <a:t>Simple, no overhead</a:t>
            </a:r>
          </a:p>
          <a:p>
            <a:pPr lvl="1"/>
            <a:r>
              <a:rPr lang="en-US" dirty="0"/>
              <a:t>Still O(n</a:t>
            </a:r>
            <a:r>
              <a:rPr lang="en-US" baseline="30000" dirty="0"/>
              <a:t>2</a:t>
            </a:r>
            <a:r>
              <a:rPr lang="en-US" dirty="0"/>
              <a:t>) if collection is sorted</a:t>
            </a:r>
          </a:p>
          <a:p>
            <a:pPr lvl="1"/>
            <a:endParaRPr lang="en-US" dirty="0"/>
          </a:p>
          <a:p>
            <a:r>
              <a:rPr lang="en-US" dirty="0"/>
              <a:t>Random selection: </a:t>
            </a:r>
          </a:p>
          <a:p>
            <a:pPr lvl="1"/>
            <a:r>
              <a:rPr lang="en-US" dirty="0"/>
              <a:t>Safe in almost all situations, but calculating a random number can be costly and does not guarantee it’s </a:t>
            </a:r>
            <a:r>
              <a:rPr lang="en-US"/>
              <a:t>the smallest/largest!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Median element:</a:t>
            </a:r>
          </a:p>
          <a:p>
            <a:pPr lvl="1"/>
            <a:r>
              <a:rPr lang="en-US" dirty="0"/>
              <a:t>Optimal, but impractical to implement</a:t>
            </a:r>
          </a:p>
        </p:txBody>
      </p:sp>
    </p:spTree>
    <p:extLst>
      <p:ext uri="{BB962C8B-B14F-4D97-AF65-F5344CB8AC3E}">
        <p14:creationId xmlns:p14="http://schemas.microsoft.com/office/powerpoint/2010/main" val="962583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E1A6-CA01-42F1-B6ED-63636EBCA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Median-of-3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2F23-1192-45A2-B447-1F19C13A9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 of the median element out the elements in first position, middle position and last position</a:t>
            </a:r>
          </a:p>
          <a:p>
            <a:pPr lvl="1"/>
            <a:r>
              <a:rPr lang="en-US" dirty="0"/>
              <a:t>If collection is not odd-number sized, just pick the element before or after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E.g. sort a[0], a[4], a[9], pivot = middle value</a:t>
            </a:r>
          </a:p>
          <a:p>
            <a:pPr lvl="1"/>
            <a:r>
              <a:rPr lang="en-CA" dirty="0"/>
              <a:t>Easy and fast</a:t>
            </a:r>
          </a:p>
          <a:p>
            <a:pPr lvl="1"/>
            <a:r>
              <a:rPr lang="en-CA" dirty="0"/>
              <a:t>A good compromise to finding the actual median</a:t>
            </a:r>
          </a:p>
          <a:p>
            <a:pPr lvl="1"/>
            <a:r>
              <a:rPr lang="en-CA" dirty="0"/>
              <a:t>Works even if the collection is already sorted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E2C9B352-E428-40EC-9EEF-9D051BBE76E4}"/>
              </a:ext>
            </a:extLst>
          </p:cNvPr>
          <p:cNvGrpSpPr>
            <a:grpSpLocks/>
          </p:cNvGrpSpPr>
          <p:nvPr/>
        </p:nvGrpSpPr>
        <p:grpSpPr bwMode="auto">
          <a:xfrm>
            <a:off x="1713998" y="3410330"/>
            <a:ext cx="8764004" cy="500222"/>
            <a:chOff x="576" y="2400"/>
            <a:chExt cx="4944" cy="419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33879EF-FBC5-4635-A71C-8AD2D5D4E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EF96EC26-E765-4217-AD9C-A2972104E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EEEC9B0B-E4C7-423F-B70E-468827304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D6F7E627-F0B4-4D3A-8DFD-2270ADC9F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AD659DE6-6FE0-4919-9733-7F9E465A8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59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A20EFA8-BDE6-48DE-9785-DC8AFF6D7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2F66E9B0-3EE2-4491-9D9A-2E00B0A0E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592"/>
              <a:ext cx="49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89308F48-D7DC-488F-9C4A-44BF21ABD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27E0DFD4-17F1-4C5F-8742-859DEC602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25655E92-6A9E-426C-9990-73C6B3DDA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6055BEF4-5023-4D9C-989E-91B3764E3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4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4191135B-69E8-49C7-B589-6310BB4D5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FA30B926-9C93-4128-9F10-3618A9A38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24B3390B-28CC-4ABB-A790-1C74C42F6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69839977-2F0A-4B69-9757-616B7E01A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C8952C23-4E21-4A33-AF8E-44139EACE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0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5B14245-A413-4318-90F3-8232CA953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49349E15-E9E6-45B0-AE61-9B594B571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6" y="2592"/>
              <a:ext cx="499" cy="22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4D87188D-414B-4D5C-90A9-0F89110D4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" y="2592"/>
              <a:ext cx="49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63543F0A-B2F2-40E5-A79A-A7844FB81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" y="240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E7E6E3E4-77B2-4865-92F4-94FEBBA22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1" y="2592"/>
              <a:ext cx="499" cy="22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4308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0D87-B818-4552-AF63-957DF383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cs typeface="Times New Roman" panose="02020603050405020304" pitchFamily="18" charset="0"/>
              </a:rPr>
              <a:t>Non-Comparative Sorts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A7986-7BCB-459F-B20E-8E3519194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Comparative sorts can perform at best O(n log n)</a:t>
            </a:r>
          </a:p>
          <a:p>
            <a:pPr lvl="1"/>
            <a:r>
              <a:rPr lang="en-US" dirty="0"/>
              <a:t>O(log n) comparisons and O(n) merge, shifts or swaps</a:t>
            </a:r>
          </a:p>
          <a:p>
            <a:pPr lvl="5"/>
            <a:endParaRPr lang="en-US" dirty="0"/>
          </a:p>
          <a:p>
            <a:r>
              <a:rPr lang="en-CA" dirty="0"/>
              <a:t>Non-comparative = no comparisons</a:t>
            </a:r>
          </a:p>
          <a:p>
            <a:pPr lvl="1"/>
            <a:r>
              <a:rPr lang="en-CA" dirty="0"/>
              <a:t>No more O(log n) for comparing elements!</a:t>
            </a:r>
          </a:p>
          <a:p>
            <a:pPr lvl="1"/>
            <a:r>
              <a:rPr lang="en-CA" dirty="0"/>
              <a:t>Also know distribution sorts</a:t>
            </a:r>
          </a:p>
          <a:p>
            <a:pPr lvl="4"/>
            <a:endParaRPr lang="en-CA" dirty="0"/>
          </a:p>
          <a:p>
            <a:r>
              <a:rPr lang="en-CA" dirty="0"/>
              <a:t>Only works for certain types of data</a:t>
            </a:r>
          </a:p>
          <a:p>
            <a:pPr lvl="4"/>
            <a:endParaRPr lang="en-CA" dirty="0"/>
          </a:p>
          <a:p>
            <a:r>
              <a:rPr lang="en-CA" dirty="0"/>
              <a:t>Can be external (i.e. all data does not need to be in memory)</a:t>
            </a:r>
          </a:p>
        </p:txBody>
      </p:sp>
    </p:spTree>
    <p:extLst>
      <p:ext uri="{BB962C8B-B14F-4D97-AF65-F5344CB8AC3E}">
        <p14:creationId xmlns:p14="http://schemas.microsoft.com/office/powerpoint/2010/main" val="3474649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3724-CDA9-42A3-93C9-C107C448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AE92-E748-4441-9EB0-589FC9589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multiple passes, distribute each item to a bucket according to part of the item’s key beginning with the least significant part of the key</a:t>
            </a:r>
          </a:p>
          <a:p>
            <a:pPr lvl="1"/>
            <a:r>
              <a:rPr lang="en-US" dirty="0"/>
              <a:t>After each pass, items are collected from the buckets, keeping the items in order, then redistributed according to the next most significant part of the key</a:t>
            </a:r>
          </a:p>
          <a:p>
            <a:pPr lvl="5"/>
            <a:endParaRPr lang="en-CA" dirty="0"/>
          </a:p>
          <a:p>
            <a:r>
              <a:rPr lang="en-CA" dirty="0"/>
              <a:t>Can only be used with data within a specific set</a:t>
            </a:r>
          </a:p>
          <a:p>
            <a:pPr lvl="1"/>
            <a:r>
              <a:rPr lang="en-CA" dirty="0"/>
              <a:t>Digits 0-9, alphabet A-Z, of a particular length</a:t>
            </a:r>
          </a:p>
          <a:p>
            <a:pPr lvl="2"/>
            <a:r>
              <a:rPr lang="en-CA" dirty="0"/>
              <a:t>E.g. postal code – T3K0C3</a:t>
            </a:r>
          </a:p>
          <a:p>
            <a:pPr lvl="2"/>
            <a:r>
              <a:rPr lang="en-CA" dirty="0"/>
              <a:t>E.g. card - </a:t>
            </a:r>
            <a:r>
              <a:rPr lang="en-US" altLang="en-US" sz="2000" dirty="0">
                <a:cs typeface="Times New Roman" panose="02020603050405020304" pitchFamily="18" charset="0"/>
              </a:rPr>
              <a:t>A&lt;2&lt;3&lt;4&lt;5&lt;6&lt;7&lt;8&lt;9&lt;10&lt;J&lt;Q&lt;K, 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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</a:t>
            </a:r>
            <a:r>
              <a:rPr lang="en-US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 &lt;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</a:t>
            </a:r>
            <a:r>
              <a:rPr lang="en-US" altLang="en-US" sz="2000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</a:t>
            </a:r>
            <a:endParaRPr lang="en-US" altLang="en-US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098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0E8C-BFCB-43AA-B5F6-84DB1CFD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01F10-70FF-4386-A40C-272194E6F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 493, 812, 715, 710, 195, 437, 582, 340, 385</a:t>
            </a:r>
          </a:p>
          <a:p>
            <a:pPr lvl="1"/>
            <a:r>
              <a:rPr lang="en-CA" dirty="0"/>
              <a:t>Start with the least significant digit (the one’s position)</a:t>
            </a:r>
          </a:p>
          <a:p>
            <a:pPr lvl="1"/>
            <a:r>
              <a:rPr lang="en-CA" dirty="0"/>
              <a:t>Gather the same values and put them together in a bucket</a:t>
            </a:r>
          </a:p>
          <a:p>
            <a:pPr lvl="2"/>
            <a:r>
              <a:rPr lang="en-CA" dirty="0"/>
              <a:t>Usually implemented as a list</a:t>
            </a:r>
          </a:p>
          <a:p>
            <a:pPr lvl="3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pPr lvl="1"/>
            <a:r>
              <a:rPr lang="en-CA" dirty="0"/>
              <a:t>“Drain” the buckets in order:</a:t>
            </a:r>
          </a:p>
          <a:p>
            <a:pPr lvl="2"/>
            <a:r>
              <a:rPr lang="en-CA" dirty="0"/>
              <a:t>We end up with: 710, 340, 812, 582, 493, 715, 195, 385, 437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65CEA-E481-41BE-82E6-00ECCF1D4C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53740" y="3429001"/>
            <a:ext cx="5684520" cy="149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240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AE36-A25E-4390-8E91-82D023C2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8812-A42B-46C4-A98F-18AAA301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Data: 710, 340, 812, 582, 493, 715, 195, 385, 437</a:t>
            </a:r>
          </a:p>
          <a:p>
            <a:pPr lvl="1"/>
            <a:r>
              <a:rPr lang="en-CA" dirty="0"/>
              <a:t>Now to the next least significant digit (the ten’s position)</a:t>
            </a:r>
          </a:p>
          <a:p>
            <a:pPr lvl="1"/>
            <a:r>
              <a:rPr lang="en-CA" dirty="0"/>
              <a:t>Gather the same values and put them together in a bucket</a:t>
            </a:r>
          </a:p>
          <a:p>
            <a:pPr lvl="3"/>
            <a:endParaRPr lang="en-CA" dirty="0"/>
          </a:p>
          <a:p>
            <a:pPr lvl="2"/>
            <a:endParaRPr lang="en-CA" dirty="0"/>
          </a:p>
          <a:p>
            <a:pPr lvl="3"/>
            <a:endParaRPr lang="en-CA" dirty="0"/>
          </a:p>
          <a:p>
            <a:pPr lvl="4"/>
            <a:endParaRPr lang="en-CA" dirty="0"/>
          </a:p>
          <a:p>
            <a:pPr lvl="4"/>
            <a:endParaRPr lang="en-CA" dirty="0"/>
          </a:p>
          <a:p>
            <a:pPr lvl="4"/>
            <a:endParaRPr lang="en-CA" dirty="0"/>
          </a:p>
          <a:p>
            <a:pPr lvl="1"/>
            <a:r>
              <a:rPr lang="en-CA" dirty="0"/>
              <a:t>“Drain” the buckets in order again:</a:t>
            </a:r>
          </a:p>
          <a:p>
            <a:pPr lvl="2"/>
            <a:r>
              <a:rPr lang="en-CA" dirty="0"/>
              <a:t>We end up with: 710, 812, 715, 437, 340, 582, 385, 493, 195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13D09-D060-4235-B893-F5AF9508599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35035" y="3152774"/>
            <a:ext cx="592193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71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AE36-A25E-4390-8E91-82D023C2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 Example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8812-A42B-46C4-A98F-18AAA3013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Data: 710, 812, 715, 437, 340, 582, 385, 493, 195</a:t>
            </a:r>
          </a:p>
          <a:p>
            <a:pPr lvl="1"/>
            <a:r>
              <a:rPr lang="en-CA" dirty="0"/>
              <a:t>Now to the last digit (the hundred’s position)</a:t>
            </a:r>
          </a:p>
          <a:p>
            <a:pPr lvl="1"/>
            <a:r>
              <a:rPr lang="en-CA" dirty="0"/>
              <a:t>Gather the same values and put them together in a bucket</a:t>
            </a:r>
          </a:p>
          <a:p>
            <a:pPr lvl="3"/>
            <a:endParaRPr lang="en-CA" dirty="0"/>
          </a:p>
          <a:p>
            <a:pPr lvl="1"/>
            <a:endParaRPr lang="en-CA" dirty="0"/>
          </a:p>
          <a:p>
            <a:pPr lvl="3"/>
            <a:endParaRPr lang="en-CA" dirty="0"/>
          </a:p>
          <a:p>
            <a:pPr lvl="3"/>
            <a:endParaRPr lang="en-CA" dirty="0"/>
          </a:p>
          <a:p>
            <a:pPr lvl="3"/>
            <a:endParaRPr lang="en-CA" dirty="0"/>
          </a:p>
          <a:p>
            <a:pPr lvl="3"/>
            <a:endParaRPr lang="en-CA" dirty="0"/>
          </a:p>
          <a:p>
            <a:pPr lvl="1"/>
            <a:r>
              <a:rPr lang="en-CA" dirty="0"/>
              <a:t>“Drain” the buckets in order again:</a:t>
            </a:r>
          </a:p>
          <a:p>
            <a:pPr lvl="2"/>
            <a:r>
              <a:rPr lang="en-CA" dirty="0"/>
              <a:t>We now have our sorted data: </a:t>
            </a:r>
          </a:p>
          <a:p>
            <a:pPr marL="914400" lvl="2" indent="0">
              <a:buNone/>
            </a:pPr>
            <a:r>
              <a:rPr lang="en-CA"/>
              <a:t>	195</a:t>
            </a:r>
            <a:r>
              <a:rPr lang="en-CA" dirty="0"/>
              <a:t>, 340</a:t>
            </a:r>
            <a:r>
              <a:rPr lang="en-CA"/>
              <a:t>, 385, 437</a:t>
            </a:r>
            <a:r>
              <a:rPr lang="en-CA" dirty="0"/>
              <a:t>, 493, 582, 710, 715, 812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8C673-4796-4F2D-95A6-AF80110B536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20340" y="3175000"/>
            <a:ext cx="6751320" cy="165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564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548A-213A-4BE1-A6D5-867FB0DD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Sort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C0653-181B-429C-812D-07C914D5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complexity: O(n)</a:t>
            </a:r>
          </a:p>
          <a:p>
            <a:r>
              <a:rPr lang="en-US" dirty="0"/>
              <a:t>Space complexity: O(n)</a:t>
            </a:r>
          </a:p>
          <a:p>
            <a:pPr lvl="1"/>
            <a:r>
              <a:rPr lang="en-US" dirty="0"/>
              <a:t>can be optimized depending on data set</a:t>
            </a:r>
          </a:p>
          <a:p>
            <a:pPr lvl="1"/>
            <a:endParaRPr lang="en-US" dirty="0"/>
          </a:p>
          <a:p>
            <a:r>
              <a:rPr lang="en-CA" dirty="0"/>
              <a:t>Implementation: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17C9F5-32B9-4B5B-9FB9-00F3F083F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249" y="4046855"/>
            <a:ext cx="6195502" cy="276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6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I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91C"/>
      </a:accent1>
      <a:accent2>
        <a:srgbClr val="A6192E"/>
      </a:accent2>
      <a:accent3>
        <a:srgbClr val="00A3E0"/>
      </a:accent3>
      <a:accent4>
        <a:srgbClr val="005EB8"/>
      </a:accent4>
      <a:accent5>
        <a:srgbClr val="6D2077"/>
      </a:accent5>
      <a:accent6>
        <a:srgbClr val="222222"/>
      </a:accent6>
      <a:hlink>
        <a:srgbClr val="515151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T_PPT_Colour_16x9_Template" id="{9343D8A7-6800-F640-AE70-45A3E4AC5BF3}" vid="{216E120B-4FD9-D941-8FC7-0244918ABF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19403</TotalTime>
  <Words>3399</Words>
  <Application>Microsoft Office PowerPoint</Application>
  <PresentationFormat>Widescreen</PresentationFormat>
  <Paragraphs>518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Courier New</vt:lpstr>
      <vt:lpstr>Symbol</vt:lpstr>
      <vt:lpstr>Times New Roman</vt:lpstr>
      <vt:lpstr>Verdana</vt:lpstr>
      <vt:lpstr>Wingdings</vt:lpstr>
      <vt:lpstr>Office Theme</vt:lpstr>
      <vt:lpstr>Searching and Sorting Algorithms</vt:lpstr>
      <vt:lpstr>Searching and Sorting</vt:lpstr>
      <vt:lpstr>Arrays</vt:lpstr>
      <vt:lpstr>Java Arrays</vt:lpstr>
      <vt:lpstr>Java Primitive Array</vt:lpstr>
      <vt:lpstr>Java Object Array</vt:lpstr>
      <vt:lpstr>Subarrays</vt:lpstr>
      <vt:lpstr>Sorted Arrays</vt:lpstr>
      <vt:lpstr>Java Interfaces</vt:lpstr>
      <vt:lpstr>Comparable vs Comparator</vt:lpstr>
      <vt:lpstr>The Comparable Interface</vt:lpstr>
      <vt:lpstr>Brief Introduction to Generics</vt:lpstr>
      <vt:lpstr>The Comparator Interface</vt:lpstr>
      <vt:lpstr>Manipulating Arrays</vt:lpstr>
      <vt:lpstr>Array Insertions</vt:lpstr>
      <vt:lpstr>Array Deletions</vt:lpstr>
      <vt:lpstr>Another Way to Search an Array</vt:lpstr>
      <vt:lpstr>Binary Search</vt:lpstr>
      <vt:lpstr>Binary Search Analysis</vt:lpstr>
      <vt:lpstr>Sorting</vt:lpstr>
      <vt:lpstr>Sorting Algorithms</vt:lpstr>
      <vt:lpstr>Insertion Sort</vt:lpstr>
      <vt:lpstr>Selection Sort</vt:lpstr>
      <vt:lpstr>Bubble Sort</vt:lpstr>
      <vt:lpstr>Divide and Conquer Sorts</vt:lpstr>
      <vt:lpstr>Merging for Merge Sort</vt:lpstr>
      <vt:lpstr>Merge Sort</vt:lpstr>
      <vt:lpstr>Quicksort</vt:lpstr>
      <vt:lpstr>Selecting a Pivot</vt:lpstr>
      <vt:lpstr>Median-of-3</vt:lpstr>
      <vt:lpstr>Non-Comparative Sorts</vt:lpstr>
      <vt:lpstr>Radix Sort</vt:lpstr>
      <vt:lpstr>Radix Sort Example</vt:lpstr>
      <vt:lpstr>Radix Sort Example</vt:lpstr>
      <vt:lpstr>Radix Sort Example</vt:lpstr>
      <vt:lpstr>Radix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Kitty Wong</dc:creator>
  <cp:lastModifiedBy>Kitty Wong</cp:lastModifiedBy>
  <cp:revision>367</cp:revision>
  <dcterms:created xsi:type="dcterms:W3CDTF">2016-04-05T14:17:30Z</dcterms:created>
  <dcterms:modified xsi:type="dcterms:W3CDTF">2026-05-06T04:59:38Z</dcterms:modified>
</cp:coreProperties>
</file>