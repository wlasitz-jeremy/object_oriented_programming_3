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8" r:id="rId2"/>
    <p:sldId id="266" r:id="rId3"/>
    <p:sldId id="305" r:id="rId4"/>
    <p:sldId id="308" r:id="rId5"/>
    <p:sldId id="304" r:id="rId6"/>
    <p:sldId id="309" r:id="rId7"/>
    <p:sldId id="310" r:id="rId8"/>
    <p:sldId id="312" r:id="rId9"/>
    <p:sldId id="313" r:id="rId10"/>
    <p:sldId id="320" r:id="rId11"/>
    <p:sldId id="322" r:id="rId12"/>
    <p:sldId id="323" r:id="rId13"/>
    <p:sldId id="324" r:id="rId14"/>
    <p:sldId id="32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62722" autoAdjust="0"/>
  </p:normalViewPr>
  <p:slideViewPr>
    <p:cSldViewPr snapToGrid="0" snapToObjects="1" showGuides="1">
      <p:cViewPr varScale="1">
        <p:scale>
          <a:sx n="57" d="100"/>
          <a:sy n="57" d="100"/>
        </p:scale>
        <p:origin x="102"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delSld">
      <pc:chgData name="Kitty Wong" userId="934a16c2-3b82-4a04-8cf4-72a5c39a78f6" providerId="ADAL" clId="{6624BDA5-5E62-4DCD-AC58-5D64DFC703A6}" dt="2026-05-13T11:13:52.948" v="1" actId="2696"/>
      <pc:docMkLst>
        <pc:docMk/>
      </pc:docMkLst>
      <pc:sldChg chg="del">
        <pc:chgData name="Kitty Wong" userId="934a16c2-3b82-4a04-8cf4-72a5c39a78f6" providerId="ADAL" clId="{6624BDA5-5E62-4DCD-AC58-5D64DFC703A6}" dt="2026-05-13T11:13:43.943" v="0" actId="2696"/>
        <pc:sldMkLst>
          <pc:docMk/>
          <pc:sldMk cId="819837008" sldId="307"/>
        </pc:sldMkLst>
      </pc:sldChg>
      <pc:sldChg chg="del">
        <pc:chgData name="Kitty Wong" userId="934a16c2-3b82-4a04-8cf4-72a5c39a78f6" providerId="ADAL" clId="{6624BDA5-5E62-4DCD-AC58-5D64DFC703A6}" dt="2026-05-13T11:13:52.948" v="1" actId="2696"/>
        <pc:sldMkLst>
          <pc:docMk/>
          <pc:sldMk cId="807630934"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2026-05-13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of the most important and widely used DS in our software world! Especially in applications that are fundamental to programming (parsers, interpreters and compilers) and yet so simple, effective and efficient that it’s also implemented in HW and every OS!</a:t>
            </a:r>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 access – unlike lists where any element in the list can be accessed.</a:t>
            </a:r>
          </a:p>
        </p:txBody>
      </p:sp>
      <p:sp>
        <p:nvSpPr>
          <p:cNvPr id="4" name="Slide Number Placeholder 3"/>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basic operations that must exist with a stack!</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325491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is usually visually represented as a bucket…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298876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bg1"/>
                </a:solidFill>
              </a:rPr>
              <a:t>Every time you need REVERSE processing, think of Stacks first!</a:t>
            </a:r>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592490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main() calls </a:t>
            </a:r>
            <a:r>
              <a:rPr lang="en-US" dirty="0" err="1"/>
              <a:t>methodA</a:t>
            </a:r>
            <a:r>
              <a:rPr lang="en-US" dirty="0"/>
              <a:t>(), which calls </a:t>
            </a:r>
            <a:r>
              <a:rPr lang="en-US" dirty="0" err="1"/>
              <a:t>methodB</a:t>
            </a:r>
            <a:r>
              <a:rPr lang="en-US" dirty="0"/>
              <a:t>(), which then calls </a:t>
            </a:r>
            <a:r>
              <a:rPr lang="en-US" dirty="0" err="1"/>
              <a:t>methodC</a:t>
            </a:r>
            <a:r>
              <a:rPr lang="en-US" dirty="0"/>
              <a:t>()</a:t>
            </a:r>
          </a:p>
          <a:p>
            <a:r>
              <a:rPr lang="en-US" dirty="0"/>
              <a:t>Main(){</a:t>
            </a:r>
          </a:p>
          <a:p>
            <a:r>
              <a:rPr lang="en-US" dirty="0"/>
              <a:t>    </a:t>
            </a:r>
            <a:r>
              <a:rPr lang="en-US" dirty="0" err="1"/>
              <a:t>methodA</a:t>
            </a:r>
            <a:r>
              <a:rPr lang="en-US" dirty="0"/>
              <a:t>();</a:t>
            </a:r>
          </a:p>
          <a:p>
            <a:r>
              <a:rPr lang="en-US" dirty="0"/>
              <a:t>}</a:t>
            </a:r>
          </a:p>
          <a:p>
            <a:endParaRPr lang="en-US" dirty="0"/>
          </a:p>
          <a:p>
            <a:r>
              <a:rPr lang="en-US" dirty="0" err="1"/>
              <a:t>methodA</a:t>
            </a:r>
            <a:r>
              <a:rPr lang="en-US" dirty="0"/>
              <a:t>() {</a:t>
            </a:r>
          </a:p>
          <a:p>
            <a:r>
              <a:rPr lang="en-US" dirty="0"/>
              <a:t>    </a:t>
            </a:r>
            <a:r>
              <a:rPr lang="en-US" dirty="0" err="1"/>
              <a:t>methodB</a:t>
            </a:r>
            <a:r>
              <a:rPr lang="en-US" dirty="0"/>
              <a:t>();</a:t>
            </a:r>
          </a:p>
          <a:p>
            <a:r>
              <a:rPr lang="en-US" dirty="0"/>
              <a:t>}</a:t>
            </a:r>
          </a:p>
          <a:p>
            <a:endParaRPr lang="en-US" dirty="0"/>
          </a:p>
          <a:p>
            <a:r>
              <a:rPr lang="en-US" dirty="0" err="1"/>
              <a:t>methodB</a:t>
            </a:r>
            <a:r>
              <a:rPr lang="en-US" dirty="0"/>
              <a:t>() {</a:t>
            </a:r>
          </a:p>
          <a:p>
            <a:r>
              <a:rPr lang="en-US" dirty="0"/>
              <a:t>    </a:t>
            </a:r>
            <a:r>
              <a:rPr lang="en-US" dirty="0" err="1"/>
              <a:t>methodC</a:t>
            </a:r>
            <a:r>
              <a:rPr lang="en-US" dirty="0"/>
              <a:t>()</a:t>
            </a:r>
          </a:p>
          <a:p>
            <a:r>
              <a:rPr lang="en-US" dirty="0"/>
              <a:t>}</a:t>
            </a:r>
          </a:p>
          <a:p>
            <a:endParaRPr lang="en-US" dirty="0"/>
          </a:p>
          <a:p>
            <a:r>
              <a:rPr lang="en-US" dirty="0"/>
              <a:t>Because this is a stack, the only accessible point is the TOP – which is frame associated to the current execution of the program. This is why local variables (including arguments passed into the method) scope are limited to the method! Once the method is popped off, everything in that frame is removed and no longer accessible!</a:t>
            </a:r>
          </a:p>
          <a:p>
            <a:endParaRPr lang="en-US" dirty="0"/>
          </a:p>
          <a:p>
            <a:r>
              <a:rPr lang="en-US" dirty="0"/>
              <a:t>Each frame also consist of a “return address”, or simply the point where it goes back to after it finishes (i.e. back to the caller). You can think of it as the line number where the method was called so it can come back and continue on the next line of code.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1444261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Stack overflow?!</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416324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https://docs.oracle.com/javase/8/docs/api/java/util/Stack.html</a:t>
            </a:r>
          </a:p>
          <a:p>
            <a:endParaRPr lang="en-CA" dirty="0"/>
          </a:p>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1462268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Unfortunately, this likely will never change.</a:t>
            </a:r>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2831411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restricted access list – only the first and last elements in a queue can be accessed.</a:t>
            </a:r>
          </a:p>
          <a:p>
            <a:endParaRPr lang="en-CA" dirty="0"/>
          </a:p>
          <a:p>
            <a:r>
              <a:rPr lang="en-CA" dirty="0"/>
              <a:t>“Queue” is just the first letter where the rest of the letters are waiting for their turn! :D</a:t>
            </a:r>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2626473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3778615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12</a:t>
            </a:fld>
            <a:endParaRPr lang="en-CA"/>
          </a:p>
        </p:txBody>
      </p:sp>
    </p:spTree>
    <p:extLst>
      <p:ext uri="{BB962C8B-B14F-4D97-AF65-F5344CB8AC3E}">
        <p14:creationId xmlns:p14="http://schemas.microsoft.com/office/powerpoint/2010/main" val="852282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09600" indent="-609600">
              <a:lnSpc>
                <a:spcPct val="90000"/>
              </a:lnSpc>
            </a:pPr>
            <a:r>
              <a:rPr lang="en-US" altLang="en-US" sz="2800" dirty="0"/>
              <a:t>Computers often used to simulate behavior</a:t>
            </a:r>
          </a:p>
          <a:p>
            <a:pPr marL="609600" indent="-609600">
              <a:lnSpc>
                <a:spcPct val="90000"/>
              </a:lnSpc>
              <a:buFontTx/>
              <a:buChar char="-"/>
            </a:pPr>
            <a:r>
              <a:rPr lang="en-US" altLang="en-US" sz="2400" dirty="0"/>
              <a:t>Customers at a bank</a:t>
            </a:r>
          </a:p>
          <a:p>
            <a:pPr marL="609600" indent="-609600">
              <a:lnSpc>
                <a:spcPct val="90000"/>
              </a:lnSpc>
              <a:buFontTx/>
              <a:buChar char="-"/>
            </a:pPr>
            <a:r>
              <a:rPr lang="en-US" altLang="en-US" sz="2400" dirty="0"/>
              <a:t>Requests serviced by a cluster of Web servers</a:t>
            </a:r>
          </a:p>
          <a:p>
            <a:pPr marL="609600" indent="-609600">
              <a:lnSpc>
                <a:spcPct val="90000"/>
              </a:lnSpc>
              <a:buFontTx/>
              <a:buChar char="-"/>
            </a:pPr>
            <a:r>
              <a:rPr lang="en-US" altLang="en-US" sz="2400" dirty="0"/>
              <a:t>Traffic on roadways</a:t>
            </a:r>
          </a:p>
          <a:p>
            <a:pPr marL="609600" indent="-609600">
              <a:lnSpc>
                <a:spcPct val="90000"/>
              </a:lnSpc>
            </a:pPr>
            <a:r>
              <a:rPr lang="en-US" altLang="en-US" sz="2800" dirty="0"/>
              <a:t>All of these simulations consist of </a:t>
            </a:r>
            <a:r>
              <a:rPr lang="en-US" altLang="en-US" sz="2800" i="1" dirty="0"/>
              <a:t>events</a:t>
            </a:r>
          </a:p>
          <a:p>
            <a:pPr marL="609600" indent="-609600">
              <a:lnSpc>
                <a:spcPct val="90000"/>
              </a:lnSpc>
              <a:buFontTx/>
              <a:buChar char="-"/>
            </a:pPr>
            <a:r>
              <a:rPr lang="en-US" altLang="en-US" sz="2400" dirty="0"/>
              <a:t>An event occurs at a given time, determined by the model used in the simulation</a:t>
            </a:r>
          </a:p>
          <a:p>
            <a:pPr marL="609600" indent="-609600">
              <a:lnSpc>
                <a:spcPct val="90000"/>
              </a:lnSpc>
              <a:buFontTx/>
              <a:buChar char="-"/>
            </a:pPr>
            <a:r>
              <a:rPr lang="en-US" altLang="en-US" sz="2400" dirty="0"/>
              <a:t>Events could include</a:t>
            </a:r>
          </a:p>
          <a:p>
            <a:pPr marL="1066800" lvl="1" indent="-609600">
              <a:lnSpc>
                <a:spcPct val="90000"/>
              </a:lnSpc>
              <a:buFontTx/>
              <a:buChar char="-"/>
            </a:pPr>
            <a:r>
              <a:rPr lang="en-US" altLang="en-US" sz="1800" dirty="0"/>
              <a:t>Car </a:t>
            </a:r>
            <a:r>
              <a:rPr lang="en-US" altLang="en-US" sz="1800" i="1" dirty="0"/>
              <a:t>N</a:t>
            </a:r>
            <a:r>
              <a:rPr lang="en-US" altLang="en-US" sz="1800" dirty="0"/>
              <a:t> enters  Highway 1 at Barlow Trail</a:t>
            </a:r>
          </a:p>
          <a:p>
            <a:pPr marL="1066800" lvl="1" indent="-609600">
              <a:lnSpc>
                <a:spcPct val="90000"/>
              </a:lnSpc>
              <a:buFontTx/>
              <a:buChar char="-"/>
            </a:pPr>
            <a:r>
              <a:rPr lang="en-US" altLang="en-US" sz="1800" dirty="0"/>
              <a:t>Car </a:t>
            </a:r>
            <a:r>
              <a:rPr lang="en-US" altLang="en-US" sz="1800" i="1" dirty="0"/>
              <a:t>N</a:t>
            </a:r>
            <a:r>
              <a:rPr lang="en-US" altLang="en-US" sz="1800" dirty="0"/>
              <a:t> switches lanes at mile marker </a:t>
            </a:r>
            <a:r>
              <a:rPr lang="en-US" altLang="en-US" sz="1800" i="1" dirty="0"/>
              <a:t>X</a:t>
            </a:r>
          </a:p>
          <a:p>
            <a:pPr marL="1066800" lvl="1" indent="-609600">
              <a:lnSpc>
                <a:spcPct val="90000"/>
              </a:lnSpc>
              <a:buFontTx/>
              <a:buChar char="-"/>
            </a:pPr>
            <a:r>
              <a:rPr lang="en-US" altLang="en-US" sz="1800" dirty="0"/>
              <a:t>Car </a:t>
            </a:r>
            <a:r>
              <a:rPr lang="en-US" altLang="en-US" sz="1800" i="1" dirty="0"/>
              <a:t>N</a:t>
            </a:r>
            <a:r>
              <a:rPr lang="en-US" altLang="en-US" sz="1800" dirty="0"/>
              <a:t> leaves freeway at 14th Street NW</a:t>
            </a:r>
          </a:p>
          <a:p>
            <a:pPr marL="609600" lvl="0" indent="-609600">
              <a:lnSpc>
                <a:spcPct val="90000"/>
              </a:lnSpc>
              <a:buFontTx/>
              <a:buChar char="-"/>
            </a:pPr>
            <a:r>
              <a:rPr lang="en-US" altLang="en-US" sz="2400" dirty="0"/>
              <a:t>Simulation must keep track of thousands of events</a:t>
            </a:r>
          </a:p>
          <a:p>
            <a:pPr marL="1066800" lvl="1" indent="-609600">
              <a:lnSpc>
                <a:spcPct val="90000"/>
              </a:lnSpc>
              <a:buFontTx/>
              <a:buChar char="-"/>
            </a:pPr>
            <a:r>
              <a:rPr lang="en-US" altLang="en-US" sz="1800" dirty="0"/>
              <a:t>Events ordered by the time they occur</a:t>
            </a:r>
          </a:p>
          <a:p>
            <a:pPr marL="1066800" lvl="1" indent="-609600">
              <a:lnSpc>
                <a:spcPct val="90000"/>
              </a:lnSpc>
              <a:buFontTx/>
              <a:buChar char="-"/>
            </a:pPr>
            <a:r>
              <a:rPr lang="en-US" altLang="en-US" sz="1800" dirty="0"/>
              <a:t>Must process events in time order</a:t>
            </a:r>
            <a:endParaRPr lang="en-US" altLang="en-US" sz="1200" dirty="0">
              <a:solidFill>
                <a:schemeClr val="bg1"/>
              </a:solidFill>
            </a:endParaRPr>
          </a:p>
        </p:txBody>
      </p:sp>
      <p:sp>
        <p:nvSpPr>
          <p:cNvPr id="4" name="Slide Number Placeholder 3"/>
          <p:cNvSpPr>
            <a:spLocks noGrp="1"/>
          </p:cNvSpPr>
          <p:nvPr>
            <p:ph type="sldNum" sz="quarter" idx="5"/>
          </p:nvPr>
        </p:nvSpPr>
        <p:spPr/>
        <p:txBody>
          <a:bodyPr/>
          <a:lstStyle/>
          <a:p>
            <a:fld id="{D9DF01B0-FE71-4C35-BC11-34BCAF52C437}" type="slidenum">
              <a:rPr lang="en-CA" smtClean="0"/>
              <a:t>13</a:t>
            </a:fld>
            <a:endParaRPr lang="en-CA"/>
          </a:p>
        </p:txBody>
      </p:sp>
    </p:spTree>
    <p:extLst>
      <p:ext uri="{BB962C8B-B14F-4D97-AF65-F5344CB8AC3E}">
        <p14:creationId xmlns:p14="http://schemas.microsoft.com/office/powerpoint/2010/main" val="3339142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https://docs.oracle.com/javase/8/docs/api/java/util/Queue.html</a:t>
            </a:r>
          </a:p>
        </p:txBody>
      </p:sp>
      <p:sp>
        <p:nvSpPr>
          <p:cNvPr id="4" name="Slide Number Placeholder 3"/>
          <p:cNvSpPr>
            <a:spLocks noGrp="1"/>
          </p:cNvSpPr>
          <p:nvPr>
            <p:ph type="sldNum" sz="quarter" idx="5"/>
          </p:nvPr>
        </p:nvSpPr>
        <p:spPr/>
        <p:txBody>
          <a:bodyPr/>
          <a:lstStyle/>
          <a:p>
            <a:fld id="{D9DF01B0-FE71-4C35-BC11-34BCAF52C437}" type="slidenum">
              <a:rPr lang="en-CA" smtClean="0"/>
              <a:t>14</a:t>
            </a:fld>
            <a:endParaRPr lang="en-CA"/>
          </a:p>
        </p:txBody>
      </p:sp>
    </p:spTree>
    <p:extLst>
      <p:ext uri="{BB962C8B-B14F-4D97-AF65-F5344CB8AC3E}">
        <p14:creationId xmlns:p14="http://schemas.microsoft.com/office/powerpoint/2010/main" val="10788701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5/13/2026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5/13/2026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5/13/2026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Stacks and Queues</a:t>
            </a:r>
          </a:p>
        </p:txBody>
      </p:sp>
      <p:sp>
        <p:nvSpPr>
          <p:cNvPr id="3" name="Subtitle 2"/>
          <p:cNvSpPr>
            <a:spLocks noGrp="1"/>
          </p:cNvSpPr>
          <p:nvPr>
            <p:ph type="subTitle" idx="1"/>
          </p:nvPr>
        </p:nvSpPr>
        <p:spPr/>
        <p:txBody>
          <a:bodyPr>
            <a:normAutofit/>
          </a:bodyPr>
          <a:lstStyle/>
          <a:p>
            <a:r>
              <a:rPr lang="en-US"/>
              <a:t>Unit </a:t>
            </a:r>
            <a:r>
              <a:rPr lang="en-US" dirty="0"/>
              <a:t>5</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2025</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Stacks</a:t>
            </a:r>
          </a:p>
        </p:txBody>
      </p:sp>
      <p:sp>
        <p:nvSpPr>
          <p:cNvPr id="3" name="Content Placeholder 2"/>
          <p:cNvSpPr>
            <a:spLocks noGrp="1"/>
          </p:cNvSpPr>
          <p:nvPr>
            <p:ph idx="1"/>
          </p:nvPr>
        </p:nvSpPr>
        <p:spPr/>
        <p:txBody>
          <a:bodyPr>
            <a:normAutofit/>
          </a:bodyPr>
          <a:lstStyle/>
          <a:p>
            <a:r>
              <a:rPr lang="en-US" dirty="0"/>
              <a:t>Definition: </a:t>
            </a:r>
            <a:r>
              <a:rPr lang="en-US" altLang="en-US" dirty="0">
                <a:cs typeface="Times New Roman" panose="02020603050405020304" pitchFamily="18" charset="0"/>
              </a:rPr>
              <a:t>a linear last-in-first-out (LIFO) sequence of elements where elements can only be added and removed at one end (i.e. the </a:t>
            </a:r>
            <a:r>
              <a:rPr lang="en-US" altLang="en-US" b="1" dirty="0">
                <a:cs typeface="Times New Roman" panose="02020603050405020304" pitchFamily="18" charset="0"/>
              </a:rPr>
              <a:t>top</a:t>
            </a:r>
            <a:r>
              <a:rPr lang="en-US" altLang="en-US" dirty="0">
                <a:cs typeface="Times New Roman" panose="02020603050405020304" pitchFamily="18" charset="0"/>
              </a:rPr>
              <a:t> of the stack)</a:t>
            </a:r>
          </a:p>
          <a:p>
            <a:pPr marL="838200" lvl="1" indent="-381000"/>
            <a:r>
              <a:rPr lang="en-US" altLang="en-US" dirty="0"/>
              <a:t>The </a:t>
            </a:r>
            <a:r>
              <a:rPr lang="en-US" altLang="en-US" b="1" dirty="0"/>
              <a:t>depth</a:t>
            </a:r>
            <a:r>
              <a:rPr lang="en-US" altLang="en-US" dirty="0"/>
              <a:t> of a stack is the number of elements it contains</a:t>
            </a:r>
          </a:p>
          <a:p>
            <a:pPr marL="1295400" lvl="2" indent="-381000"/>
            <a:r>
              <a:rPr lang="en-US" altLang="en-US" dirty="0"/>
              <a:t>An </a:t>
            </a:r>
            <a:r>
              <a:rPr lang="en-US" altLang="en-US" b="1" dirty="0"/>
              <a:t>empty</a:t>
            </a:r>
            <a:r>
              <a:rPr lang="en-US" altLang="en-US" dirty="0"/>
              <a:t> stack has depth zero</a:t>
            </a:r>
          </a:p>
          <a:p>
            <a:endParaRPr lang="en-US" dirty="0"/>
          </a:p>
        </p:txBody>
      </p:sp>
      <p:pic>
        <p:nvPicPr>
          <p:cNvPr id="4" name="Picture 2" descr="Image result for PEZ sanrio">
            <a:extLst>
              <a:ext uri="{FF2B5EF4-FFF2-40B4-BE49-F238E27FC236}">
                <a16:creationId xmlns:a16="http://schemas.microsoft.com/office/drawing/2014/main" id="{4109512D-4E78-45CA-9DC0-431833DAC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5979" y="3883985"/>
            <a:ext cx="4431983" cy="281828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n organized and neat stack of books is displayed on a transparent  background in a highly realistic design.Generative AI 23575435 PNG">
            <a:extLst>
              <a:ext uri="{FF2B5EF4-FFF2-40B4-BE49-F238E27FC236}">
                <a16:creationId xmlns:a16="http://schemas.microsoft.com/office/drawing/2014/main" id="{9641081D-97A8-3521-6C6D-5C4A55F094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8151" y="3429000"/>
            <a:ext cx="2509260" cy="37651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699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55D3-57B9-4845-9137-DD9D7BE31FE7}"/>
              </a:ext>
            </a:extLst>
          </p:cNvPr>
          <p:cNvSpPr>
            <a:spLocks noGrp="1"/>
          </p:cNvSpPr>
          <p:nvPr>
            <p:ph type="title"/>
          </p:nvPr>
        </p:nvSpPr>
        <p:spPr/>
        <p:txBody>
          <a:bodyPr/>
          <a:lstStyle/>
          <a:p>
            <a:r>
              <a:rPr lang="en-US" dirty="0" err="1"/>
              <a:t>StackADT</a:t>
            </a:r>
            <a:r>
              <a:rPr lang="en-US" dirty="0"/>
              <a:t> Requirements</a:t>
            </a:r>
            <a:endParaRPr lang="en-CA" dirty="0"/>
          </a:p>
        </p:txBody>
      </p:sp>
      <p:sp>
        <p:nvSpPr>
          <p:cNvPr id="3" name="Content Placeholder 2">
            <a:extLst>
              <a:ext uri="{FF2B5EF4-FFF2-40B4-BE49-F238E27FC236}">
                <a16:creationId xmlns:a16="http://schemas.microsoft.com/office/drawing/2014/main" id="{539EFD28-2420-4786-B0F1-2F4801D43B42}"/>
              </a:ext>
            </a:extLst>
          </p:cNvPr>
          <p:cNvSpPr>
            <a:spLocks noGrp="1"/>
          </p:cNvSpPr>
          <p:nvPr>
            <p:ph idx="1"/>
          </p:nvPr>
        </p:nvSpPr>
        <p:spPr/>
        <p:txBody>
          <a:bodyPr/>
          <a:lstStyle/>
          <a:p>
            <a:pPr marL="571500" indent="-457200">
              <a:buFont typeface="+mj-lt"/>
              <a:buAutoNum type="arabicPeriod"/>
            </a:pPr>
            <a:r>
              <a:rPr lang="en-US" altLang="en-US" dirty="0">
                <a:cs typeface="Times New Roman" panose="02020603050405020304" pitchFamily="18" charset="0"/>
              </a:rPr>
              <a:t>It must be possible to create an empty stack</a:t>
            </a:r>
          </a:p>
          <a:p>
            <a:pPr marL="571500" indent="-457200">
              <a:buFont typeface="+mj-lt"/>
              <a:buAutoNum type="arabicPeriod"/>
            </a:pPr>
            <a:r>
              <a:rPr lang="en-US" altLang="en-US" dirty="0">
                <a:cs typeface="Times New Roman" panose="02020603050405020304" pitchFamily="18" charset="0"/>
              </a:rPr>
              <a:t>It must be possible to add (“push”) an element to the top of a stack</a:t>
            </a:r>
          </a:p>
          <a:p>
            <a:pPr marL="571500" indent="-457200">
              <a:buFont typeface="+mj-lt"/>
              <a:buAutoNum type="arabicPeriod"/>
            </a:pPr>
            <a:r>
              <a:rPr lang="en-US" altLang="en-US" dirty="0">
                <a:cs typeface="Times New Roman" panose="02020603050405020304" pitchFamily="18" charset="0"/>
              </a:rPr>
              <a:t>It must be possible to remove (“pop”) the topmost element from a stack</a:t>
            </a:r>
          </a:p>
          <a:p>
            <a:pPr marL="571500" indent="-457200">
              <a:buFont typeface="+mj-lt"/>
              <a:buAutoNum type="arabicPeriod"/>
            </a:pPr>
            <a:r>
              <a:rPr lang="en-US" altLang="en-US" dirty="0">
                <a:cs typeface="Times New Roman" panose="02020603050405020304" pitchFamily="18" charset="0"/>
              </a:rPr>
              <a:t>It should be possible to access (“peek”) the topmost element in a stack without removing it</a:t>
            </a:r>
            <a:endParaRPr lang="en-CA" dirty="0"/>
          </a:p>
        </p:txBody>
      </p:sp>
    </p:spTree>
    <p:extLst>
      <p:ext uri="{BB962C8B-B14F-4D97-AF65-F5344CB8AC3E}">
        <p14:creationId xmlns:p14="http://schemas.microsoft.com/office/powerpoint/2010/main" val="255442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FBA9-645D-45DE-A1C4-6E02643CF7EE}"/>
              </a:ext>
            </a:extLst>
          </p:cNvPr>
          <p:cNvSpPr>
            <a:spLocks noGrp="1"/>
          </p:cNvSpPr>
          <p:nvPr>
            <p:ph type="title"/>
          </p:nvPr>
        </p:nvSpPr>
        <p:spPr/>
        <p:txBody>
          <a:bodyPr/>
          <a:lstStyle/>
          <a:p>
            <a:r>
              <a:rPr lang="en-US" dirty="0"/>
              <a:t>Basic Stack Operations</a:t>
            </a:r>
            <a:endParaRPr lang="en-CA" dirty="0"/>
          </a:p>
        </p:txBody>
      </p:sp>
      <p:sp>
        <p:nvSpPr>
          <p:cNvPr id="3" name="Content Placeholder 2">
            <a:extLst>
              <a:ext uri="{FF2B5EF4-FFF2-40B4-BE49-F238E27FC236}">
                <a16:creationId xmlns:a16="http://schemas.microsoft.com/office/drawing/2014/main" id="{862E11B7-155D-4B91-9109-2179C56CA3F1}"/>
              </a:ext>
            </a:extLst>
          </p:cNvPr>
          <p:cNvSpPr>
            <a:spLocks noGrp="1"/>
          </p:cNvSpPr>
          <p:nvPr>
            <p:ph idx="1"/>
          </p:nvPr>
        </p:nvSpPr>
        <p:spPr/>
        <p:txBody>
          <a:bodyPr/>
          <a:lstStyle/>
          <a:p>
            <a:r>
              <a:rPr lang="en-US" dirty="0"/>
              <a:t>new() – empty stack</a:t>
            </a:r>
          </a:p>
          <a:p>
            <a:r>
              <a:rPr lang="en-US" dirty="0"/>
              <a:t>push(10)</a:t>
            </a:r>
          </a:p>
          <a:p>
            <a:r>
              <a:rPr lang="en-US" dirty="0"/>
              <a:t>push(5)</a:t>
            </a:r>
          </a:p>
          <a:p>
            <a:r>
              <a:rPr lang="en-US" dirty="0"/>
              <a:t>push(15)</a:t>
            </a:r>
            <a:endParaRPr lang="en-CA" dirty="0"/>
          </a:p>
          <a:p>
            <a:r>
              <a:rPr lang="en-US" dirty="0"/>
              <a:t>pop()</a:t>
            </a:r>
          </a:p>
          <a:p>
            <a:r>
              <a:rPr lang="en-US" dirty="0"/>
              <a:t>peek()</a:t>
            </a:r>
          </a:p>
          <a:p>
            <a:r>
              <a:rPr lang="en-US" dirty="0"/>
              <a:t>pop()</a:t>
            </a:r>
          </a:p>
        </p:txBody>
      </p:sp>
    </p:spTree>
    <p:extLst>
      <p:ext uri="{BB962C8B-B14F-4D97-AF65-F5344CB8AC3E}">
        <p14:creationId xmlns:p14="http://schemas.microsoft.com/office/powerpoint/2010/main" val="2538894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altLang="en-US" dirty="0"/>
              <a:t>Stacks Applications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normAutofit/>
          </a:bodyPr>
          <a:lstStyle/>
          <a:p>
            <a:pPr marL="381000" indent="-381000"/>
            <a:r>
              <a:rPr lang="en-US" altLang="en-US" sz="2800" dirty="0">
                <a:cs typeface="Times New Roman" panose="02020603050405020304" pitchFamily="18" charset="0"/>
              </a:rPr>
              <a:t>Interpreters (e.g. the Java Virtual Machine)</a:t>
            </a:r>
          </a:p>
          <a:p>
            <a:pPr marL="952500" lvl="1" indent="-381000">
              <a:lnSpc>
                <a:spcPct val="80000"/>
              </a:lnSpc>
            </a:pPr>
            <a:r>
              <a:rPr lang="en-US" altLang="en-US" sz="2400" dirty="0">
                <a:cs typeface="Times New Roman" panose="02020603050405020304" pitchFamily="18" charset="0"/>
              </a:rPr>
              <a:t>Maintains a stack containing intermediate results during evaluation of complicated expressions</a:t>
            </a:r>
          </a:p>
          <a:p>
            <a:pPr marL="952500" lvl="1" indent="-381000">
              <a:lnSpc>
                <a:spcPct val="80000"/>
              </a:lnSpc>
            </a:pPr>
            <a:r>
              <a:rPr lang="en-US" altLang="en-US" dirty="0">
                <a:cs typeface="Times New Roman" panose="02020603050405020304" pitchFamily="18" charset="0"/>
              </a:rPr>
              <a:t>Al</a:t>
            </a:r>
            <a:r>
              <a:rPr lang="en-US" altLang="en-US" sz="2400" dirty="0">
                <a:cs typeface="Times New Roman" panose="02020603050405020304" pitchFamily="18" charset="0"/>
              </a:rPr>
              <a:t>so containing arguments and return addresses for method calls and returns</a:t>
            </a:r>
          </a:p>
          <a:p>
            <a:pPr marL="1409700" lvl="2" indent="-381000">
              <a:lnSpc>
                <a:spcPct val="80000"/>
              </a:lnSpc>
            </a:pPr>
            <a:r>
              <a:rPr lang="en-US" altLang="en-US" dirty="0">
                <a:cs typeface="Times New Roman" panose="02020603050405020304" pitchFamily="18" charset="0"/>
              </a:rPr>
              <a:t>the call stack</a:t>
            </a:r>
          </a:p>
          <a:p>
            <a:pPr marL="381000" indent="-381000">
              <a:lnSpc>
                <a:spcPct val="90000"/>
              </a:lnSpc>
            </a:pPr>
            <a:r>
              <a:rPr lang="en-US" altLang="en-US" sz="2800" dirty="0"/>
              <a:t>Parsers (e.g. compilers to check syntax)</a:t>
            </a:r>
          </a:p>
          <a:p>
            <a:pPr marL="952500" lvl="1" indent="-381000">
              <a:lnSpc>
                <a:spcPct val="90000"/>
              </a:lnSpc>
            </a:pPr>
            <a:r>
              <a:rPr lang="en-US" altLang="en-US" dirty="0">
                <a:cs typeface="Times New Roman" panose="02020603050405020304" pitchFamily="18" charset="0"/>
              </a:rPr>
              <a:t>M</a:t>
            </a:r>
            <a:r>
              <a:rPr lang="en-US" altLang="en-US" sz="2400" dirty="0">
                <a:cs typeface="Times New Roman" panose="02020603050405020304" pitchFamily="18" charset="0"/>
              </a:rPr>
              <a:t>aintains a stack containing symbols encountered during parsing</a:t>
            </a:r>
          </a:p>
          <a:p>
            <a:pPr marL="381000" indent="-381000">
              <a:lnSpc>
                <a:spcPct val="90000"/>
              </a:lnSpc>
            </a:pPr>
            <a:r>
              <a:rPr lang="en-US" altLang="en-US" sz="2800" dirty="0"/>
              <a:t>Backtrackers (e.g. undo and redo)</a:t>
            </a:r>
          </a:p>
          <a:p>
            <a:pPr marL="952500" lvl="1" indent="-381000">
              <a:lnSpc>
                <a:spcPct val="90000"/>
              </a:lnSpc>
            </a:pPr>
            <a:r>
              <a:rPr lang="en-US" altLang="en-US" dirty="0">
                <a:cs typeface="Times New Roman" panose="02020603050405020304" pitchFamily="18" charset="0"/>
              </a:rPr>
              <a:t>A</a:t>
            </a:r>
            <a:r>
              <a:rPr lang="en-US" altLang="en-US" sz="2400" dirty="0">
                <a:cs typeface="Times New Roman" panose="02020603050405020304" pitchFamily="18" charset="0"/>
              </a:rPr>
              <a:t>lternative to recursion</a:t>
            </a:r>
          </a:p>
        </p:txBody>
      </p:sp>
    </p:spTree>
    <p:extLst>
      <p:ext uri="{BB962C8B-B14F-4D97-AF65-F5344CB8AC3E}">
        <p14:creationId xmlns:p14="http://schemas.microsoft.com/office/powerpoint/2010/main" val="152132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299FB-E37F-482D-9615-65B24A5AB69E}"/>
              </a:ext>
            </a:extLst>
          </p:cNvPr>
          <p:cNvSpPr>
            <a:spLocks noGrp="1"/>
          </p:cNvSpPr>
          <p:nvPr>
            <p:ph type="title"/>
          </p:nvPr>
        </p:nvSpPr>
        <p:spPr/>
        <p:txBody>
          <a:bodyPr/>
          <a:lstStyle/>
          <a:p>
            <a:r>
              <a:rPr lang="en-US" dirty="0"/>
              <a:t>The Call Stack</a:t>
            </a:r>
            <a:endParaRPr lang="en-CA" dirty="0"/>
          </a:p>
        </p:txBody>
      </p:sp>
      <p:sp>
        <p:nvSpPr>
          <p:cNvPr id="3" name="Content Placeholder 2">
            <a:extLst>
              <a:ext uri="{FF2B5EF4-FFF2-40B4-BE49-F238E27FC236}">
                <a16:creationId xmlns:a16="http://schemas.microsoft.com/office/drawing/2014/main" id="{703E6DD1-A106-4CC9-8AA7-2A3A444FFDDA}"/>
              </a:ext>
            </a:extLst>
          </p:cNvPr>
          <p:cNvSpPr>
            <a:spLocks noGrp="1"/>
          </p:cNvSpPr>
          <p:nvPr>
            <p:ph idx="1"/>
          </p:nvPr>
        </p:nvSpPr>
        <p:spPr>
          <a:xfrm>
            <a:off x="838200" y="1825625"/>
            <a:ext cx="6583680" cy="4351338"/>
          </a:xfrm>
        </p:spPr>
        <p:txBody>
          <a:bodyPr/>
          <a:lstStyle/>
          <a:p>
            <a:r>
              <a:rPr lang="en-US" dirty="0"/>
              <a:t>What you see in the stack trace!</a:t>
            </a:r>
          </a:p>
          <a:p>
            <a:pPr marL="908050" lvl="1" indent="-284163">
              <a:lnSpc>
                <a:spcPct val="80000"/>
              </a:lnSpc>
            </a:pPr>
            <a:r>
              <a:rPr lang="en-US" altLang="en-US" dirty="0">
                <a:cs typeface="Times New Roman" panose="02020603050405020304" pitchFamily="18" charset="0"/>
              </a:rPr>
              <a:t>Only one method is executing at a time, the rest are suspended</a:t>
            </a:r>
          </a:p>
          <a:p>
            <a:pPr marL="908050" lvl="1" indent="-284163">
              <a:lnSpc>
                <a:spcPct val="80000"/>
              </a:lnSpc>
            </a:pPr>
            <a:r>
              <a:rPr lang="en-US" altLang="en-US" dirty="0">
                <a:cs typeface="Times New Roman" panose="02020603050405020304" pitchFamily="18" charset="0"/>
              </a:rPr>
              <a:t>Every time a method is called, an activation record (frame) is created and pushed onto the private call stack</a:t>
            </a:r>
          </a:p>
          <a:p>
            <a:pPr marL="908050" lvl="1" indent="-284163">
              <a:lnSpc>
                <a:spcPct val="80000"/>
              </a:lnSpc>
            </a:pPr>
            <a:r>
              <a:rPr lang="en-US" altLang="en-US" dirty="0">
                <a:cs typeface="Times New Roman" panose="02020603050405020304" pitchFamily="18" charset="0"/>
              </a:rPr>
              <a:t>When the method finishes execution and returns control to the method that called it, the activation record is popped off the stack</a:t>
            </a:r>
          </a:p>
          <a:p>
            <a:pPr marL="908050" lvl="1" indent="-284163">
              <a:lnSpc>
                <a:spcPct val="80000"/>
              </a:lnSpc>
            </a:pPr>
            <a:r>
              <a:rPr lang="en-US" altLang="en-US" dirty="0">
                <a:cs typeface="Times New Roman" panose="02020603050405020304" pitchFamily="18" charset="0"/>
              </a:rPr>
              <a:t>main() – at the bottom of the stack</a:t>
            </a:r>
          </a:p>
        </p:txBody>
      </p:sp>
      <p:pic>
        <p:nvPicPr>
          <p:cNvPr id="5" name="Picture 4">
            <a:extLst>
              <a:ext uri="{FF2B5EF4-FFF2-40B4-BE49-F238E27FC236}">
                <a16:creationId xmlns:a16="http://schemas.microsoft.com/office/drawing/2014/main" id="{F1CBFFB2-6F10-4949-B3E2-0F89FA6F0597}"/>
              </a:ext>
            </a:extLst>
          </p:cNvPr>
          <p:cNvPicPr>
            <a:picLocks noChangeAspect="1"/>
          </p:cNvPicPr>
          <p:nvPr/>
        </p:nvPicPr>
        <p:blipFill>
          <a:blip r:embed="rId3"/>
          <a:stretch>
            <a:fillRect/>
          </a:stretch>
        </p:blipFill>
        <p:spPr>
          <a:xfrm>
            <a:off x="8084341" y="2269966"/>
            <a:ext cx="3269459" cy="3462655"/>
          </a:xfrm>
          <a:prstGeom prst="rect">
            <a:avLst/>
          </a:prstGeom>
        </p:spPr>
      </p:pic>
    </p:spTree>
    <p:extLst>
      <p:ext uri="{BB962C8B-B14F-4D97-AF65-F5344CB8AC3E}">
        <p14:creationId xmlns:p14="http://schemas.microsoft.com/office/powerpoint/2010/main" val="70455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379C-3BB4-4F45-9189-D26C838E8425}"/>
              </a:ext>
            </a:extLst>
          </p:cNvPr>
          <p:cNvSpPr>
            <a:spLocks noGrp="1"/>
          </p:cNvSpPr>
          <p:nvPr>
            <p:ph type="title"/>
          </p:nvPr>
        </p:nvSpPr>
        <p:spPr/>
        <p:txBody>
          <a:bodyPr/>
          <a:lstStyle/>
          <a:p>
            <a:r>
              <a:rPr lang="en-US" dirty="0"/>
              <a:t>Parsers</a:t>
            </a:r>
            <a:endParaRPr lang="en-CA" dirty="0"/>
          </a:p>
        </p:txBody>
      </p:sp>
      <p:sp>
        <p:nvSpPr>
          <p:cNvPr id="3" name="Content Placeholder 2">
            <a:extLst>
              <a:ext uri="{FF2B5EF4-FFF2-40B4-BE49-F238E27FC236}">
                <a16:creationId xmlns:a16="http://schemas.microsoft.com/office/drawing/2014/main" id="{1C8A951B-BEB7-435C-946E-21D69DEE037C}"/>
              </a:ext>
            </a:extLst>
          </p:cNvPr>
          <p:cNvSpPr>
            <a:spLocks noGrp="1"/>
          </p:cNvSpPr>
          <p:nvPr>
            <p:ph idx="1"/>
          </p:nvPr>
        </p:nvSpPr>
        <p:spPr/>
        <p:txBody>
          <a:bodyPr/>
          <a:lstStyle/>
          <a:p>
            <a:pPr marL="495300" indent="-381000"/>
            <a:r>
              <a:rPr lang="en-US" altLang="en-US" dirty="0">
                <a:cs typeface="Times New Roman" panose="02020603050405020304" pitchFamily="18" charset="0"/>
              </a:rPr>
              <a:t>Maintains a stack containing symbols encountered during parsing (reading and validating the source code)</a:t>
            </a:r>
          </a:p>
          <a:p>
            <a:pPr marL="952500" lvl="1" indent="-381000"/>
            <a:endParaRPr lang="en-US" dirty="0">
              <a:cs typeface="Times New Roman" panose="02020603050405020304" pitchFamily="18" charset="0"/>
            </a:endParaRPr>
          </a:p>
          <a:p>
            <a:pPr marL="571500" lvl="1" indent="0">
              <a:buNone/>
            </a:pPr>
            <a:r>
              <a:rPr lang="en-US" dirty="0">
                <a:latin typeface="Courier New" panose="02070309020205020404" pitchFamily="49" charset="0"/>
                <a:cs typeface="Courier New" panose="02070309020205020404" pitchFamily="49" charset="0"/>
              </a:rPr>
              <a:t>while(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&gt; 0 ) {</a:t>
            </a:r>
          </a:p>
          <a:p>
            <a:pPr marL="571500" lvl="1" indent="0">
              <a:buNone/>
            </a:pPr>
            <a:r>
              <a:rPr lang="en-US" dirty="0">
                <a:latin typeface="Courier New" panose="02070309020205020404" pitchFamily="49" charset="0"/>
                <a:cs typeface="Courier New" panose="02070309020205020404" pitchFamily="49" charset="0"/>
              </a:rPr>
              <a:t>	array[</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5715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p>
          <a:p>
            <a:pPr marL="571500" lvl="1" indent="0">
              <a:buNone/>
            </a:pPr>
            <a:r>
              <a:rPr lang="en-US" dirty="0">
                <a:latin typeface="Courier New" panose="02070309020205020404" pitchFamily="49" charset="0"/>
                <a:cs typeface="Courier New" panose="02070309020205020404" pitchFamily="49" charset="0"/>
              </a:rPr>
              <a:t>}</a:t>
            </a:r>
            <a:endParaRPr lang="en-CA"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6824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1ACF-B39F-4D3E-9A80-9B5FC41BA31D}"/>
              </a:ext>
            </a:extLst>
          </p:cNvPr>
          <p:cNvSpPr>
            <a:spLocks noGrp="1"/>
          </p:cNvSpPr>
          <p:nvPr>
            <p:ph type="title"/>
          </p:nvPr>
        </p:nvSpPr>
        <p:spPr/>
        <p:txBody>
          <a:bodyPr/>
          <a:lstStyle/>
          <a:p>
            <a:r>
              <a:rPr lang="en-US" altLang="en-US" dirty="0" err="1"/>
              <a:t>StackADT</a:t>
            </a:r>
            <a:r>
              <a:rPr lang="en-US" altLang="en-US" dirty="0"/>
              <a:t> Implementations</a:t>
            </a:r>
            <a:endParaRPr lang="en-CA" dirty="0"/>
          </a:p>
        </p:txBody>
      </p:sp>
      <p:sp>
        <p:nvSpPr>
          <p:cNvPr id="3" name="Content Placeholder 2">
            <a:extLst>
              <a:ext uri="{FF2B5EF4-FFF2-40B4-BE49-F238E27FC236}">
                <a16:creationId xmlns:a16="http://schemas.microsoft.com/office/drawing/2014/main" id="{10081740-2B99-4A04-9FC2-B0C1D7DF998B}"/>
              </a:ext>
            </a:extLst>
          </p:cNvPr>
          <p:cNvSpPr>
            <a:spLocks noGrp="1"/>
          </p:cNvSpPr>
          <p:nvPr>
            <p:ph idx="1"/>
          </p:nvPr>
        </p:nvSpPr>
        <p:spPr/>
        <p:txBody>
          <a:bodyPr/>
          <a:lstStyle/>
          <a:p>
            <a:pPr marL="381000" indent="-381000"/>
            <a:r>
              <a:rPr lang="en-US" altLang="en-US" dirty="0">
                <a:cs typeface="Times New Roman" panose="02020603050405020304" pitchFamily="18" charset="0"/>
              </a:rPr>
              <a:t>Array-based</a:t>
            </a:r>
          </a:p>
          <a:p>
            <a:pPr marL="838200" lvl="1" indent="-381000"/>
            <a:r>
              <a:rPr lang="en-US" altLang="en-US" dirty="0">
                <a:cs typeface="Times New Roman" panose="02020603050405020304" pitchFamily="18" charset="0"/>
              </a:rPr>
              <a:t>This is what your assignment will be!</a:t>
            </a:r>
          </a:p>
          <a:p>
            <a:pPr marL="381000" indent="-381000"/>
            <a:r>
              <a:rPr lang="en-US" altLang="en-US" dirty="0">
                <a:cs typeface="Times New Roman" panose="02020603050405020304" pitchFamily="18" charset="0"/>
              </a:rPr>
              <a:t>LinkedList-based</a:t>
            </a:r>
          </a:p>
          <a:p>
            <a:pPr marL="2209800" lvl="4" indent="-381000"/>
            <a:endParaRPr lang="en-US" altLang="en-US" dirty="0">
              <a:cs typeface="Times New Roman" panose="02020603050405020304" pitchFamily="18" charset="0"/>
            </a:endParaRPr>
          </a:p>
          <a:p>
            <a:pPr marL="381000" indent="-381000"/>
            <a:r>
              <a:rPr lang="en-US" altLang="en-US" dirty="0">
                <a:cs typeface="Times New Roman" panose="02020603050405020304" pitchFamily="18" charset="0"/>
              </a:rPr>
              <a:t>Java stack:</a:t>
            </a:r>
          </a:p>
        </p:txBody>
      </p:sp>
      <p:pic>
        <p:nvPicPr>
          <p:cNvPr id="5" name="Picture 4">
            <a:extLst>
              <a:ext uri="{FF2B5EF4-FFF2-40B4-BE49-F238E27FC236}">
                <a16:creationId xmlns:a16="http://schemas.microsoft.com/office/drawing/2014/main" id="{D3D4D183-79DF-45FD-8C3C-24FE93DB2725}"/>
              </a:ext>
            </a:extLst>
          </p:cNvPr>
          <p:cNvPicPr>
            <a:picLocks noChangeAspect="1"/>
          </p:cNvPicPr>
          <p:nvPr/>
        </p:nvPicPr>
        <p:blipFill>
          <a:blip r:embed="rId3"/>
          <a:stretch>
            <a:fillRect/>
          </a:stretch>
        </p:blipFill>
        <p:spPr>
          <a:xfrm>
            <a:off x="3683317" y="3866357"/>
            <a:ext cx="4498680" cy="2310606"/>
          </a:xfrm>
          <a:prstGeom prst="rect">
            <a:avLst/>
          </a:prstGeom>
        </p:spPr>
      </p:pic>
    </p:spTree>
    <p:extLst>
      <p:ext uri="{BB962C8B-B14F-4D97-AF65-F5344CB8AC3E}">
        <p14:creationId xmlns:p14="http://schemas.microsoft.com/office/powerpoint/2010/main" val="2180461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42AF-4090-4D96-8ECB-3D2CFB7C533E}"/>
              </a:ext>
            </a:extLst>
          </p:cNvPr>
          <p:cNvSpPr>
            <a:spLocks noGrp="1"/>
          </p:cNvSpPr>
          <p:nvPr>
            <p:ph type="title"/>
          </p:nvPr>
        </p:nvSpPr>
        <p:spPr/>
        <p:txBody>
          <a:bodyPr/>
          <a:lstStyle/>
          <a:p>
            <a:r>
              <a:rPr lang="en-US" dirty="0"/>
              <a:t>Problems with the </a:t>
            </a:r>
            <a:r>
              <a:rPr lang="en-US" dirty="0" err="1"/>
              <a:t>java.util.Stack</a:t>
            </a:r>
            <a:endParaRPr lang="en-CA" dirty="0"/>
          </a:p>
        </p:txBody>
      </p:sp>
      <p:sp>
        <p:nvSpPr>
          <p:cNvPr id="3" name="Content Placeholder 2">
            <a:extLst>
              <a:ext uri="{FF2B5EF4-FFF2-40B4-BE49-F238E27FC236}">
                <a16:creationId xmlns:a16="http://schemas.microsoft.com/office/drawing/2014/main" id="{98BE8D26-900D-4F4E-9FDC-F87CA151EF89}"/>
              </a:ext>
            </a:extLst>
          </p:cNvPr>
          <p:cNvSpPr>
            <a:spLocks noGrp="1"/>
          </p:cNvSpPr>
          <p:nvPr>
            <p:ph idx="1"/>
          </p:nvPr>
        </p:nvSpPr>
        <p:spPr/>
        <p:txBody>
          <a:bodyPr/>
          <a:lstStyle/>
          <a:p>
            <a:pPr marL="571500" indent="-457200"/>
            <a:r>
              <a:rPr lang="en-US" altLang="en-US" dirty="0">
                <a:cs typeface="Times New Roman" panose="02020603050405020304" pitchFamily="18" charset="0"/>
              </a:rPr>
              <a:t>Subclass of Vector (“is a” relationship)</a:t>
            </a:r>
          </a:p>
          <a:p>
            <a:pPr marL="1028700" lvl="1" indent="-457200"/>
            <a:r>
              <a:rPr lang="en-US" altLang="en-US" dirty="0">
                <a:cs typeface="Times New Roman" panose="02020603050405020304" pitchFamily="18" charset="0"/>
              </a:rPr>
              <a:t>Therefore not a real stack! </a:t>
            </a:r>
          </a:p>
          <a:p>
            <a:pPr marL="1485900" lvl="2" indent="-457200"/>
            <a:r>
              <a:rPr lang="en-US" altLang="en-US" dirty="0">
                <a:cs typeface="Times New Roman" panose="02020603050405020304" pitchFamily="18" charset="0"/>
              </a:rPr>
              <a:t>But rather a structure with stack-like operation</a:t>
            </a:r>
          </a:p>
          <a:p>
            <a:pPr marL="1485900" lvl="2" indent="-457200"/>
            <a:r>
              <a:rPr lang="en-US" dirty="0"/>
              <a:t>The following is permitted:</a:t>
            </a:r>
          </a:p>
          <a:p>
            <a:pPr marL="1943100" lvl="4" indent="0">
              <a:buNone/>
            </a:pPr>
            <a:r>
              <a:rPr lang="en-US" sz="2000" dirty="0" err="1">
                <a:latin typeface="Courier New" panose="02070309020205020404" pitchFamily="49" charset="0"/>
                <a:cs typeface="Courier New" panose="02070309020205020404" pitchFamily="49" charset="0"/>
              </a:rPr>
              <a:t>stack.setElementAt</a:t>
            </a:r>
            <a:r>
              <a:rPr lang="en-US" sz="2000" dirty="0">
                <a:latin typeface="Courier New" panose="02070309020205020404" pitchFamily="49" charset="0"/>
                <a:cs typeface="Courier New" panose="02070309020205020404" pitchFamily="49" charset="0"/>
              </a:rPr>
              <a:t>(“Sheraton”, 5); </a:t>
            </a:r>
          </a:p>
          <a:p>
            <a:pPr marL="1943100" lvl="4" indent="0">
              <a:buNone/>
            </a:pPr>
            <a:r>
              <a:rPr lang="en-US" sz="2000" dirty="0" err="1">
                <a:latin typeface="Courier New" panose="02070309020205020404" pitchFamily="49" charset="0"/>
                <a:cs typeface="Courier New" panose="02070309020205020404" pitchFamily="49" charset="0"/>
              </a:rPr>
              <a:t>stack.remove</a:t>
            </a:r>
            <a:r>
              <a:rPr lang="en-US" sz="2000" dirty="0">
                <a:latin typeface="Courier New" panose="02070309020205020404" pitchFamily="49" charset="0"/>
                <a:cs typeface="Courier New" panose="02070309020205020404" pitchFamily="49" charset="0"/>
              </a:rPr>
              <a:t>(2);</a:t>
            </a:r>
          </a:p>
          <a:p>
            <a:pPr marL="1485900" lvl="2" indent="-457200"/>
            <a:r>
              <a:rPr lang="en-US" dirty="0"/>
              <a:t>remove methods are inherited (from Vector) and can be used. But they should NEVER be used as this would violate LIFO guarantee</a:t>
            </a:r>
          </a:p>
          <a:p>
            <a:pPr marL="1485900" lvl="2" indent="-457200"/>
            <a:r>
              <a:rPr lang="en-US" dirty="0"/>
              <a:t>The stack-vector relationship should be of the “has-a” variety instead of the “is-a”</a:t>
            </a:r>
            <a:endParaRPr lang="en-CA" dirty="0"/>
          </a:p>
        </p:txBody>
      </p:sp>
      <p:pic>
        <p:nvPicPr>
          <p:cNvPr id="9" name="Picture 8">
            <a:extLst>
              <a:ext uri="{FF2B5EF4-FFF2-40B4-BE49-F238E27FC236}">
                <a16:creationId xmlns:a16="http://schemas.microsoft.com/office/drawing/2014/main" id="{5D11D219-B725-4AD6-B9E6-CFE976C2612E}"/>
              </a:ext>
            </a:extLst>
          </p:cNvPr>
          <p:cNvPicPr>
            <a:picLocks noChangeAspect="1"/>
          </p:cNvPicPr>
          <p:nvPr/>
        </p:nvPicPr>
        <p:blipFill>
          <a:blip r:embed="rId3"/>
          <a:stretch>
            <a:fillRect/>
          </a:stretch>
        </p:blipFill>
        <p:spPr>
          <a:xfrm>
            <a:off x="838200" y="5346771"/>
            <a:ext cx="10570230" cy="612069"/>
          </a:xfrm>
          <a:prstGeom prst="rect">
            <a:avLst/>
          </a:prstGeom>
        </p:spPr>
      </p:pic>
    </p:spTree>
    <p:extLst>
      <p:ext uri="{BB962C8B-B14F-4D97-AF65-F5344CB8AC3E}">
        <p14:creationId xmlns:p14="http://schemas.microsoft.com/office/powerpoint/2010/main" val="1398308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790B4-FA20-4F89-89AD-69B39FD77B00}"/>
              </a:ext>
            </a:extLst>
          </p:cNvPr>
          <p:cNvSpPr>
            <a:spLocks noGrp="1"/>
          </p:cNvSpPr>
          <p:nvPr>
            <p:ph type="title"/>
          </p:nvPr>
        </p:nvSpPr>
        <p:spPr/>
        <p:txBody>
          <a:bodyPr/>
          <a:lstStyle/>
          <a:p>
            <a:r>
              <a:rPr lang="en-US" dirty="0"/>
              <a:t>Queues</a:t>
            </a:r>
            <a:endParaRPr lang="en-CA" dirty="0"/>
          </a:p>
        </p:txBody>
      </p:sp>
      <p:sp>
        <p:nvSpPr>
          <p:cNvPr id="3" name="Content Placeholder 2">
            <a:extLst>
              <a:ext uri="{FF2B5EF4-FFF2-40B4-BE49-F238E27FC236}">
                <a16:creationId xmlns:a16="http://schemas.microsoft.com/office/drawing/2014/main" id="{9F59C4E0-ABBC-4972-A606-CACBFBD52393}"/>
              </a:ext>
            </a:extLst>
          </p:cNvPr>
          <p:cNvSpPr>
            <a:spLocks noGrp="1"/>
          </p:cNvSpPr>
          <p:nvPr>
            <p:ph idx="1"/>
          </p:nvPr>
        </p:nvSpPr>
        <p:spPr/>
        <p:txBody>
          <a:bodyPr/>
          <a:lstStyle/>
          <a:p>
            <a:r>
              <a:rPr lang="en-US" dirty="0"/>
              <a:t>Definition: </a:t>
            </a:r>
            <a:r>
              <a:rPr lang="en-US" altLang="en-US" dirty="0">
                <a:cs typeface="Times New Roman" panose="02020603050405020304" pitchFamily="18" charset="0"/>
              </a:rPr>
              <a:t>a linear first-in-first-out (FIFO) sequence of elements where elements can only be added at one end (i.e. the tail) and removed at the other end (i.e. the head)</a:t>
            </a:r>
          </a:p>
          <a:p>
            <a:pPr marL="838200" lvl="1" indent="-381000"/>
            <a:r>
              <a:rPr lang="en-US" altLang="en-US" dirty="0"/>
              <a:t>The </a:t>
            </a:r>
            <a:r>
              <a:rPr lang="en-US" altLang="en-US" b="1" dirty="0"/>
              <a:t>length</a:t>
            </a:r>
            <a:r>
              <a:rPr lang="en-US" altLang="en-US" dirty="0"/>
              <a:t> of a queue is the number of elements it contains</a:t>
            </a:r>
          </a:p>
          <a:p>
            <a:pPr marL="1295400" lvl="2" indent="-381000"/>
            <a:r>
              <a:rPr lang="en-US" altLang="en-US" dirty="0"/>
              <a:t>An </a:t>
            </a:r>
            <a:r>
              <a:rPr lang="en-US" altLang="en-US" b="1" dirty="0"/>
              <a:t>empty</a:t>
            </a:r>
            <a:r>
              <a:rPr lang="en-US" altLang="en-US" dirty="0"/>
              <a:t> queue has length zero</a:t>
            </a:r>
          </a:p>
        </p:txBody>
      </p:sp>
      <p:pic>
        <p:nvPicPr>
          <p:cNvPr id="1026" name="Picture 2" descr="People Waiting Queue Illustration Crowd Long Stock Illustration 1272693253">
            <a:extLst>
              <a:ext uri="{FF2B5EF4-FFF2-40B4-BE49-F238E27FC236}">
                <a16:creationId xmlns:a16="http://schemas.microsoft.com/office/drawing/2014/main" id="{41FFF154-E67B-4031-AC14-05441B4B06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4837" y="4305300"/>
            <a:ext cx="7182326" cy="2050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76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F55D3-57B9-4845-9137-DD9D7BE31FE7}"/>
              </a:ext>
            </a:extLst>
          </p:cNvPr>
          <p:cNvSpPr>
            <a:spLocks noGrp="1"/>
          </p:cNvSpPr>
          <p:nvPr>
            <p:ph type="title"/>
          </p:nvPr>
        </p:nvSpPr>
        <p:spPr/>
        <p:txBody>
          <a:bodyPr/>
          <a:lstStyle/>
          <a:p>
            <a:r>
              <a:rPr lang="en-US" dirty="0" err="1"/>
              <a:t>QueueADT</a:t>
            </a:r>
            <a:r>
              <a:rPr lang="en-US" dirty="0"/>
              <a:t> Requirements</a:t>
            </a:r>
            <a:endParaRPr lang="en-CA" dirty="0"/>
          </a:p>
        </p:txBody>
      </p:sp>
      <p:sp>
        <p:nvSpPr>
          <p:cNvPr id="3" name="Content Placeholder 2">
            <a:extLst>
              <a:ext uri="{FF2B5EF4-FFF2-40B4-BE49-F238E27FC236}">
                <a16:creationId xmlns:a16="http://schemas.microsoft.com/office/drawing/2014/main" id="{539EFD28-2420-4786-B0F1-2F4801D43B42}"/>
              </a:ext>
            </a:extLst>
          </p:cNvPr>
          <p:cNvSpPr>
            <a:spLocks noGrp="1"/>
          </p:cNvSpPr>
          <p:nvPr>
            <p:ph idx="1"/>
          </p:nvPr>
        </p:nvSpPr>
        <p:spPr/>
        <p:txBody>
          <a:bodyPr/>
          <a:lstStyle/>
          <a:p>
            <a:pPr marL="571500" indent="-457200">
              <a:buFont typeface="+mj-lt"/>
              <a:buAutoNum type="arabicPeriod"/>
            </a:pPr>
            <a:r>
              <a:rPr lang="en-US" altLang="en-US" dirty="0">
                <a:cs typeface="Times New Roman" panose="02020603050405020304" pitchFamily="18" charset="0"/>
              </a:rPr>
              <a:t>It must be possible to create an empty queue</a:t>
            </a:r>
          </a:p>
          <a:p>
            <a:pPr marL="571500" indent="-457200">
              <a:buFont typeface="+mj-lt"/>
              <a:buAutoNum type="arabicPeriod"/>
            </a:pPr>
            <a:r>
              <a:rPr lang="en-US" altLang="en-US" dirty="0">
                <a:cs typeface="Times New Roman" panose="02020603050405020304" pitchFamily="18" charset="0"/>
              </a:rPr>
              <a:t>It must be possible to add (“enqueue”) an element to the end of the queue</a:t>
            </a:r>
          </a:p>
          <a:p>
            <a:pPr marL="571500" indent="-457200">
              <a:buFont typeface="+mj-lt"/>
              <a:buAutoNum type="arabicPeriod"/>
            </a:pPr>
            <a:r>
              <a:rPr lang="en-US" altLang="en-US" dirty="0">
                <a:cs typeface="Times New Roman" panose="02020603050405020304" pitchFamily="18" charset="0"/>
              </a:rPr>
              <a:t>It must be possible to remove (“dequeue”) the first element from a queue</a:t>
            </a:r>
          </a:p>
          <a:p>
            <a:pPr marL="571500" indent="-457200">
              <a:buFont typeface="+mj-lt"/>
              <a:buAutoNum type="arabicPeriod"/>
            </a:pPr>
            <a:r>
              <a:rPr lang="en-US" altLang="en-US" dirty="0">
                <a:cs typeface="Times New Roman" panose="02020603050405020304" pitchFamily="18" charset="0"/>
              </a:rPr>
              <a:t>It should be possible to access (“peek”) the first element in a queue without removing it</a:t>
            </a:r>
            <a:endParaRPr lang="en-CA" dirty="0"/>
          </a:p>
        </p:txBody>
      </p:sp>
    </p:spTree>
    <p:extLst>
      <p:ext uri="{BB962C8B-B14F-4D97-AF65-F5344CB8AC3E}">
        <p14:creationId xmlns:p14="http://schemas.microsoft.com/office/powerpoint/2010/main" val="347310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FBA9-645D-45DE-A1C4-6E02643CF7EE}"/>
              </a:ext>
            </a:extLst>
          </p:cNvPr>
          <p:cNvSpPr>
            <a:spLocks noGrp="1"/>
          </p:cNvSpPr>
          <p:nvPr>
            <p:ph type="title"/>
          </p:nvPr>
        </p:nvSpPr>
        <p:spPr/>
        <p:txBody>
          <a:bodyPr/>
          <a:lstStyle/>
          <a:p>
            <a:r>
              <a:rPr lang="en-US" dirty="0"/>
              <a:t>Basic Queue Operations</a:t>
            </a:r>
            <a:endParaRPr lang="en-CA" dirty="0"/>
          </a:p>
        </p:txBody>
      </p:sp>
      <p:sp>
        <p:nvSpPr>
          <p:cNvPr id="3" name="Content Placeholder 2">
            <a:extLst>
              <a:ext uri="{FF2B5EF4-FFF2-40B4-BE49-F238E27FC236}">
                <a16:creationId xmlns:a16="http://schemas.microsoft.com/office/drawing/2014/main" id="{862E11B7-155D-4B91-9109-2179C56CA3F1}"/>
              </a:ext>
            </a:extLst>
          </p:cNvPr>
          <p:cNvSpPr>
            <a:spLocks noGrp="1"/>
          </p:cNvSpPr>
          <p:nvPr>
            <p:ph idx="1"/>
          </p:nvPr>
        </p:nvSpPr>
        <p:spPr/>
        <p:txBody>
          <a:bodyPr/>
          <a:lstStyle/>
          <a:p>
            <a:r>
              <a:rPr lang="en-US" dirty="0"/>
              <a:t>new() – empty queue</a:t>
            </a:r>
          </a:p>
          <a:p>
            <a:r>
              <a:rPr lang="en-US" dirty="0"/>
              <a:t>enqueue(10)</a:t>
            </a:r>
          </a:p>
          <a:p>
            <a:r>
              <a:rPr lang="en-US" dirty="0"/>
              <a:t>enqueue(5)</a:t>
            </a:r>
          </a:p>
          <a:p>
            <a:r>
              <a:rPr lang="en-US" dirty="0"/>
              <a:t>enqueue(15)</a:t>
            </a:r>
            <a:endParaRPr lang="en-CA" dirty="0"/>
          </a:p>
          <a:p>
            <a:r>
              <a:rPr lang="en-US" dirty="0"/>
              <a:t>dequeue()</a:t>
            </a:r>
          </a:p>
          <a:p>
            <a:r>
              <a:rPr lang="en-US" dirty="0"/>
              <a:t>peek()</a:t>
            </a:r>
          </a:p>
          <a:p>
            <a:r>
              <a:rPr lang="en-US" dirty="0"/>
              <a:t>dequeue()</a:t>
            </a:r>
          </a:p>
        </p:txBody>
      </p:sp>
    </p:spTree>
    <p:extLst>
      <p:ext uri="{BB962C8B-B14F-4D97-AF65-F5344CB8AC3E}">
        <p14:creationId xmlns:p14="http://schemas.microsoft.com/office/powerpoint/2010/main" val="456668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altLang="en-US" dirty="0"/>
              <a:t>Queues Applications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normAutofit/>
          </a:bodyPr>
          <a:lstStyle/>
          <a:p>
            <a:pPr marL="381000" indent="-381000"/>
            <a:r>
              <a:rPr lang="en-US" altLang="en-US" sz="2800" dirty="0">
                <a:cs typeface="Times New Roman" panose="02020603050405020304" pitchFamily="18" charset="0"/>
              </a:rPr>
              <a:t>Any applications that requires preserving the order of insertion</a:t>
            </a:r>
          </a:p>
          <a:p>
            <a:pPr marL="838200" lvl="1" indent="-381000"/>
            <a:r>
              <a:rPr lang="en-US" altLang="en-US" dirty="0">
                <a:cs typeface="Times New Roman" panose="02020603050405020304" pitchFamily="18" charset="0"/>
              </a:rPr>
              <a:t>Elements are processed in the same order for integrity and fairness</a:t>
            </a:r>
            <a:endParaRPr lang="en-US" altLang="en-US" sz="2800" dirty="0">
              <a:cs typeface="Times New Roman" panose="02020603050405020304" pitchFamily="18" charset="0"/>
            </a:endParaRPr>
          </a:p>
          <a:p>
            <a:pPr marL="838200" lvl="1" indent="-381000"/>
            <a:r>
              <a:rPr lang="en-US" altLang="en-US" sz="2400" dirty="0">
                <a:cs typeface="Times New Roman" panose="02020603050405020304" pitchFamily="18" charset="0"/>
              </a:rPr>
              <a:t>Examples:</a:t>
            </a:r>
          </a:p>
          <a:p>
            <a:pPr marL="1295400" lvl="2" indent="-381000"/>
            <a:r>
              <a:rPr lang="en-US" altLang="en-US" dirty="0">
                <a:cs typeface="Times New Roman" panose="02020603050405020304" pitchFamily="18" charset="0"/>
              </a:rPr>
              <a:t>Print servers: maintains a queue of print jobs</a:t>
            </a:r>
          </a:p>
          <a:p>
            <a:pPr marL="1295400" lvl="2" indent="-381000"/>
            <a:r>
              <a:rPr lang="en-US" altLang="en-US" dirty="0">
                <a:cs typeface="Times New Roman" panose="02020603050405020304" pitchFamily="18" charset="0"/>
              </a:rPr>
              <a:t>Disk drivers: maintains a queue of disk input/output requests</a:t>
            </a:r>
          </a:p>
          <a:p>
            <a:pPr marL="1295400" lvl="2" indent="-381000"/>
            <a:r>
              <a:rPr lang="en-US" altLang="en-US" dirty="0">
                <a:cs typeface="Times New Roman" panose="02020603050405020304" pitchFamily="18" charset="0"/>
              </a:rPr>
              <a:t>Web servers: maintains a queue of HTTP requests</a:t>
            </a:r>
          </a:p>
          <a:p>
            <a:pPr marL="1295400" lvl="2" indent="-381000"/>
            <a:r>
              <a:rPr lang="en-US" altLang="en-US" dirty="0">
                <a:cs typeface="Times New Roman" panose="02020603050405020304" pitchFamily="18" charset="0"/>
              </a:rPr>
              <a:t>Keyboard buffers: maintains a queue of key presses</a:t>
            </a:r>
          </a:p>
          <a:p>
            <a:pPr marL="1295400" lvl="2" indent="-381000"/>
            <a:r>
              <a:rPr lang="en-US" altLang="en-US" dirty="0">
                <a:cs typeface="Times New Roman" panose="02020603050405020304" pitchFamily="18" charset="0"/>
              </a:rPr>
              <a:t>Network buffers: maintains a queue of network packets</a:t>
            </a:r>
          </a:p>
          <a:p>
            <a:pPr marL="1295400" lvl="2" indent="-381000"/>
            <a:r>
              <a:rPr lang="en-US" altLang="en-US" dirty="0">
                <a:cs typeface="Times New Roman" panose="02020603050405020304" pitchFamily="18" charset="0"/>
              </a:rPr>
              <a:t>Simulations: maintains a queue of objects and events</a:t>
            </a:r>
          </a:p>
        </p:txBody>
      </p:sp>
    </p:spTree>
    <p:extLst>
      <p:ext uri="{BB962C8B-B14F-4D97-AF65-F5344CB8AC3E}">
        <p14:creationId xmlns:p14="http://schemas.microsoft.com/office/powerpoint/2010/main" val="470092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1ACF-B39F-4D3E-9A80-9B5FC41BA31D}"/>
              </a:ext>
            </a:extLst>
          </p:cNvPr>
          <p:cNvSpPr>
            <a:spLocks noGrp="1"/>
          </p:cNvSpPr>
          <p:nvPr>
            <p:ph type="title"/>
          </p:nvPr>
        </p:nvSpPr>
        <p:spPr/>
        <p:txBody>
          <a:bodyPr/>
          <a:lstStyle/>
          <a:p>
            <a:r>
              <a:rPr lang="en-US" altLang="en-US" dirty="0" err="1"/>
              <a:t>QueueADT</a:t>
            </a:r>
            <a:r>
              <a:rPr lang="en-US" altLang="en-US" dirty="0"/>
              <a:t> Implementations</a:t>
            </a:r>
            <a:endParaRPr lang="en-CA" dirty="0"/>
          </a:p>
        </p:txBody>
      </p:sp>
      <p:sp>
        <p:nvSpPr>
          <p:cNvPr id="3" name="Content Placeholder 2">
            <a:extLst>
              <a:ext uri="{FF2B5EF4-FFF2-40B4-BE49-F238E27FC236}">
                <a16:creationId xmlns:a16="http://schemas.microsoft.com/office/drawing/2014/main" id="{10081740-2B99-4A04-9FC2-B0C1D7DF998B}"/>
              </a:ext>
            </a:extLst>
          </p:cNvPr>
          <p:cNvSpPr>
            <a:spLocks noGrp="1"/>
          </p:cNvSpPr>
          <p:nvPr>
            <p:ph idx="1"/>
          </p:nvPr>
        </p:nvSpPr>
        <p:spPr/>
        <p:txBody>
          <a:bodyPr/>
          <a:lstStyle/>
          <a:p>
            <a:pPr marL="381000" indent="-381000"/>
            <a:r>
              <a:rPr lang="en-US" altLang="en-US" dirty="0">
                <a:cs typeface="Times New Roman" panose="02020603050405020304" pitchFamily="18" charset="0"/>
              </a:rPr>
              <a:t>Array-based</a:t>
            </a:r>
          </a:p>
          <a:p>
            <a:pPr marL="381000" indent="-381000"/>
            <a:r>
              <a:rPr lang="en-US" altLang="en-US" dirty="0">
                <a:cs typeface="Times New Roman" panose="02020603050405020304" pitchFamily="18" charset="0"/>
              </a:rPr>
              <a:t>LinkedList-based</a:t>
            </a:r>
          </a:p>
          <a:p>
            <a:pPr lvl="1"/>
            <a:r>
              <a:rPr lang="en-US" altLang="en-US" dirty="0">
                <a:cs typeface="Times New Roman" panose="02020603050405020304" pitchFamily="18" charset="0"/>
              </a:rPr>
              <a:t>This is what your assignment will be!</a:t>
            </a:r>
          </a:p>
          <a:p>
            <a:pPr marL="2209800" lvl="4" indent="-381000"/>
            <a:endParaRPr lang="en-US" altLang="en-US" dirty="0">
              <a:cs typeface="Times New Roman" panose="02020603050405020304" pitchFamily="18" charset="0"/>
            </a:endParaRPr>
          </a:p>
          <a:p>
            <a:pPr marL="381000" indent="-381000"/>
            <a:r>
              <a:rPr lang="en-US" altLang="en-US" dirty="0">
                <a:cs typeface="Times New Roman" panose="02020603050405020304" pitchFamily="18" charset="0"/>
              </a:rPr>
              <a:t>Java queue:</a:t>
            </a:r>
          </a:p>
        </p:txBody>
      </p:sp>
      <p:pic>
        <p:nvPicPr>
          <p:cNvPr id="6" name="Picture 5">
            <a:extLst>
              <a:ext uri="{FF2B5EF4-FFF2-40B4-BE49-F238E27FC236}">
                <a16:creationId xmlns:a16="http://schemas.microsoft.com/office/drawing/2014/main" id="{26459FC0-BEE2-4368-B28E-23BBA745B69E}"/>
              </a:ext>
            </a:extLst>
          </p:cNvPr>
          <p:cNvPicPr>
            <a:picLocks noChangeAspect="1"/>
          </p:cNvPicPr>
          <p:nvPr/>
        </p:nvPicPr>
        <p:blipFill>
          <a:blip r:embed="rId3"/>
          <a:stretch>
            <a:fillRect/>
          </a:stretch>
        </p:blipFill>
        <p:spPr>
          <a:xfrm>
            <a:off x="838200" y="4064145"/>
            <a:ext cx="10515600" cy="2112818"/>
          </a:xfrm>
          <a:prstGeom prst="rect">
            <a:avLst/>
          </a:prstGeom>
        </p:spPr>
      </p:pic>
    </p:spTree>
    <p:extLst>
      <p:ext uri="{BB962C8B-B14F-4D97-AF65-F5344CB8AC3E}">
        <p14:creationId xmlns:p14="http://schemas.microsoft.com/office/powerpoint/2010/main" val="3862786544"/>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16205</TotalTime>
  <Words>1145</Words>
  <Application>Microsoft Office PowerPoint</Application>
  <PresentationFormat>Widescreen</PresentationFormat>
  <Paragraphs>146</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Times New Roman</vt:lpstr>
      <vt:lpstr>Verdana</vt:lpstr>
      <vt:lpstr>Office Theme</vt:lpstr>
      <vt:lpstr>Stacks and Queues</vt:lpstr>
      <vt:lpstr>Stacks</vt:lpstr>
      <vt:lpstr>StackADT Requirements</vt:lpstr>
      <vt:lpstr>Basic Stack Operations</vt:lpstr>
      <vt:lpstr>Stacks Applications</vt:lpstr>
      <vt:lpstr>The Call Stack</vt:lpstr>
      <vt:lpstr>Parsers</vt:lpstr>
      <vt:lpstr>StackADT Implementations</vt:lpstr>
      <vt:lpstr>Problems with the java.util.Stack</vt:lpstr>
      <vt:lpstr>Queues</vt:lpstr>
      <vt:lpstr>QueueADT Requirements</vt:lpstr>
      <vt:lpstr>Basic Queue Operations</vt:lpstr>
      <vt:lpstr>Queues Applications</vt:lpstr>
      <vt:lpstr>QueueADT Implementations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282</cp:revision>
  <dcterms:created xsi:type="dcterms:W3CDTF">2016-04-05T14:17:30Z</dcterms:created>
  <dcterms:modified xsi:type="dcterms:W3CDTF">2026-05-13T11:13:55Z</dcterms:modified>
</cp:coreProperties>
</file>