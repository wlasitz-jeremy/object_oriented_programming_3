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8" r:id="rId2"/>
    <p:sldId id="266" r:id="rId3"/>
    <p:sldId id="304" r:id="rId4"/>
    <p:sldId id="306" r:id="rId5"/>
    <p:sldId id="307" r:id="rId6"/>
    <p:sldId id="308" r:id="rId7"/>
    <p:sldId id="309" r:id="rId8"/>
    <p:sldId id="305" r:id="rId9"/>
    <p:sldId id="310" r:id="rId10"/>
    <p:sldId id="311"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32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14" autoAdjust="0"/>
    <p:restoredTop sz="55272" autoAdjust="0"/>
  </p:normalViewPr>
  <p:slideViewPr>
    <p:cSldViewPr snapToGrid="0" snapToObjects="1" showGuides="1">
      <p:cViewPr varScale="1">
        <p:scale>
          <a:sx n="60" d="100"/>
          <a:sy n="60" d="100"/>
        </p:scale>
        <p:origin x="150"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tty Wong" userId="934a16c2-3b82-4a04-8cf4-72a5c39a78f6" providerId="ADAL" clId="{6624BDA5-5E62-4DCD-AC58-5D64DFC703A6}"/>
    <pc:docChg chg="modSld">
      <pc:chgData name="Kitty Wong" userId="934a16c2-3b82-4a04-8cf4-72a5c39a78f6" providerId="ADAL" clId="{6624BDA5-5E62-4DCD-AC58-5D64DFC703A6}" dt="2026-06-13T07:38:44.811" v="9" actId="20577"/>
      <pc:docMkLst>
        <pc:docMk/>
      </pc:docMkLst>
      <pc:sldChg chg="modSp mod">
        <pc:chgData name="Kitty Wong" userId="934a16c2-3b82-4a04-8cf4-72a5c39a78f6" providerId="ADAL" clId="{6624BDA5-5E62-4DCD-AC58-5D64DFC703A6}" dt="2026-06-13T07:38:44.811" v="9" actId="20577"/>
        <pc:sldMkLst>
          <pc:docMk/>
          <pc:sldMk cId="115838704" sldId="311"/>
        </pc:sldMkLst>
        <pc:graphicFrameChg chg="modGraphic">
          <ac:chgData name="Kitty Wong" userId="934a16c2-3b82-4a04-8cf4-72a5c39a78f6" providerId="ADAL" clId="{6624BDA5-5E62-4DCD-AC58-5D64DFC703A6}" dt="2026-06-13T07:38:44.811" v="9" actId="20577"/>
          <ac:graphicFrameMkLst>
            <pc:docMk/>
            <pc:sldMk cId="115838704" sldId="311"/>
            <ac:graphicFrameMk id="4" creationId="{ED556CE1-E58A-4AD7-9A92-ED9E29927AD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C5150-9119-490A-A216-3D2FA22F7FFC}" type="datetimeFigureOut">
              <a:rPr lang="en-CA" smtClean="0"/>
              <a:t>2026-06-13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F01B0-FE71-4C35-BC11-34BCAF52C437}" type="slidenum">
              <a:rPr lang="en-CA" smtClean="0"/>
              <a:t>‹#›</a:t>
            </a:fld>
            <a:endParaRPr lang="en-CA"/>
          </a:p>
        </p:txBody>
      </p:sp>
    </p:spTree>
    <p:extLst>
      <p:ext uri="{BB962C8B-B14F-4D97-AF65-F5344CB8AC3E}">
        <p14:creationId xmlns:p14="http://schemas.microsoft.com/office/powerpoint/2010/main" val="2518715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overview of the hashing process – there are many variations to cover in one course!</a:t>
            </a:r>
          </a:p>
          <a:p>
            <a:r>
              <a:rPr lang="en-US" dirty="0"/>
              <a:t>- This will give you a good overall understanding of what hashing is and you’ll need it next semester in Security to understand password hashes and cryptography!</a:t>
            </a:r>
          </a:p>
        </p:txBody>
      </p:sp>
      <p:sp>
        <p:nvSpPr>
          <p:cNvPr id="4" name="Slide Number Placeholder 3"/>
          <p:cNvSpPr>
            <a:spLocks noGrp="1"/>
          </p:cNvSpPr>
          <p:nvPr>
            <p:ph type="sldNum" sz="quarter" idx="10"/>
          </p:nvPr>
        </p:nvSpPr>
        <p:spPr/>
        <p:txBody>
          <a:bodyPr/>
          <a:lstStyle/>
          <a:p>
            <a:fld id="{D9DF01B0-FE71-4C35-BC11-34BCAF52C437}" type="slidenum">
              <a:rPr lang="en-CA" smtClean="0"/>
              <a:t>1</a:t>
            </a:fld>
            <a:endParaRPr lang="en-CA"/>
          </a:p>
        </p:txBody>
      </p:sp>
    </p:spTree>
    <p:extLst>
      <p:ext uri="{BB962C8B-B14F-4D97-AF65-F5344CB8AC3E}">
        <p14:creationId xmlns:p14="http://schemas.microsoft.com/office/powerpoint/2010/main" val="1884458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01B0-FE71-4C35-BC11-34BCAF52C437}" type="slidenum">
              <a:rPr lang="en-CA" smtClean="0"/>
              <a:t>2</a:t>
            </a:fld>
            <a:endParaRPr lang="en-CA"/>
          </a:p>
        </p:txBody>
      </p:sp>
    </p:spTree>
    <p:extLst>
      <p:ext uri="{BB962C8B-B14F-4D97-AF65-F5344CB8AC3E}">
        <p14:creationId xmlns:p14="http://schemas.microsoft.com/office/powerpoint/2010/main" val="894497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3</a:t>
            </a:fld>
            <a:endParaRPr lang="en-CA"/>
          </a:p>
        </p:txBody>
      </p:sp>
    </p:spTree>
    <p:extLst>
      <p:ext uri="{BB962C8B-B14F-4D97-AF65-F5344CB8AC3E}">
        <p14:creationId xmlns:p14="http://schemas.microsoft.com/office/powerpoint/2010/main" val="4196323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AlphabetHash.pdf</a:t>
            </a:r>
          </a:p>
          <a:p>
            <a:endParaRPr lang="en-US" dirty="0"/>
          </a:p>
          <a:p>
            <a:r>
              <a:rPr lang="en-US" dirty="0"/>
              <a:t>Array = hash table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4</a:t>
            </a:fld>
            <a:endParaRPr lang="en-CA"/>
          </a:p>
        </p:txBody>
      </p:sp>
    </p:spTree>
    <p:extLst>
      <p:ext uri="{BB962C8B-B14F-4D97-AF65-F5344CB8AC3E}">
        <p14:creationId xmlns:p14="http://schemas.microsoft.com/office/powerpoint/2010/main" val="2776468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 is always a trade-off to time! And since hashing in theory is O(1) – the space complexity is important!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5</a:t>
            </a:fld>
            <a:endParaRPr lang="en-CA"/>
          </a:p>
        </p:txBody>
      </p:sp>
    </p:spTree>
    <p:extLst>
      <p:ext uri="{BB962C8B-B14F-4D97-AF65-F5344CB8AC3E}">
        <p14:creationId xmlns:p14="http://schemas.microsoft.com/office/powerpoint/2010/main" val="391577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6</a:t>
            </a:fld>
            <a:endParaRPr lang="en-CA"/>
          </a:p>
        </p:txBody>
      </p:sp>
    </p:spTree>
    <p:extLst>
      <p:ext uri="{BB962C8B-B14F-4D97-AF65-F5344CB8AC3E}">
        <p14:creationId xmlns:p14="http://schemas.microsoft.com/office/powerpoint/2010/main" val="1254479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 5 = remainder when divided by 5 so we will always end up with a value between 0 and 4.</a:t>
            </a:r>
          </a:p>
          <a:p>
            <a:endParaRPr lang="en-US" dirty="0"/>
          </a:p>
          <a:p>
            <a:r>
              <a:rPr lang="en-US" dirty="0"/>
              <a:t>Recall this was our simple idealistic and unrealistic example, but just to show you the whole process of hashing!</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7</a:t>
            </a:fld>
            <a:endParaRPr lang="en-CA"/>
          </a:p>
        </p:txBody>
      </p:sp>
    </p:spTree>
    <p:extLst>
      <p:ext uri="{BB962C8B-B14F-4D97-AF65-F5344CB8AC3E}">
        <p14:creationId xmlns:p14="http://schemas.microsoft.com/office/powerpoint/2010/main" val="1530499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Hashing is the approach of converting a key to an index and can be implemented with any data structure! Arrays = hash table, linked lists = hash lists, trees = hash trees etc. We will only focus on hash tables in this course.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8</a:t>
            </a:fld>
            <a:endParaRPr lang="en-CA"/>
          </a:p>
        </p:txBody>
      </p:sp>
    </p:spTree>
    <p:extLst>
      <p:ext uri="{BB962C8B-B14F-4D97-AF65-F5344CB8AC3E}">
        <p14:creationId xmlns:p14="http://schemas.microsoft.com/office/powerpoint/2010/main" val="2039067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 codes is aka for hash values, hashes, digests.</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9</a:t>
            </a:fld>
            <a:endParaRPr lang="en-CA"/>
          </a:p>
        </p:txBody>
      </p:sp>
    </p:spTree>
    <p:extLst>
      <p:ext uri="{BB962C8B-B14F-4D97-AF65-F5344CB8AC3E}">
        <p14:creationId xmlns:p14="http://schemas.microsoft.com/office/powerpoint/2010/main" val="2601078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10</a:t>
            </a:fld>
            <a:endParaRPr lang="en-CA"/>
          </a:p>
        </p:txBody>
      </p:sp>
    </p:spTree>
    <p:extLst>
      <p:ext uri="{BB962C8B-B14F-4D97-AF65-F5344CB8AC3E}">
        <p14:creationId xmlns:p14="http://schemas.microsoft.com/office/powerpoint/2010/main" val="3173168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variations of this algorithm like cycle shift where we do bit shifts instead of multiplication.</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11</a:t>
            </a:fld>
            <a:endParaRPr lang="en-CA"/>
          </a:p>
        </p:txBody>
      </p:sp>
    </p:spTree>
    <p:extLst>
      <p:ext uri="{BB962C8B-B14F-4D97-AF65-F5344CB8AC3E}">
        <p14:creationId xmlns:p14="http://schemas.microsoft.com/office/powerpoint/2010/main" val="2782609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factor of 70% is common, not too high to allow flexibility and not too low to avoid too much wasted space.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12</a:t>
            </a:fld>
            <a:endParaRPr lang="en-CA"/>
          </a:p>
        </p:txBody>
      </p:sp>
    </p:spTree>
    <p:extLst>
      <p:ext uri="{BB962C8B-B14F-4D97-AF65-F5344CB8AC3E}">
        <p14:creationId xmlns:p14="http://schemas.microsoft.com/office/powerpoint/2010/main" val="2746306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Modulo reduction is a type of division compression algorithm.</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13</a:t>
            </a:fld>
            <a:endParaRPr lang="en-CA"/>
          </a:p>
        </p:txBody>
      </p:sp>
    </p:spTree>
    <p:extLst>
      <p:ext uri="{BB962C8B-B14F-4D97-AF65-F5344CB8AC3E}">
        <p14:creationId xmlns:p14="http://schemas.microsoft.com/office/powerpoint/2010/main" val="196341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14</a:t>
            </a:fld>
            <a:endParaRPr lang="en-CA"/>
          </a:p>
        </p:txBody>
      </p:sp>
    </p:spTree>
    <p:extLst>
      <p:ext uri="{BB962C8B-B14F-4D97-AF65-F5344CB8AC3E}">
        <p14:creationId xmlns:p14="http://schemas.microsoft.com/office/powerpoint/2010/main" val="4149710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15</a:t>
            </a:fld>
            <a:endParaRPr lang="en-CA"/>
          </a:p>
        </p:txBody>
      </p:sp>
    </p:spTree>
    <p:extLst>
      <p:ext uri="{BB962C8B-B14F-4D97-AF65-F5344CB8AC3E}">
        <p14:creationId xmlns:p14="http://schemas.microsoft.com/office/powerpoint/2010/main" val="509368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16</a:t>
            </a:fld>
            <a:endParaRPr lang="en-CA"/>
          </a:p>
        </p:txBody>
      </p:sp>
    </p:spTree>
    <p:extLst>
      <p:ext uri="{BB962C8B-B14F-4D97-AF65-F5344CB8AC3E}">
        <p14:creationId xmlns:p14="http://schemas.microsoft.com/office/powerpoint/2010/main" val="1533481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other collision handling algorithms are really just a variation of these.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17</a:t>
            </a:fld>
            <a:endParaRPr lang="en-CA"/>
          </a:p>
        </p:txBody>
      </p:sp>
    </p:spTree>
    <p:extLst>
      <p:ext uri="{BB962C8B-B14F-4D97-AF65-F5344CB8AC3E}">
        <p14:creationId xmlns:p14="http://schemas.microsoft.com/office/powerpoint/2010/main" val="2268230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There are other approaches to probing but we will only focus on this one.</a:t>
            </a:r>
          </a:p>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18</a:t>
            </a:fld>
            <a:endParaRPr lang="en-CA"/>
          </a:p>
        </p:txBody>
      </p:sp>
    </p:spTree>
    <p:extLst>
      <p:ext uri="{BB962C8B-B14F-4D97-AF65-F5344CB8AC3E}">
        <p14:creationId xmlns:p14="http://schemas.microsoft.com/office/powerpoint/2010/main" val="39871480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 These values are NOT based on the simple alphabet hash!</a:t>
            </a:r>
          </a:p>
        </p:txBody>
      </p:sp>
      <p:sp>
        <p:nvSpPr>
          <p:cNvPr id="4" name="Slide Number Placeholder 3"/>
          <p:cNvSpPr>
            <a:spLocks noGrp="1"/>
          </p:cNvSpPr>
          <p:nvPr>
            <p:ph type="sldNum" sz="quarter" idx="5"/>
          </p:nvPr>
        </p:nvSpPr>
        <p:spPr/>
        <p:txBody>
          <a:bodyPr/>
          <a:lstStyle/>
          <a:p>
            <a:fld id="{D9DF01B0-FE71-4C35-BC11-34BCAF52C437}" type="slidenum">
              <a:rPr lang="en-CA" smtClean="0"/>
              <a:t>19</a:t>
            </a:fld>
            <a:endParaRPr lang="en-CA"/>
          </a:p>
        </p:txBody>
      </p:sp>
    </p:spTree>
    <p:extLst>
      <p:ext uri="{BB962C8B-B14F-4D97-AF65-F5344CB8AC3E}">
        <p14:creationId xmlns:p14="http://schemas.microsoft.com/office/powerpoint/2010/main" val="3062599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Refer to the previous slide for the rest of the values!</a:t>
            </a:r>
          </a:p>
        </p:txBody>
      </p:sp>
      <p:sp>
        <p:nvSpPr>
          <p:cNvPr id="4" name="Slide Number Placeholder 3"/>
          <p:cNvSpPr>
            <a:spLocks noGrp="1"/>
          </p:cNvSpPr>
          <p:nvPr>
            <p:ph type="sldNum" sz="quarter" idx="5"/>
          </p:nvPr>
        </p:nvSpPr>
        <p:spPr/>
        <p:txBody>
          <a:bodyPr/>
          <a:lstStyle/>
          <a:p>
            <a:fld id="{D9DF01B0-FE71-4C35-BC11-34BCAF52C437}" type="slidenum">
              <a:rPr lang="en-CA" smtClean="0"/>
              <a:t>20</a:t>
            </a:fld>
            <a:endParaRPr lang="en-CA"/>
          </a:p>
        </p:txBody>
      </p:sp>
    </p:spTree>
    <p:extLst>
      <p:ext uri="{BB962C8B-B14F-4D97-AF65-F5344CB8AC3E}">
        <p14:creationId xmlns:p14="http://schemas.microsoft.com/office/powerpoint/2010/main" val="18192764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21</a:t>
            </a:fld>
            <a:endParaRPr lang="en-CA"/>
          </a:p>
        </p:txBody>
      </p:sp>
    </p:spTree>
    <p:extLst>
      <p:ext uri="{BB962C8B-B14F-4D97-AF65-F5344CB8AC3E}">
        <p14:creationId xmlns:p14="http://schemas.microsoft.com/office/powerpoint/2010/main" val="2406632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Penalty only incurred when accessing the duplicates with high read values instead of every element!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22</a:t>
            </a:fld>
            <a:endParaRPr lang="en-CA"/>
          </a:p>
        </p:txBody>
      </p:sp>
    </p:spTree>
    <p:extLst>
      <p:ext uri="{BB962C8B-B14F-4D97-AF65-F5344CB8AC3E}">
        <p14:creationId xmlns:p14="http://schemas.microsoft.com/office/powerpoint/2010/main" val="677137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23</a:t>
            </a:fld>
            <a:endParaRPr lang="en-CA"/>
          </a:p>
        </p:txBody>
      </p:sp>
    </p:spTree>
    <p:extLst>
      <p:ext uri="{BB962C8B-B14F-4D97-AF65-F5344CB8AC3E}">
        <p14:creationId xmlns:p14="http://schemas.microsoft.com/office/powerpoint/2010/main" val="11759259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24</a:t>
            </a:fld>
            <a:endParaRPr lang="en-CA"/>
          </a:p>
        </p:txBody>
      </p:sp>
    </p:spTree>
    <p:extLst>
      <p:ext uri="{BB962C8B-B14F-4D97-AF65-F5344CB8AC3E}">
        <p14:creationId xmlns:p14="http://schemas.microsoft.com/office/powerpoint/2010/main" val="35433584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p:cNvSpPr>
            <a:spLocks noGrp="1"/>
          </p:cNvSpPr>
          <p:nvPr>
            <p:ph type="ctrTitle"/>
          </p:nvPr>
        </p:nvSpPr>
        <p:spPr>
          <a:xfrm>
            <a:off x="3822672" y="1122363"/>
            <a:ext cx="6845328" cy="2387600"/>
          </a:xfrm>
        </p:spPr>
        <p:txBody>
          <a:bodyPr anchor="b">
            <a:normAutofit/>
          </a:bodyPr>
          <a:lstStyle>
            <a:lvl1pPr algn="l">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Subtitle 2"/>
          <p:cNvSpPr>
            <a:spLocks noGrp="1"/>
          </p:cNvSpPr>
          <p:nvPr>
            <p:ph type="subTitle" idx="1"/>
          </p:nvPr>
        </p:nvSpPr>
        <p:spPr>
          <a:xfrm>
            <a:off x="3822672" y="3602038"/>
            <a:ext cx="6845328" cy="1655762"/>
          </a:xfrm>
        </p:spPr>
        <p:txBody>
          <a:bodyPr>
            <a:normAutofit/>
          </a:bodyPr>
          <a:lstStyle>
            <a:lvl1pPr marL="0" indent="0" algn="l">
              <a:buNone/>
              <a:defRPr sz="3000">
                <a:solidFill>
                  <a:schemeClr val="accent1"/>
                </a:solidFill>
                <a:latin typeface="Verdana" charset="0"/>
                <a:ea typeface="Verdana" charset="0"/>
                <a:cs typeface="Verdan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3822672" y="6390216"/>
            <a:ext cx="1231900" cy="365125"/>
          </a:xfrm>
        </p:spPr>
        <p:txBody>
          <a:bodyPr anchor="b"/>
          <a:lstStyle>
            <a:lvl1pPr>
              <a:defRPr>
                <a:solidFill>
                  <a:schemeClr val="accent6"/>
                </a:solidFill>
              </a:defRPr>
            </a:lvl1pPr>
          </a:lstStyle>
          <a:p>
            <a:fld id="{E4A6AB35-C22C-4755-9BC8-96579CB63199}" type="datetime1">
              <a:rPr lang="en-US" smtClean="0"/>
              <a:t>6/13/2026</a:t>
            </a:fld>
            <a:endParaRPr lang="en-US" dirty="0"/>
          </a:p>
        </p:txBody>
      </p:sp>
      <p:sp>
        <p:nvSpPr>
          <p:cNvPr id="6" name="Slide Number Placeholder 5"/>
          <p:cNvSpPr>
            <a:spLocks noGrp="1"/>
          </p:cNvSpPr>
          <p:nvPr>
            <p:ph type="sldNum" sz="quarter" idx="12"/>
          </p:nvPr>
        </p:nvSpPr>
        <p:spPr>
          <a:xfrm>
            <a:off x="10477500" y="6390216"/>
            <a:ext cx="876300" cy="365125"/>
          </a:xfrm>
        </p:spPr>
        <p:txBody>
          <a:bodyPr anchor="b"/>
          <a:lstStyle>
            <a:lvl1pPr>
              <a:defRPr>
                <a:solidFill>
                  <a:schemeClr val="accent6"/>
                </a:solidFill>
              </a:defRPr>
            </a:lvl1pPr>
          </a:lstStyle>
          <a:p>
            <a:fld id="{FDDB6027-878D-A249-A7C0-2BF119D95C83}" type="slidenum">
              <a:rPr lang="en-US" smtClean="0"/>
              <a:pPr/>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 y="904252"/>
            <a:ext cx="3708372" cy="4718090"/>
          </a:xfrm>
          <a:prstGeom prst="rect">
            <a:avLst/>
          </a:prstGeom>
        </p:spPr>
      </p:pic>
    </p:spTree>
    <p:extLst>
      <p:ext uri="{BB962C8B-B14F-4D97-AF65-F5344CB8AC3E}">
        <p14:creationId xmlns:p14="http://schemas.microsoft.com/office/powerpoint/2010/main" val="1282279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2">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30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822672" y="6390216"/>
            <a:ext cx="1231900" cy="365125"/>
          </a:xfrm>
        </p:spPr>
        <p:txBody>
          <a:bodyPr anchor="b"/>
          <a:lstStyle/>
          <a:p>
            <a:fld id="{3E21CB55-4C39-4DF9-B29B-0DDB979E079F}" type="datetime1">
              <a:rPr lang="en-US" smtClean="0"/>
              <a:t>6/13/2026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3700" y="-27337"/>
            <a:ext cx="2311400" cy="2940749"/>
          </a:xfrm>
          <a:prstGeom prst="rect">
            <a:avLst/>
          </a:prstGeom>
        </p:spPr>
      </p:pic>
    </p:spTree>
    <p:extLst>
      <p:ext uri="{BB962C8B-B14F-4D97-AF65-F5344CB8AC3E}">
        <p14:creationId xmlns:p14="http://schemas.microsoft.com/office/powerpoint/2010/main" val="1555110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822672" y="6390216"/>
            <a:ext cx="1231900" cy="365125"/>
          </a:xfrm>
        </p:spPr>
        <p:txBody>
          <a:bodyPr anchor="b"/>
          <a:lstStyle/>
          <a:p>
            <a:fld id="{E9DC3DE2-2DBA-41B6-ABDF-9E46BDE3E6CB}" type="datetime1">
              <a:rPr lang="en-US" smtClean="0"/>
              <a:t>6/13/2026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horiz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8528" y="6176963"/>
            <a:ext cx="1650972" cy="681037"/>
          </a:xfrm>
          <a:prstGeom prst="rect">
            <a:avLst/>
          </a:prstGeom>
        </p:spPr>
      </p:pic>
    </p:spTree>
    <p:extLst>
      <p:ext uri="{BB962C8B-B14F-4D97-AF65-F5344CB8AC3E}">
        <p14:creationId xmlns:p14="http://schemas.microsoft.com/office/powerpoint/2010/main" val="470681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b="0" i="0">
                <a:solidFill>
                  <a:schemeClr val="bg1"/>
                </a:solidFill>
                <a:latin typeface="Verdana" charset="0"/>
                <a:ea typeface="Verdana" charset="0"/>
                <a:cs typeface="Verdana" charset="0"/>
              </a:defRPr>
            </a:lvl1pPr>
          </a:lstStyle>
          <a:p>
            <a:r>
              <a:rPr lang="en-CA" dirty="0"/>
              <a:t>Headline</a:t>
            </a:r>
            <a:endParaRPr lang="en-US" dirty="0"/>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312668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BLUE">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a:solidFill>
                  <a:schemeClr val="bg1"/>
                </a:solidFill>
              </a:defRPr>
            </a:lvl1pPr>
          </a:lstStyle>
          <a:p>
            <a:r>
              <a:rPr lang="en-CA"/>
              <a:t>Headline</a:t>
            </a:r>
            <a:endParaRPr lang="en-US" dirty="0"/>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566170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971621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22672" y="6356350"/>
            <a:ext cx="1231900" cy="365125"/>
          </a:xfrm>
          <a:prstGeom prst="rect">
            <a:avLst/>
          </a:prstGeom>
        </p:spPr>
        <p:txBody>
          <a:bodyPr vert="horz" lIns="91440" tIns="45720" rIns="91440" bIns="45720" rtlCol="0" anchor="ctr"/>
          <a:lstStyle>
            <a:lvl1pPr algn="l">
              <a:defRPr sz="900">
                <a:solidFill>
                  <a:schemeClr val="accent6"/>
                </a:solidFill>
                <a:latin typeface="Verdana" charset="0"/>
                <a:ea typeface="Verdana" charset="0"/>
                <a:cs typeface="Verdana" charset="0"/>
              </a:defRPr>
            </a:lvl1pPr>
          </a:lstStyle>
          <a:p>
            <a:fld id="{F0FE8BCE-6DE9-499B-B47E-840C645FA6F5}" type="datetime1">
              <a:rPr lang="en-US" smtClean="0"/>
              <a:t>6/13/2026</a:t>
            </a:fld>
            <a:endParaRPr lang="en-US"/>
          </a:p>
        </p:txBody>
      </p:sp>
      <p:sp>
        <p:nvSpPr>
          <p:cNvPr id="6" name="Slide Number Placeholder 5"/>
          <p:cNvSpPr>
            <a:spLocks noGrp="1"/>
          </p:cNvSpPr>
          <p:nvPr>
            <p:ph type="sldNum" sz="quarter" idx="4"/>
          </p:nvPr>
        </p:nvSpPr>
        <p:spPr>
          <a:xfrm>
            <a:off x="10477500" y="6356350"/>
            <a:ext cx="876300" cy="365125"/>
          </a:xfrm>
          <a:prstGeom prst="rect">
            <a:avLst/>
          </a:prstGeom>
        </p:spPr>
        <p:txBody>
          <a:bodyPr vert="horz" lIns="91440" tIns="45720" rIns="91440" bIns="45720" rtlCol="0" anchor="ctr"/>
          <a:lstStyle>
            <a:lvl1pPr algn="r">
              <a:defRPr sz="900">
                <a:solidFill>
                  <a:schemeClr val="accent6"/>
                </a:solidFill>
                <a:latin typeface="Verdana" charset="0"/>
                <a:ea typeface="Verdana" charset="0"/>
                <a:cs typeface="Verdana" charset="0"/>
              </a:defRPr>
            </a:lvl1pPr>
          </a:lstStyle>
          <a:p>
            <a:fld id="{FDDB6027-878D-A249-A7C0-2BF119D95C83}" type="slidenum">
              <a:rPr lang="en-US" smtClean="0"/>
              <a:pPr/>
              <a:t>‹#›</a:t>
            </a:fld>
            <a:endParaRPr lang="en-US"/>
          </a:p>
        </p:txBody>
      </p:sp>
    </p:spTree>
    <p:extLst>
      <p:ext uri="{BB962C8B-B14F-4D97-AF65-F5344CB8AC3E}">
        <p14:creationId xmlns:p14="http://schemas.microsoft.com/office/powerpoint/2010/main" val="179669482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5" r:id="rId4"/>
    <p:sldLayoutId id="2147483657" r:id="rId5"/>
    <p:sldLayoutId id="2147483654" r:id="rId6"/>
  </p:sldLayoutIdLst>
  <p:hf sldNum="0" hdr="0" dt="0"/>
  <p:txStyles>
    <p:titleStyle>
      <a:lvl1pPr algn="l" defTabSz="914400" rtl="0" eaLnBrk="1" latinLnBrk="0" hangingPunct="1">
        <a:lnSpc>
          <a:spcPct val="90000"/>
        </a:lnSpc>
        <a:spcBef>
          <a:spcPct val="0"/>
        </a:spcBef>
        <a:buNone/>
        <a:defRPr sz="4400" kern="1200">
          <a:solidFill>
            <a:schemeClr val="tx1"/>
          </a:solidFill>
          <a:latin typeface="Verdana" charset="0"/>
          <a:ea typeface="Verdana" charset="0"/>
          <a:cs typeface="Verdana"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Verdana" charset="0"/>
          <a:ea typeface="Verdana" charset="0"/>
          <a:cs typeface="Verdan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Verdana" charset="0"/>
          <a:ea typeface="Verdana" charset="0"/>
          <a:cs typeface="Verdan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Verdana" charset="0"/>
          <a:ea typeface="Verdana" charset="0"/>
          <a:cs typeface="Verdan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List_of_hash_function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Hashing</a:t>
            </a:r>
          </a:p>
        </p:txBody>
      </p:sp>
      <p:sp>
        <p:nvSpPr>
          <p:cNvPr id="3" name="Subtitle 2"/>
          <p:cNvSpPr>
            <a:spLocks noGrp="1"/>
          </p:cNvSpPr>
          <p:nvPr>
            <p:ph type="subTitle" idx="1"/>
          </p:nvPr>
        </p:nvSpPr>
        <p:spPr/>
        <p:txBody>
          <a:bodyPr>
            <a:normAutofit/>
          </a:bodyPr>
          <a:lstStyle/>
          <a:p>
            <a:r>
              <a:rPr lang="en-US"/>
              <a:t>Unit </a:t>
            </a:r>
            <a:r>
              <a:rPr lang="en-US" dirty="0"/>
              <a:t>7</a:t>
            </a:r>
          </a:p>
          <a:p>
            <a:r>
              <a:rPr lang="en-US" dirty="0"/>
              <a:t>CPRG304 – Object-Oriented Programming III</a:t>
            </a:r>
          </a:p>
        </p:txBody>
      </p:sp>
      <p:sp>
        <p:nvSpPr>
          <p:cNvPr id="4" name="Footer Placeholder 4">
            <a:extLst>
              <a:ext uri="{FF2B5EF4-FFF2-40B4-BE49-F238E27FC236}">
                <a16:creationId xmlns:a16="http://schemas.microsoft.com/office/drawing/2014/main" id="{CE4D4B33-3A5F-4979-822B-8FAADD5E5A7F}"/>
              </a:ext>
            </a:extLst>
          </p:cNvPr>
          <p:cNvSpPr>
            <a:spLocks noGrp="1"/>
          </p:cNvSpPr>
          <p:nvPr>
            <p:ph type="ftr" sz="quarter" idx="4294967295"/>
          </p:nvPr>
        </p:nvSpPr>
        <p:spPr>
          <a:xfrm>
            <a:off x="5232372" y="6390216"/>
            <a:ext cx="5435628" cy="365125"/>
          </a:xfrm>
          <a:prstGeom prst="rect">
            <a:avLst/>
          </a:prstGeom>
        </p:spPr>
        <p:txBody>
          <a:bodyPr/>
          <a:lstStyle/>
          <a:p>
            <a:pPr algn="r"/>
            <a:r>
              <a:rPr lang="en-US" dirty="0"/>
              <a:t>Kitty Wong © 2025</a:t>
            </a:r>
          </a:p>
        </p:txBody>
      </p:sp>
    </p:spTree>
    <p:extLst>
      <p:ext uri="{BB962C8B-B14F-4D97-AF65-F5344CB8AC3E}">
        <p14:creationId xmlns:p14="http://schemas.microsoft.com/office/powerpoint/2010/main" val="712547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and Why Hashing?</a:t>
            </a:r>
          </a:p>
        </p:txBody>
      </p:sp>
      <p:sp>
        <p:nvSpPr>
          <p:cNvPr id="3" name="Content Placeholder 2"/>
          <p:cNvSpPr>
            <a:spLocks noGrp="1"/>
          </p:cNvSpPr>
          <p:nvPr>
            <p:ph idx="1"/>
          </p:nvPr>
        </p:nvSpPr>
        <p:spPr/>
        <p:txBody>
          <a:bodyPr>
            <a:normAutofit/>
          </a:bodyPr>
          <a:lstStyle/>
          <a:p>
            <a:r>
              <a:rPr lang="en-US" altLang="en-US" dirty="0"/>
              <a:t>Hashing is converting a key value to an integer to be used as an index within a certain range</a:t>
            </a:r>
          </a:p>
          <a:p>
            <a:pPr marL="914400" lvl="1" indent="-457200">
              <a:buFont typeface="+mj-lt"/>
              <a:buAutoNum type="arabicPeriod"/>
            </a:pPr>
            <a:r>
              <a:rPr lang="en-US" altLang="en-US" dirty="0"/>
              <a:t>Requires a hash function to calculate hash code from key value</a:t>
            </a:r>
          </a:p>
          <a:p>
            <a:pPr marL="914400" lvl="1" indent="-457200">
              <a:buFont typeface="+mj-lt"/>
              <a:buAutoNum type="arabicPeriod"/>
            </a:pPr>
            <a:r>
              <a:rPr lang="en-US" altLang="en-US" dirty="0"/>
              <a:t>Requires a compression algorithm to reduce the range</a:t>
            </a:r>
          </a:p>
          <a:p>
            <a:pPr marL="914400" lvl="1" indent="-457200">
              <a:buFont typeface="+mj-lt"/>
              <a:buAutoNum type="arabicPeriod"/>
            </a:pPr>
            <a:r>
              <a:rPr lang="en-US" altLang="en-US" dirty="0"/>
              <a:t>Requires a mechanism to handle duplicate hash codes (collisions)</a:t>
            </a:r>
          </a:p>
          <a:p>
            <a:pPr marL="609600" indent="-609600">
              <a:buFontTx/>
              <a:buAutoNum type="arabicPeriod"/>
            </a:pPr>
            <a:endParaRPr lang="en-US" altLang="en-US" dirty="0"/>
          </a:p>
          <a:p>
            <a:endParaRPr lang="en-US" dirty="0"/>
          </a:p>
        </p:txBody>
      </p:sp>
      <p:graphicFrame>
        <p:nvGraphicFramePr>
          <p:cNvPr id="4" name="Table 3">
            <a:extLst>
              <a:ext uri="{FF2B5EF4-FFF2-40B4-BE49-F238E27FC236}">
                <a16:creationId xmlns:a16="http://schemas.microsoft.com/office/drawing/2014/main" id="{91693A83-3CA8-4ED6-B2FE-94848048D69A}"/>
              </a:ext>
            </a:extLst>
          </p:cNvPr>
          <p:cNvGraphicFramePr>
            <a:graphicFrameLocks noGrp="1"/>
          </p:cNvGraphicFramePr>
          <p:nvPr>
            <p:extLst>
              <p:ext uri="{D42A27DB-BD31-4B8C-83A1-F6EECF244321}">
                <p14:modId xmlns:p14="http://schemas.microsoft.com/office/powerpoint/2010/main" val="3413195810"/>
              </p:ext>
            </p:extLst>
          </p:nvPr>
        </p:nvGraphicFramePr>
        <p:xfrm>
          <a:off x="838200" y="4584701"/>
          <a:ext cx="10515600" cy="1583489"/>
        </p:xfrm>
        <a:graphic>
          <a:graphicData uri="http://schemas.openxmlformats.org/drawingml/2006/table">
            <a:tbl>
              <a:tblPr firstRow="1" firstCol="1" bandRow="1">
                <a:tableStyleId>{5C22544A-7EE6-4342-B048-85BDC9FD1C3A}</a:tableStyleId>
              </a:tblPr>
              <a:tblGrid>
                <a:gridCol w="1061884">
                  <a:extLst>
                    <a:ext uri="{9D8B030D-6E8A-4147-A177-3AD203B41FA5}">
                      <a16:colId xmlns:a16="http://schemas.microsoft.com/office/drawing/2014/main" val="3386239688"/>
                    </a:ext>
                  </a:extLst>
                </a:gridCol>
                <a:gridCol w="3052916">
                  <a:extLst>
                    <a:ext uri="{9D8B030D-6E8A-4147-A177-3AD203B41FA5}">
                      <a16:colId xmlns:a16="http://schemas.microsoft.com/office/drawing/2014/main" val="1972629052"/>
                    </a:ext>
                  </a:extLst>
                </a:gridCol>
                <a:gridCol w="2910840">
                  <a:extLst>
                    <a:ext uri="{9D8B030D-6E8A-4147-A177-3AD203B41FA5}">
                      <a16:colId xmlns:a16="http://schemas.microsoft.com/office/drawing/2014/main" val="2417826821"/>
                    </a:ext>
                  </a:extLst>
                </a:gridCol>
                <a:gridCol w="2209800">
                  <a:extLst>
                    <a:ext uri="{9D8B030D-6E8A-4147-A177-3AD203B41FA5}">
                      <a16:colId xmlns:a16="http://schemas.microsoft.com/office/drawing/2014/main" val="1825961030"/>
                    </a:ext>
                  </a:extLst>
                </a:gridCol>
                <a:gridCol w="1280160">
                  <a:extLst>
                    <a:ext uri="{9D8B030D-6E8A-4147-A177-3AD203B41FA5}">
                      <a16:colId xmlns:a16="http://schemas.microsoft.com/office/drawing/2014/main" val="1816093248"/>
                    </a:ext>
                  </a:extLst>
                </a:gridCol>
              </a:tblGrid>
              <a:tr h="403158">
                <a:tc>
                  <a:txBody>
                    <a:bodyPr/>
                    <a:lstStyle/>
                    <a:p>
                      <a:pPr>
                        <a:lnSpc>
                          <a:spcPct val="107000"/>
                        </a:lnSpc>
                        <a:spcAft>
                          <a:spcPts val="800"/>
                        </a:spcAft>
                      </a:pPr>
                      <a:r>
                        <a:rPr lang="en-CA" sz="2400">
                          <a:effectLst/>
                        </a:rPr>
                        <a:t> </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Arrays</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Linked lists</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Balanced Trees</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solidFill>
                            <a:srgbClr val="FFFF00"/>
                          </a:solidFill>
                          <a:effectLst/>
                        </a:rPr>
                        <a:t>Hashing</a:t>
                      </a:r>
                      <a:endParaRPr lang="en-CA" sz="24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68456034"/>
                  </a:ext>
                </a:extLst>
              </a:tr>
              <a:tr h="271346">
                <a:tc>
                  <a:txBody>
                    <a:bodyPr/>
                    <a:lstStyle/>
                    <a:p>
                      <a:pPr>
                        <a:lnSpc>
                          <a:spcPct val="107000"/>
                        </a:lnSpc>
                        <a:spcAft>
                          <a:spcPts val="800"/>
                        </a:spcAft>
                      </a:pPr>
                      <a:r>
                        <a:rPr lang="en-CA" sz="2400">
                          <a:effectLst/>
                        </a:rPr>
                        <a:t>Insert</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O(n)</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O(1)</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O(log n)</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highlight>
                            <a:srgbClr val="FFFF00"/>
                          </a:highlight>
                        </a:rPr>
                        <a:t>O(1)</a:t>
                      </a:r>
                      <a:endParaRPr lang="en-CA" sz="24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17435989"/>
                  </a:ext>
                </a:extLst>
              </a:tr>
              <a:tr h="403158">
                <a:tc>
                  <a:txBody>
                    <a:bodyPr/>
                    <a:lstStyle/>
                    <a:p>
                      <a:pPr>
                        <a:lnSpc>
                          <a:spcPct val="107000"/>
                        </a:lnSpc>
                        <a:spcAft>
                          <a:spcPts val="800"/>
                        </a:spcAft>
                      </a:pPr>
                      <a:r>
                        <a:rPr lang="en-CA" sz="2400">
                          <a:effectLst/>
                        </a:rPr>
                        <a:t>Delete</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O(n)</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O(1)</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O(log n)</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highlight>
                            <a:srgbClr val="FFFF00"/>
                          </a:highlight>
                        </a:rPr>
                        <a:t>O(1)</a:t>
                      </a:r>
                      <a:endParaRPr lang="en-CA" sz="24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834313"/>
                  </a:ext>
                </a:extLst>
              </a:tr>
              <a:tr h="403158">
                <a:tc>
                  <a:txBody>
                    <a:bodyPr/>
                    <a:lstStyle/>
                    <a:p>
                      <a:pPr>
                        <a:lnSpc>
                          <a:spcPct val="107000"/>
                        </a:lnSpc>
                        <a:spcAft>
                          <a:spcPts val="800"/>
                        </a:spcAft>
                      </a:pPr>
                      <a:r>
                        <a:rPr lang="en-CA" sz="2400">
                          <a:effectLst/>
                        </a:rPr>
                        <a:t>Search</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By index – O(1) or O(n)</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O(n)</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O(log n)</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highlight>
                            <a:srgbClr val="FFFF00"/>
                          </a:highlight>
                        </a:rPr>
                        <a:t>O(1)</a:t>
                      </a:r>
                      <a:endParaRPr lang="en-CA" sz="24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4147320"/>
                  </a:ext>
                </a:extLst>
              </a:tr>
            </a:tbl>
          </a:graphicData>
        </a:graphic>
      </p:graphicFrame>
    </p:spTree>
    <p:extLst>
      <p:ext uri="{BB962C8B-B14F-4D97-AF65-F5344CB8AC3E}">
        <p14:creationId xmlns:p14="http://schemas.microsoft.com/office/powerpoint/2010/main" val="2303699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8C6C-AC38-4201-A641-521C70A8212A}"/>
              </a:ext>
            </a:extLst>
          </p:cNvPr>
          <p:cNvSpPr>
            <a:spLocks noGrp="1"/>
          </p:cNvSpPr>
          <p:nvPr>
            <p:ph type="title"/>
          </p:nvPr>
        </p:nvSpPr>
        <p:spPr/>
        <p:txBody>
          <a:bodyPr/>
          <a:lstStyle/>
          <a:p>
            <a:r>
              <a:rPr lang="en-US" dirty="0"/>
              <a:t>Phone Book Example</a:t>
            </a:r>
            <a:endParaRPr lang="en-CA" dirty="0"/>
          </a:p>
        </p:txBody>
      </p:sp>
      <p:sp>
        <p:nvSpPr>
          <p:cNvPr id="3" name="Content Placeholder 2">
            <a:extLst>
              <a:ext uri="{FF2B5EF4-FFF2-40B4-BE49-F238E27FC236}">
                <a16:creationId xmlns:a16="http://schemas.microsoft.com/office/drawing/2014/main" id="{F37954D6-174B-453F-96C4-7B1E8E5672EF}"/>
              </a:ext>
            </a:extLst>
          </p:cNvPr>
          <p:cNvSpPr>
            <a:spLocks noGrp="1"/>
          </p:cNvSpPr>
          <p:nvPr>
            <p:ph idx="1"/>
          </p:nvPr>
        </p:nvSpPr>
        <p:spPr/>
        <p:txBody>
          <a:bodyPr/>
          <a:lstStyle/>
          <a:p>
            <a:r>
              <a:rPr lang="en-US" dirty="0"/>
              <a:t>Simple (idealistic == unrealistic):</a:t>
            </a:r>
          </a:p>
          <a:p>
            <a:pPr lvl="1"/>
            <a:r>
              <a:rPr lang="en-US" dirty="0"/>
              <a:t>A list (linear or hierarchical) of phone book entry objects</a:t>
            </a:r>
          </a:p>
          <a:p>
            <a:endParaRPr lang="en-US" dirty="0"/>
          </a:p>
          <a:p>
            <a:endParaRPr lang="en-US" dirty="0"/>
          </a:p>
          <a:p>
            <a:endParaRPr lang="en-US" dirty="0"/>
          </a:p>
          <a:p>
            <a:pPr lvl="1"/>
            <a:endParaRPr lang="en-US" dirty="0"/>
          </a:p>
          <a:p>
            <a:endParaRPr lang="en-US" dirty="0"/>
          </a:p>
          <a:p>
            <a:pPr lvl="1"/>
            <a:r>
              <a:rPr lang="en-US" dirty="0"/>
              <a:t>How do you find any phone number by name?</a:t>
            </a:r>
          </a:p>
          <a:p>
            <a:pPr lvl="2"/>
            <a:r>
              <a:rPr lang="en-US" dirty="0"/>
              <a:t>Traverse through the data structure comparing each via the target name</a:t>
            </a:r>
            <a:endParaRPr lang="en-CA" dirty="0"/>
          </a:p>
        </p:txBody>
      </p:sp>
      <p:graphicFrame>
        <p:nvGraphicFramePr>
          <p:cNvPr id="7" name="Table 6">
            <a:extLst>
              <a:ext uri="{FF2B5EF4-FFF2-40B4-BE49-F238E27FC236}">
                <a16:creationId xmlns:a16="http://schemas.microsoft.com/office/drawing/2014/main" id="{4D66CBD3-4632-4C93-B65A-C7B702D4A0A1}"/>
              </a:ext>
            </a:extLst>
          </p:cNvPr>
          <p:cNvGraphicFramePr>
            <a:graphicFrameLocks noGrp="1"/>
          </p:cNvGraphicFramePr>
          <p:nvPr>
            <p:extLst>
              <p:ext uri="{D42A27DB-BD31-4B8C-83A1-F6EECF244321}">
                <p14:modId xmlns:p14="http://schemas.microsoft.com/office/powerpoint/2010/main" val="322655941"/>
              </p:ext>
            </p:extLst>
          </p:nvPr>
        </p:nvGraphicFramePr>
        <p:xfrm>
          <a:off x="3192780" y="2772569"/>
          <a:ext cx="5806440" cy="2244090"/>
        </p:xfrm>
        <a:graphic>
          <a:graphicData uri="http://schemas.openxmlformats.org/drawingml/2006/table">
            <a:tbl>
              <a:tblPr firstRow="1" firstCol="1" bandRow="1">
                <a:tableStyleId>{5C22544A-7EE6-4342-B048-85BDC9FD1C3A}</a:tableStyleId>
              </a:tblPr>
              <a:tblGrid>
                <a:gridCol w="3655907">
                  <a:extLst>
                    <a:ext uri="{9D8B030D-6E8A-4147-A177-3AD203B41FA5}">
                      <a16:colId xmlns:a16="http://schemas.microsoft.com/office/drawing/2014/main" val="673450982"/>
                    </a:ext>
                  </a:extLst>
                </a:gridCol>
                <a:gridCol w="2150533">
                  <a:extLst>
                    <a:ext uri="{9D8B030D-6E8A-4147-A177-3AD203B41FA5}">
                      <a16:colId xmlns:a16="http://schemas.microsoft.com/office/drawing/2014/main" val="2791254900"/>
                    </a:ext>
                  </a:extLst>
                </a:gridCol>
              </a:tblGrid>
              <a:tr h="343085">
                <a:tc>
                  <a:txBody>
                    <a:bodyPr/>
                    <a:lstStyle/>
                    <a:p>
                      <a:pPr>
                        <a:lnSpc>
                          <a:spcPct val="107000"/>
                        </a:lnSpc>
                        <a:spcAft>
                          <a:spcPts val="8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Name</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Number</a:t>
                      </a:r>
                    </a:p>
                  </a:txBody>
                  <a:tcPr marL="68580" marR="68580" marT="0" marB="0"/>
                </a:tc>
                <a:extLst>
                  <a:ext uri="{0D108BD9-81ED-4DB2-BD59-A6C34878D82A}">
                    <a16:rowId xmlns:a16="http://schemas.microsoft.com/office/drawing/2014/main" val="3179025693"/>
                  </a:ext>
                </a:extLst>
              </a:tr>
              <a:tr h="343085">
                <a:tc>
                  <a:txBody>
                    <a:bodyPr/>
                    <a:lstStyle/>
                    <a:p>
                      <a:pPr>
                        <a:lnSpc>
                          <a:spcPct val="107000"/>
                        </a:lnSpc>
                        <a:spcAft>
                          <a:spcPts val="800"/>
                        </a:spcAft>
                      </a:pPr>
                      <a:r>
                        <a:rPr lang="en-CA" sz="2400" b="0" dirty="0" err="1">
                          <a:solidFill>
                            <a:schemeClr val="tx1"/>
                          </a:solidFill>
                          <a:effectLst/>
                        </a:rPr>
                        <a:t>Dampe</a:t>
                      </a:r>
                      <a:r>
                        <a:rPr lang="en-CA" sz="2400" b="0" dirty="0">
                          <a:solidFill>
                            <a:schemeClr val="tx1"/>
                          </a:solidFill>
                          <a:effectLst/>
                        </a:rPr>
                        <a:t> </a:t>
                      </a:r>
                      <a:endParaRPr lang="en-CA" sz="2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400" dirty="0">
                          <a:effectLst/>
                        </a:rPr>
                        <a:t>403-555-1234</a:t>
                      </a:r>
                    </a:p>
                  </a:txBody>
                  <a:tcPr marL="68580" marR="68580" marT="0" marB="0"/>
                </a:tc>
                <a:extLst>
                  <a:ext uri="{0D108BD9-81ED-4DB2-BD59-A6C34878D82A}">
                    <a16:rowId xmlns:a16="http://schemas.microsoft.com/office/drawing/2014/main" val="219784260"/>
                  </a:ext>
                </a:extLst>
              </a:tr>
              <a:tr h="343085">
                <a:tc>
                  <a:txBody>
                    <a:bodyPr/>
                    <a:lstStyle/>
                    <a:p>
                      <a:pPr>
                        <a:lnSpc>
                          <a:spcPct val="107000"/>
                        </a:lnSpc>
                        <a:spcAft>
                          <a:spcPts val="800"/>
                        </a:spcAft>
                      </a:pPr>
                      <a:r>
                        <a:rPr lang="en-CA" sz="2400" b="0" dirty="0" err="1">
                          <a:solidFill>
                            <a:schemeClr val="tx1"/>
                          </a:solidFill>
                          <a:effectLst/>
                        </a:rPr>
                        <a:t>Josha</a:t>
                      </a:r>
                      <a:endParaRPr lang="en-CA" sz="2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400">
                          <a:effectLst/>
                        </a:rPr>
                        <a:t>403-111-1111</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3051094"/>
                  </a:ext>
                </a:extLst>
              </a:tr>
              <a:tr h="343085">
                <a:tc>
                  <a:txBody>
                    <a:bodyPr/>
                    <a:lstStyle/>
                    <a:p>
                      <a:pPr>
                        <a:lnSpc>
                          <a:spcPct val="107000"/>
                        </a:lnSpc>
                        <a:spcAft>
                          <a:spcPts val="800"/>
                        </a:spcAft>
                      </a:pPr>
                      <a:r>
                        <a:rPr lang="en-CA" sz="2400" b="0" dirty="0">
                          <a:solidFill>
                            <a:schemeClr val="tx1"/>
                          </a:solidFill>
                          <a:effectLst/>
                        </a:rPr>
                        <a:t>Link</a:t>
                      </a:r>
                      <a:endParaRPr lang="en-CA" sz="2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400">
                          <a:effectLst/>
                        </a:rPr>
                        <a:t>403-123-4567</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8919507"/>
                  </a:ext>
                </a:extLst>
              </a:tr>
              <a:tr h="343085">
                <a:tc>
                  <a:txBody>
                    <a:bodyPr/>
                    <a:lstStyle/>
                    <a:p>
                      <a:pPr>
                        <a:lnSpc>
                          <a:spcPct val="107000"/>
                        </a:lnSpc>
                        <a:spcAft>
                          <a:spcPts val="800"/>
                        </a:spcAft>
                      </a:pPr>
                      <a:r>
                        <a:rPr lang="en-CA" sz="2400" b="0" dirty="0" err="1">
                          <a:solidFill>
                            <a:schemeClr val="tx1"/>
                          </a:solidFill>
                          <a:effectLst/>
                        </a:rPr>
                        <a:t>Midna</a:t>
                      </a:r>
                      <a:endParaRPr lang="en-CA" sz="2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400" dirty="0">
                          <a:effectLst/>
                        </a:rPr>
                        <a:t>587-111-1111</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8723590"/>
                  </a:ext>
                </a:extLst>
              </a:tr>
              <a:tr h="343085">
                <a:tc>
                  <a:txBody>
                    <a:bodyPr/>
                    <a:lstStyle/>
                    <a:p>
                      <a:pPr>
                        <a:lnSpc>
                          <a:spcPct val="107000"/>
                        </a:lnSpc>
                        <a:spcAft>
                          <a:spcPts val="800"/>
                        </a:spcAft>
                      </a:pPr>
                      <a:r>
                        <a:rPr lang="en-CA" sz="2400" b="0" dirty="0">
                          <a:solidFill>
                            <a:schemeClr val="tx1"/>
                          </a:solidFill>
                          <a:effectLst/>
                        </a:rPr>
                        <a:t>Princess Zelda</a:t>
                      </a:r>
                      <a:endParaRPr lang="en-CA" sz="2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400" dirty="0">
                          <a:effectLst/>
                        </a:rPr>
                        <a:t>780-555-1234</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5074069"/>
                  </a:ext>
                </a:extLst>
              </a:tr>
            </a:tbl>
          </a:graphicData>
        </a:graphic>
      </p:graphicFrame>
    </p:spTree>
    <p:extLst>
      <p:ext uri="{BB962C8B-B14F-4D97-AF65-F5344CB8AC3E}">
        <p14:creationId xmlns:p14="http://schemas.microsoft.com/office/powerpoint/2010/main" val="1521329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EED4-702D-48D8-866F-888AE5020F7D}"/>
              </a:ext>
            </a:extLst>
          </p:cNvPr>
          <p:cNvSpPr>
            <a:spLocks noGrp="1"/>
          </p:cNvSpPr>
          <p:nvPr>
            <p:ph type="title"/>
          </p:nvPr>
        </p:nvSpPr>
        <p:spPr/>
        <p:txBody>
          <a:bodyPr/>
          <a:lstStyle/>
          <a:p>
            <a:r>
              <a:rPr lang="en-US" dirty="0"/>
              <a:t>Creating a Hash Code</a:t>
            </a:r>
            <a:endParaRPr lang="en-CA" dirty="0"/>
          </a:p>
        </p:txBody>
      </p:sp>
      <p:sp>
        <p:nvSpPr>
          <p:cNvPr id="3" name="Content Placeholder 2">
            <a:extLst>
              <a:ext uri="{FF2B5EF4-FFF2-40B4-BE49-F238E27FC236}">
                <a16:creationId xmlns:a16="http://schemas.microsoft.com/office/drawing/2014/main" id="{AD924DEA-9C06-4EDC-960B-997D8D63DBB5}"/>
              </a:ext>
            </a:extLst>
          </p:cNvPr>
          <p:cNvSpPr>
            <a:spLocks noGrp="1"/>
          </p:cNvSpPr>
          <p:nvPr>
            <p:ph idx="1"/>
          </p:nvPr>
        </p:nvSpPr>
        <p:spPr/>
        <p:txBody>
          <a:bodyPr/>
          <a:lstStyle/>
          <a:p>
            <a:r>
              <a:rPr lang="en-US" dirty="0"/>
              <a:t>Select a key value from the object</a:t>
            </a:r>
          </a:p>
          <a:p>
            <a:pPr lvl="1"/>
            <a:r>
              <a:rPr lang="en-US" dirty="0"/>
              <a:t>E.g. Name</a:t>
            </a:r>
          </a:p>
          <a:p>
            <a:r>
              <a:rPr lang="en-CA" dirty="0"/>
              <a:t>Pick or design a hashing function to transform the value to an integer</a:t>
            </a:r>
          </a:p>
          <a:p>
            <a:pPr lvl="1"/>
            <a:r>
              <a:rPr lang="en-CA" dirty="0"/>
              <a:t>E.g. First character of name using the Alphabet hash</a:t>
            </a:r>
          </a:p>
          <a:p>
            <a:pPr lvl="2"/>
            <a:r>
              <a:rPr lang="en-CA" dirty="0"/>
              <a:t>i.e. </a:t>
            </a:r>
            <a:r>
              <a:rPr lang="en-US" altLang="en-US" dirty="0"/>
              <a:t>A → 0, B →1, …. Z → 25</a:t>
            </a:r>
          </a:p>
          <a:p>
            <a:pPr lvl="2"/>
            <a:r>
              <a:rPr lang="en-US" altLang="en-US" dirty="0"/>
              <a:t>Possible index range: 0 to 25</a:t>
            </a:r>
          </a:p>
          <a:p>
            <a:pPr lvl="2"/>
            <a:endParaRPr lang="en-CA" dirty="0"/>
          </a:p>
        </p:txBody>
      </p:sp>
      <p:graphicFrame>
        <p:nvGraphicFramePr>
          <p:cNvPr id="4" name="Table 3">
            <a:extLst>
              <a:ext uri="{FF2B5EF4-FFF2-40B4-BE49-F238E27FC236}">
                <a16:creationId xmlns:a16="http://schemas.microsoft.com/office/drawing/2014/main" id="{0FD30792-08EC-425A-9C04-6810888ADE2F}"/>
              </a:ext>
            </a:extLst>
          </p:cNvPr>
          <p:cNvGraphicFramePr>
            <a:graphicFrameLocks noGrp="1"/>
          </p:cNvGraphicFramePr>
          <p:nvPr>
            <p:extLst>
              <p:ext uri="{D42A27DB-BD31-4B8C-83A1-F6EECF244321}">
                <p14:modId xmlns:p14="http://schemas.microsoft.com/office/powerpoint/2010/main" val="896538956"/>
              </p:ext>
            </p:extLst>
          </p:nvPr>
        </p:nvGraphicFramePr>
        <p:xfrm>
          <a:off x="2552700" y="4715987"/>
          <a:ext cx="7086600" cy="1883568"/>
        </p:xfrm>
        <a:graphic>
          <a:graphicData uri="http://schemas.openxmlformats.org/drawingml/2006/table">
            <a:tbl>
              <a:tblPr firstRow="1" firstCol="1" bandRow="1">
                <a:tableStyleId>{5C22544A-7EE6-4342-B048-85BDC9FD1C3A}</a:tableStyleId>
              </a:tblPr>
              <a:tblGrid>
                <a:gridCol w="1882140">
                  <a:extLst>
                    <a:ext uri="{9D8B030D-6E8A-4147-A177-3AD203B41FA5}">
                      <a16:colId xmlns:a16="http://schemas.microsoft.com/office/drawing/2014/main" val="673450982"/>
                    </a:ext>
                  </a:extLst>
                </a:gridCol>
                <a:gridCol w="1661160">
                  <a:extLst>
                    <a:ext uri="{9D8B030D-6E8A-4147-A177-3AD203B41FA5}">
                      <a16:colId xmlns:a16="http://schemas.microsoft.com/office/drawing/2014/main" val="2415858185"/>
                    </a:ext>
                  </a:extLst>
                </a:gridCol>
                <a:gridCol w="3543300">
                  <a:extLst>
                    <a:ext uri="{9D8B030D-6E8A-4147-A177-3AD203B41FA5}">
                      <a16:colId xmlns:a16="http://schemas.microsoft.com/office/drawing/2014/main" val="2791254900"/>
                    </a:ext>
                  </a:extLst>
                </a:gridCol>
              </a:tblGrid>
              <a:tr h="313928">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Name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Hash Code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tc>
                <a:extLst>
                  <a:ext uri="{0D108BD9-81ED-4DB2-BD59-A6C34878D82A}">
                    <a16:rowId xmlns:a16="http://schemas.microsoft.com/office/drawing/2014/main" val="3179025693"/>
                  </a:ext>
                </a:extLst>
              </a:tr>
              <a:tr h="313928">
                <a:tc>
                  <a:txBody>
                    <a:bodyPr/>
                    <a:lstStyle/>
                    <a:p>
                      <a:pPr>
                        <a:lnSpc>
                          <a:spcPct val="107000"/>
                        </a:lnSpc>
                        <a:spcAft>
                          <a:spcPts val="800"/>
                        </a:spcAft>
                      </a:pPr>
                      <a:r>
                        <a:rPr lang="en-CA" sz="2000" b="0" dirty="0" err="1">
                          <a:solidFill>
                            <a:schemeClr val="tx1"/>
                          </a:solidFill>
                          <a:effectLst/>
                        </a:rPr>
                        <a:t>Dampe</a:t>
                      </a:r>
                      <a:r>
                        <a:rPr lang="en-CA" sz="2000" b="0" dirty="0">
                          <a:solidFill>
                            <a:schemeClr val="tx1"/>
                          </a:solidFill>
                          <a:effectLst/>
                        </a:rPr>
                        <a:t> </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D = 3</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Array[3] = 403-555-1234</a:t>
                      </a:r>
                    </a:p>
                  </a:txBody>
                  <a:tcPr marL="68580" marR="68580" marT="0" marB="0"/>
                </a:tc>
                <a:extLst>
                  <a:ext uri="{0D108BD9-81ED-4DB2-BD59-A6C34878D82A}">
                    <a16:rowId xmlns:a16="http://schemas.microsoft.com/office/drawing/2014/main" val="219784260"/>
                  </a:ext>
                </a:extLst>
              </a:tr>
              <a:tr h="313928">
                <a:tc>
                  <a:txBody>
                    <a:bodyPr/>
                    <a:lstStyle/>
                    <a:p>
                      <a:pPr>
                        <a:lnSpc>
                          <a:spcPct val="107000"/>
                        </a:lnSpc>
                        <a:spcAft>
                          <a:spcPts val="800"/>
                        </a:spcAft>
                      </a:pPr>
                      <a:r>
                        <a:rPr lang="en-CA" sz="2000" b="0" dirty="0" err="1">
                          <a:solidFill>
                            <a:schemeClr val="tx1"/>
                          </a:solidFill>
                          <a:effectLst/>
                        </a:rPr>
                        <a:t>Josha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J = 9</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Array[9] = 403-111-1111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3051094"/>
                  </a:ext>
                </a:extLst>
              </a:tr>
              <a:tr h="313928">
                <a:tc>
                  <a:txBody>
                    <a:bodyPr/>
                    <a:lstStyle/>
                    <a:p>
                      <a:pPr>
                        <a:lnSpc>
                          <a:spcPct val="107000"/>
                        </a:lnSpc>
                        <a:spcAft>
                          <a:spcPts val="800"/>
                        </a:spcAft>
                      </a:pPr>
                      <a:r>
                        <a:rPr lang="en-CA" sz="2000" b="0" dirty="0">
                          <a:solidFill>
                            <a:schemeClr val="tx1"/>
                          </a:solidFill>
                          <a:effectLst/>
                        </a:rPr>
                        <a:t>Link</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 = 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Array[11] = 403-123-4567</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8919507"/>
                  </a:ext>
                </a:extLst>
              </a:tr>
              <a:tr h="313928">
                <a:tc>
                  <a:txBody>
                    <a:bodyPr/>
                    <a:lstStyle/>
                    <a:p>
                      <a:pPr>
                        <a:lnSpc>
                          <a:spcPct val="107000"/>
                        </a:lnSpc>
                        <a:spcAft>
                          <a:spcPts val="800"/>
                        </a:spcAft>
                      </a:pPr>
                      <a:r>
                        <a:rPr lang="en-CA" sz="2000" b="0" dirty="0" err="1">
                          <a:solidFill>
                            <a:schemeClr val="tx1"/>
                          </a:solidFill>
                          <a:effectLst/>
                        </a:rPr>
                        <a:t>Midna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M = 12</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Array[12] = 587-111-1111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8723590"/>
                  </a:ext>
                </a:extLst>
              </a:tr>
              <a:tr h="313928">
                <a:tc>
                  <a:txBody>
                    <a:bodyPr/>
                    <a:lstStyle/>
                    <a:p>
                      <a:pPr>
                        <a:lnSpc>
                          <a:spcPct val="107000"/>
                        </a:lnSpc>
                        <a:spcAft>
                          <a:spcPts val="800"/>
                        </a:spcAft>
                      </a:pPr>
                      <a:r>
                        <a:rPr lang="en-CA" sz="2000" b="0" dirty="0">
                          <a:solidFill>
                            <a:schemeClr val="tx1"/>
                          </a:solidFill>
                          <a:effectLst/>
                        </a:rPr>
                        <a:t>Princess Zelda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P = 15</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Array[15] = 780-555-1234</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5074069"/>
                  </a:ext>
                </a:extLst>
              </a:tr>
            </a:tbl>
          </a:graphicData>
        </a:graphic>
      </p:graphicFrame>
    </p:spTree>
    <p:extLst>
      <p:ext uri="{BB962C8B-B14F-4D97-AF65-F5344CB8AC3E}">
        <p14:creationId xmlns:p14="http://schemas.microsoft.com/office/powerpoint/2010/main" val="959752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AFE1-D283-4AD6-AC21-DD13072B6CC5}"/>
              </a:ext>
            </a:extLst>
          </p:cNvPr>
          <p:cNvSpPr>
            <a:spLocks noGrp="1"/>
          </p:cNvSpPr>
          <p:nvPr>
            <p:ph type="title"/>
          </p:nvPr>
        </p:nvSpPr>
        <p:spPr/>
        <p:txBody>
          <a:bodyPr/>
          <a:lstStyle/>
          <a:p>
            <a:r>
              <a:rPr lang="en-US" dirty="0"/>
              <a:t>Packing Density</a:t>
            </a:r>
            <a:endParaRPr lang="en-CA" dirty="0"/>
          </a:p>
        </p:txBody>
      </p:sp>
      <p:sp>
        <p:nvSpPr>
          <p:cNvPr id="3" name="Content Placeholder 2">
            <a:extLst>
              <a:ext uri="{FF2B5EF4-FFF2-40B4-BE49-F238E27FC236}">
                <a16:creationId xmlns:a16="http://schemas.microsoft.com/office/drawing/2014/main" id="{F5D9559D-0DF9-48BF-AE14-F60F03163E77}"/>
              </a:ext>
            </a:extLst>
          </p:cNvPr>
          <p:cNvSpPr>
            <a:spLocks noGrp="1"/>
          </p:cNvSpPr>
          <p:nvPr>
            <p:ph idx="1"/>
          </p:nvPr>
        </p:nvSpPr>
        <p:spPr/>
        <p:txBody>
          <a:bodyPr/>
          <a:lstStyle/>
          <a:p>
            <a:r>
              <a:rPr lang="en-US" dirty="0"/>
              <a:t>One of the factors in calculating the efficiency of hashing is how much space we’re wasting in the hash table</a:t>
            </a:r>
          </a:p>
          <a:p>
            <a:pPr lvl="1"/>
            <a:r>
              <a:rPr lang="en-CA" dirty="0"/>
              <a:t>Packing density = number of records / size of hash table</a:t>
            </a:r>
          </a:p>
          <a:p>
            <a:pPr lvl="1"/>
            <a:r>
              <a:rPr lang="en-CA" dirty="0"/>
              <a:t>E.g. 5 / 26 * 100% = 19.2%</a:t>
            </a:r>
          </a:p>
          <a:p>
            <a:pPr lvl="1"/>
            <a:endParaRPr lang="en-CA" dirty="0"/>
          </a:p>
          <a:p>
            <a:r>
              <a:rPr lang="en-CA" dirty="0"/>
              <a:t>Reasonable packing density is 80-85%</a:t>
            </a:r>
          </a:p>
          <a:p>
            <a:pPr lvl="1"/>
            <a:r>
              <a:rPr lang="en-CA" dirty="0"/>
              <a:t>Less than this results in inefficient use of space</a:t>
            </a:r>
          </a:p>
          <a:p>
            <a:pPr lvl="1"/>
            <a:r>
              <a:rPr lang="en-CA" dirty="0"/>
              <a:t>Greater than this results in more collisions (duplicate hash codes)</a:t>
            </a:r>
          </a:p>
        </p:txBody>
      </p:sp>
    </p:spTree>
    <p:extLst>
      <p:ext uri="{BB962C8B-B14F-4D97-AF65-F5344CB8AC3E}">
        <p14:creationId xmlns:p14="http://schemas.microsoft.com/office/powerpoint/2010/main" val="3824570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3ADA-8E33-427C-83BA-B828832536B8}"/>
              </a:ext>
            </a:extLst>
          </p:cNvPr>
          <p:cNvSpPr>
            <a:spLocks noGrp="1"/>
          </p:cNvSpPr>
          <p:nvPr>
            <p:ph type="title"/>
          </p:nvPr>
        </p:nvSpPr>
        <p:spPr/>
        <p:txBody>
          <a:bodyPr/>
          <a:lstStyle/>
          <a:p>
            <a:r>
              <a:rPr lang="en-US" dirty="0"/>
              <a:t>Reducing the Index Range (Size)</a:t>
            </a:r>
            <a:endParaRPr lang="en-CA" dirty="0"/>
          </a:p>
        </p:txBody>
      </p:sp>
      <p:sp>
        <p:nvSpPr>
          <p:cNvPr id="3" name="Content Placeholder 2">
            <a:extLst>
              <a:ext uri="{FF2B5EF4-FFF2-40B4-BE49-F238E27FC236}">
                <a16:creationId xmlns:a16="http://schemas.microsoft.com/office/drawing/2014/main" id="{0747F3B7-889C-46C2-B2BC-3BB1BB185E09}"/>
              </a:ext>
            </a:extLst>
          </p:cNvPr>
          <p:cNvSpPr>
            <a:spLocks noGrp="1"/>
          </p:cNvSpPr>
          <p:nvPr>
            <p:ph idx="1"/>
          </p:nvPr>
        </p:nvSpPr>
        <p:spPr/>
        <p:txBody>
          <a:bodyPr/>
          <a:lstStyle/>
          <a:p>
            <a:r>
              <a:rPr lang="en-US" dirty="0"/>
              <a:t>With our example of phone numbers, there are 5 numbers so really we only need an array of size 5</a:t>
            </a:r>
          </a:p>
          <a:p>
            <a:pPr lvl="1"/>
            <a:r>
              <a:rPr lang="en-US" dirty="0"/>
              <a:t>Valid indexes of 0 to 4</a:t>
            </a:r>
          </a:p>
          <a:p>
            <a:pPr lvl="2"/>
            <a:endParaRPr lang="en-US" dirty="0"/>
          </a:p>
          <a:p>
            <a:r>
              <a:rPr lang="en-CA" dirty="0"/>
              <a:t>We can use a compression mapping algorithm to convert the hash code to reduce our index range from 0-25 to 0-4</a:t>
            </a:r>
          </a:p>
          <a:p>
            <a:pPr lvl="1"/>
            <a:r>
              <a:rPr lang="en-CA" dirty="0"/>
              <a:t>Size of the hash table will reduce from 26 to 5</a:t>
            </a:r>
          </a:p>
          <a:p>
            <a:pPr lvl="2"/>
            <a:endParaRPr lang="en-CA" dirty="0"/>
          </a:p>
          <a:p>
            <a:r>
              <a:rPr lang="en-CA" dirty="0"/>
              <a:t>Packing density would be 100%</a:t>
            </a:r>
          </a:p>
        </p:txBody>
      </p:sp>
    </p:spTree>
    <p:extLst>
      <p:ext uri="{BB962C8B-B14F-4D97-AF65-F5344CB8AC3E}">
        <p14:creationId xmlns:p14="http://schemas.microsoft.com/office/powerpoint/2010/main" val="1076373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B703B-483D-4A0B-8FBA-286E21A81C41}"/>
              </a:ext>
            </a:extLst>
          </p:cNvPr>
          <p:cNvSpPr>
            <a:spLocks noGrp="1"/>
          </p:cNvSpPr>
          <p:nvPr>
            <p:ph type="title"/>
          </p:nvPr>
        </p:nvSpPr>
        <p:spPr/>
        <p:txBody>
          <a:bodyPr/>
          <a:lstStyle/>
          <a:p>
            <a:r>
              <a:rPr lang="en-US" dirty="0"/>
              <a:t>Phone Book Example</a:t>
            </a:r>
            <a:endParaRPr lang="en-CA" dirty="0"/>
          </a:p>
        </p:txBody>
      </p:sp>
      <p:sp>
        <p:nvSpPr>
          <p:cNvPr id="3" name="Content Placeholder 2">
            <a:extLst>
              <a:ext uri="{FF2B5EF4-FFF2-40B4-BE49-F238E27FC236}">
                <a16:creationId xmlns:a16="http://schemas.microsoft.com/office/drawing/2014/main" id="{AED628EB-4E58-4FC0-9F49-7A86964F2570}"/>
              </a:ext>
            </a:extLst>
          </p:cNvPr>
          <p:cNvSpPr>
            <a:spLocks noGrp="1"/>
          </p:cNvSpPr>
          <p:nvPr>
            <p:ph idx="1"/>
          </p:nvPr>
        </p:nvSpPr>
        <p:spPr/>
        <p:txBody>
          <a:bodyPr>
            <a:normAutofit/>
          </a:bodyPr>
          <a:lstStyle/>
          <a:p>
            <a:r>
              <a:rPr lang="en-US" dirty="0"/>
              <a:t>Using compression mapping algorithm of “mod 5”</a:t>
            </a:r>
          </a:p>
          <a:p>
            <a:endParaRPr lang="en-US" dirty="0"/>
          </a:p>
          <a:p>
            <a:endParaRPr lang="en-US" dirty="0"/>
          </a:p>
          <a:p>
            <a:endParaRPr lang="en-US" dirty="0"/>
          </a:p>
          <a:p>
            <a:pPr lvl="1"/>
            <a:endParaRPr lang="en-US" dirty="0"/>
          </a:p>
          <a:p>
            <a:r>
              <a:rPr lang="en-US" dirty="0"/>
              <a:t>Perfect Hash!</a:t>
            </a:r>
          </a:p>
          <a:p>
            <a:pPr lvl="1"/>
            <a:r>
              <a:rPr lang="en-US" dirty="0"/>
              <a:t>Only possible if all keys are known ahead of time and will never change</a:t>
            </a:r>
          </a:p>
          <a:p>
            <a:pPr lvl="2"/>
            <a:r>
              <a:rPr lang="en-US" dirty="0"/>
              <a:t>E.g. Remove </a:t>
            </a:r>
            <a:r>
              <a:rPr lang="en-US" dirty="0" err="1"/>
              <a:t>Dampe</a:t>
            </a:r>
            <a:r>
              <a:rPr lang="en-US" dirty="0"/>
              <a:t> and add </a:t>
            </a:r>
            <a:r>
              <a:rPr lang="en-US" dirty="0" err="1"/>
              <a:t>Vaati</a:t>
            </a:r>
            <a:r>
              <a:rPr lang="en-US" dirty="0"/>
              <a:t>: V = 21 % 5 = 1, but array[1] is being used! This is called </a:t>
            </a:r>
            <a:r>
              <a:rPr lang="en-US" b="1" dirty="0"/>
              <a:t>collisions</a:t>
            </a:r>
            <a:endParaRPr lang="en-CA" b="1" dirty="0"/>
          </a:p>
        </p:txBody>
      </p:sp>
      <p:graphicFrame>
        <p:nvGraphicFramePr>
          <p:cNvPr id="4" name="Table 3">
            <a:extLst>
              <a:ext uri="{FF2B5EF4-FFF2-40B4-BE49-F238E27FC236}">
                <a16:creationId xmlns:a16="http://schemas.microsoft.com/office/drawing/2014/main" id="{491E81BA-0908-4388-840D-3C772EE43F87}"/>
              </a:ext>
            </a:extLst>
          </p:cNvPr>
          <p:cNvGraphicFramePr>
            <a:graphicFrameLocks noGrp="1"/>
          </p:cNvGraphicFramePr>
          <p:nvPr>
            <p:extLst>
              <p:ext uri="{D42A27DB-BD31-4B8C-83A1-F6EECF244321}">
                <p14:modId xmlns:p14="http://schemas.microsoft.com/office/powerpoint/2010/main" val="563633354"/>
              </p:ext>
            </p:extLst>
          </p:nvPr>
        </p:nvGraphicFramePr>
        <p:xfrm>
          <a:off x="1356360" y="2350612"/>
          <a:ext cx="9479279" cy="1869948"/>
        </p:xfrm>
        <a:graphic>
          <a:graphicData uri="http://schemas.openxmlformats.org/drawingml/2006/table">
            <a:tbl>
              <a:tblPr firstRow="1" firstCol="1" bandRow="1">
                <a:tableStyleId>{5C22544A-7EE6-4342-B048-85BDC9FD1C3A}</a:tableStyleId>
              </a:tblPr>
              <a:tblGrid>
                <a:gridCol w="2033237">
                  <a:extLst>
                    <a:ext uri="{9D8B030D-6E8A-4147-A177-3AD203B41FA5}">
                      <a16:colId xmlns:a16="http://schemas.microsoft.com/office/drawing/2014/main" val="673450982"/>
                    </a:ext>
                  </a:extLst>
                </a:gridCol>
                <a:gridCol w="1552402">
                  <a:extLst>
                    <a:ext uri="{9D8B030D-6E8A-4147-A177-3AD203B41FA5}">
                      <a16:colId xmlns:a16="http://schemas.microsoft.com/office/drawing/2014/main" val="2415858185"/>
                    </a:ext>
                  </a:extLst>
                </a:gridCol>
                <a:gridCol w="2486595">
                  <a:extLst>
                    <a:ext uri="{9D8B030D-6E8A-4147-A177-3AD203B41FA5}">
                      <a16:colId xmlns:a16="http://schemas.microsoft.com/office/drawing/2014/main" val="3225688467"/>
                    </a:ext>
                  </a:extLst>
                </a:gridCol>
                <a:gridCol w="3407045">
                  <a:extLst>
                    <a:ext uri="{9D8B030D-6E8A-4147-A177-3AD203B41FA5}">
                      <a16:colId xmlns:a16="http://schemas.microsoft.com/office/drawing/2014/main" val="2791254900"/>
                    </a:ext>
                  </a:extLst>
                </a:gridCol>
              </a:tblGrid>
              <a:tr h="273711">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Name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Hash Code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Compression</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tc>
                <a:extLst>
                  <a:ext uri="{0D108BD9-81ED-4DB2-BD59-A6C34878D82A}">
                    <a16:rowId xmlns:a16="http://schemas.microsoft.com/office/drawing/2014/main" val="3179025693"/>
                  </a:ext>
                </a:extLst>
              </a:tr>
              <a:tr h="273711">
                <a:tc>
                  <a:txBody>
                    <a:bodyPr/>
                    <a:lstStyle/>
                    <a:p>
                      <a:pPr>
                        <a:lnSpc>
                          <a:spcPct val="107000"/>
                        </a:lnSpc>
                        <a:spcAft>
                          <a:spcPts val="800"/>
                        </a:spcAft>
                      </a:pPr>
                      <a:r>
                        <a:rPr lang="en-CA" sz="2000" b="0" dirty="0" err="1">
                          <a:solidFill>
                            <a:schemeClr val="tx1"/>
                          </a:solidFill>
                          <a:effectLst/>
                        </a:rPr>
                        <a:t>Dampe</a:t>
                      </a:r>
                      <a:r>
                        <a:rPr lang="en-CA" sz="2000" b="0" dirty="0">
                          <a:solidFill>
                            <a:schemeClr val="tx1"/>
                          </a:solidFill>
                          <a:effectLst/>
                        </a:rPr>
                        <a:t> </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D = 3</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3 % 5 = 3</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Array[3] = 403-555-1234</a:t>
                      </a:r>
                    </a:p>
                  </a:txBody>
                  <a:tcPr marL="68580" marR="68580" marT="0" marB="0"/>
                </a:tc>
                <a:extLst>
                  <a:ext uri="{0D108BD9-81ED-4DB2-BD59-A6C34878D82A}">
                    <a16:rowId xmlns:a16="http://schemas.microsoft.com/office/drawing/2014/main" val="219784260"/>
                  </a:ext>
                </a:extLst>
              </a:tr>
              <a:tr h="273711">
                <a:tc>
                  <a:txBody>
                    <a:bodyPr/>
                    <a:lstStyle/>
                    <a:p>
                      <a:pPr>
                        <a:lnSpc>
                          <a:spcPct val="107000"/>
                        </a:lnSpc>
                        <a:spcAft>
                          <a:spcPts val="800"/>
                        </a:spcAft>
                      </a:pPr>
                      <a:r>
                        <a:rPr lang="en-CA" sz="2000" b="0" dirty="0" err="1">
                          <a:solidFill>
                            <a:schemeClr val="tx1"/>
                          </a:solidFill>
                          <a:effectLst/>
                        </a:rPr>
                        <a:t>Josha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J = 9</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9 % 5 = 4</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Array[4] = 403-111-1111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3051094"/>
                  </a:ext>
                </a:extLst>
              </a:tr>
              <a:tr h="273711">
                <a:tc>
                  <a:txBody>
                    <a:bodyPr/>
                    <a:lstStyle/>
                    <a:p>
                      <a:pPr>
                        <a:lnSpc>
                          <a:spcPct val="107000"/>
                        </a:lnSpc>
                        <a:spcAft>
                          <a:spcPts val="800"/>
                        </a:spcAft>
                      </a:pPr>
                      <a:r>
                        <a:rPr lang="en-CA" sz="2000" b="0" dirty="0">
                          <a:solidFill>
                            <a:schemeClr val="tx1"/>
                          </a:solidFill>
                          <a:effectLst/>
                        </a:rPr>
                        <a:t>Link</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 = 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11 % 5 = 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Array[1] = 403-123-4567</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8919507"/>
                  </a:ext>
                </a:extLst>
              </a:tr>
              <a:tr h="273711">
                <a:tc>
                  <a:txBody>
                    <a:bodyPr/>
                    <a:lstStyle/>
                    <a:p>
                      <a:pPr>
                        <a:lnSpc>
                          <a:spcPct val="107000"/>
                        </a:lnSpc>
                        <a:spcAft>
                          <a:spcPts val="800"/>
                        </a:spcAft>
                      </a:pPr>
                      <a:r>
                        <a:rPr lang="en-CA" sz="2000" b="0" dirty="0" err="1">
                          <a:solidFill>
                            <a:schemeClr val="tx1"/>
                          </a:solidFill>
                          <a:effectLst/>
                        </a:rPr>
                        <a:t>Midna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M = 12</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12 % 5 = 2</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Array[2] = 587-111-1111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8723590"/>
                  </a:ext>
                </a:extLst>
              </a:tr>
              <a:tr h="273711">
                <a:tc>
                  <a:txBody>
                    <a:bodyPr/>
                    <a:lstStyle/>
                    <a:p>
                      <a:pPr>
                        <a:lnSpc>
                          <a:spcPct val="107000"/>
                        </a:lnSpc>
                        <a:spcAft>
                          <a:spcPts val="800"/>
                        </a:spcAft>
                      </a:pPr>
                      <a:r>
                        <a:rPr lang="en-CA" sz="2000" b="0" dirty="0">
                          <a:solidFill>
                            <a:schemeClr val="tx1"/>
                          </a:solidFill>
                          <a:effectLst/>
                        </a:rPr>
                        <a:t>Princess Zelda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P = 15</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15 % 5 = 0</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Array[0] = 780-555-1234</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5074069"/>
                  </a:ext>
                </a:extLst>
              </a:tr>
            </a:tbl>
          </a:graphicData>
        </a:graphic>
      </p:graphicFrame>
    </p:spTree>
    <p:extLst>
      <p:ext uri="{BB962C8B-B14F-4D97-AF65-F5344CB8AC3E}">
        <p14:creationId xmlns:p14="http://schemas.microsoft.com/office/powerpoint/2010/main" val="1379541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E6F3A-0A69-4DCF-9B1F-AB9E800C709C}"/>
              </a:ext>
            </a:extLst>
          </p:cNvPr>
          <p:cNvSpPr>
            <a:spLocks noGrp="1"/>
          </p:cNvSpPr>
          <p:nvPr>
            <p:ph type="title"/>
          </p:nvPr>
        </p:nvSpPr>
        <p:spPr/>
        <p:txBody>
          <a:bodyPr/>
          <a:lstStyle/>
          <a:p>
            <a:r>
              <a:rPr lang="en-US" dirty="0"/>
              <a:t>Hashing In a Nutshell</a:t>
            </a:r>
            <a:endParaRPr lang="en-CA" dirty="0"/>
          </a:p>
        </p:txBody>
      </p:sp>
      <p:sp>
        <p:nvSpPr>
          <p:cNvPr id="3" name="Content Placeholder 2">
            <a:extLst>
              <a:ext uri="{FF2B5EF4-FFF2-40B4-BE49-F238E27FC236}">
                <a16:creationId xmlns:a16="http://schemas.microsoft.com/office/drawing/2014/main" id="{D448E74B-FBF8-4423-9D10-EEA7A70ED353}"/>
              </a:ext>
            </a:extLst>
          </p:cNvPr>
          <p:cNvSpPr>
            <a:spLocks noGrp="1"/>
          </p:cNvSpPr>
          <p:nvPr>
            <p:ph idx="1"/>
          </p:nvPr>
        </p:nvSpPr>
        <p:spPr>
          <a:xfrm>
            <a:off x="838200" y="1825625"/>
            <a:ext cx="6553200" cy="4351338"/>
          </a:xfrm>
        </p:spPr>
        <p:txBody>
          <a:bodyPr/>
          <a:lstStyle/>
          <a:p>
            <a:r>
              <a:rPr lang="en-US" dirty="0"/>
              <a:t>“Magically” convert the search key to the correct index in the data structure</a:t>
            </a:r>
          </a:p>
          <a:p>
            <a:pPr lvl="1"/>
            <a:r>
              <a:rPr lang="en-US" dirty="0"/>
              <a:t>Hashing function: transform key to an integer (hash code)</a:t>
            </a:r>
          </a:p>
          <a:p>
            <a:pPr lvl="1"/>
            <a:r>
              <a:rPr lang="en-US" dirty="0"/>
              <a:t>Compression Mapping: convert hash code to an index value within the range of the hash table</a:t>
            </a:r>
          </a:p>
          <a:p>
            <a:pPr lvl="1"/>
            <a:r>
              <a:rPr lang="en-US" dirty="0"/>
              <a:t>N = size of hash table</a:t>
            </a:r>
          </a:p>
          <a:p>
            <a:pPr lvl="2"/>
            <a:r>
              <a:rPr lang="en-US" dirty="0"/>
              <a:t>valid index: 0 to N-1</a:t>
            </a:r>
            <a:endParaRPr lang="en-CA" dirty="0"/>
          </a:p>
        </p:txBody>
      </p:sp>
      <p:pic>
        <p:nvPicPr>
          <p:cNvPr id="5" name="Picture 13" descr="Hash">
            <a:extLst>
              <a:ext uri="{FF2B5EF4-FFF2-40B4-BE49-F238E27FC236}">
                <a16:creationId xmlns:a16="http://schemas.microsoft.com/office/drawing/2014/main" id="{B33A515B-7F60-4612-AB28-A22CA97EA6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391400" y="1409543"/>
            <a:ext cx="3962400" cy="5313219"/>
          </a:xfrm>
          <a:prstGeom prst="rect">
            <a:avLst/>
          </a:prstGeom>
          <a:noFill/>
        </p:spPr>
      </p:pic>
    </p:spTree>
    <p:extLst>
      <p:ext uri="{BB962C8B-B14F-4D97-AF65-F5344CB8AC3E}">
        <p14:creationId xmlns:p14="http://schemas.microsoft.com/office/powerpoint/2010/main" val="9795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31155-D8C7-4206-97FF-EFCB586F1C54}"/>
              </a:ext>
            </a:extLst>
          </p:cNvPr>
          <p:cNvSpPr>
            <a:spLocks noGrp="1"/>
          </p:cNvSpPr>
          <p:nvPr>
            <p:ph type="title"/>
          </p:nvPr>
        </p:nvSpPr>
        <p:spPr/>
        <p:txBody>
          <a:bodyPr/>
          <a:lstStyle/>
          <a:p>
            <a:r>
              <a:rPr lang="en-US" dirty="0"/>
              <a:t>Hash Functions</a:t>
            </a:r>
            <a:endParaRPr lang="en-CA" dirty="0"/>
          </a:p>
        </p:txBody>
      </p:sp>
      <p:sp>
        <p:nvSpPr>
          <p:cNvPr id="3" name="Content Placeholder 2">
            <a:extLst>
              <a:ext uri="{FF2B5EF4-FFF2-40B4-BE49-F238E27FC236}">
                <a16:creationId xmlns:a16="http://schemas.microsoft.com/office/drawing/2014/main" id="{FEEA1148-0BA3-4DBA-BF2D-2547A49339A4}"/>
              </a:ext>
            </a:extLst>
          </p:cNvPr>
          <p:cNvSpPr>
            <a:spLocks noGrp="1"/>
          </p:cNvSpPr>
          <p:nvPr>
            <p:ph idx="1"/>
          </p:nvPr>
        </p:nvSpPr>
        <p:spPr/>
        <p:txBody>
          <a:bodyPr>
            <a:normAutofit/>
          </a:bodyPr>
          <a:lstStyle/>
          <a:p>
            <a:r>
              <a:rPr lang="en-US" dirty="0"/>
              <a:t>Transform the search key to a hash code</a:t>
            </a:r>
          </a:p>
          <a:p>
            <a:pPr lvl="1"/>
            <a:r>
              <a:rPr lang="en-US" dirty="0"/>
              <a:t>Alphabet hash was very simple and limited</a:t>
            </a:r>
          </a:p>
          <a:p>
            <a:pPr lvl="3"/>
            <a:endParaRPr lang="en-US" dirty="0"/>
          </a:p>
          <a:p>
            <a:r>
              <a:rPr lang="en-US" dirty="0"/>
              <a:t>There are hundreds of hash functions!</a:t>
            </a:r>
          </a:p>
          <a:p>
            <a:pPr lvl="1"/>
            <a:r>
              <a:rPr lang="en-CA" dirty="0"/>
              <a:t>Choice depends on the data type and/or size of the key and what the goal of hashing is (e.g. checksums, key or unkeyed cryptographic etc.)</a:t>
            </a:r>
          </a:p>
          <a:p>
            <a:pPr lvl="2"/>
            <a:r>
              <a:rPr lang="en-CA" dirty="0">
                <a:hlinkClick r:id="rId3"/>
              </a:rPr>
              <a:t>https://en.wikipedia.org/wiki/List_of_hash_functions</a:t>
            </a:r>
            <a:endParaRPr lang="en-CA" dirty="0"/>
          </a:p>
          <a:p>
            <a:pPr lvl="3"/>
            <a:endParaRPr lang="en-CA" dirty="0"/>
          </a:p>
          <a:p>
            <a:r>
              <a:rPr lang="en-CA" dirty="0"/>
              <a:t>In Java, all numeric types can to casted to an int</a:t>
            </a:r>
          </a:p>
          <a:p>
            <a:pPr lvl="1"/>
            <a:r>
              <a:rPr lang="en-CA" dirty="0"/>
              <a:t>Longs and doubles may suffer from loss of bits</a:t>
            </a:r>
          </a:p>
        </p:txBody>
      </p:sp>
    </p:spTree>
    <p:extLst>
      <p:ext uri="{BB962C8B-B14F-4D97-AF65-F5344CB8AC3E}">
        <p14:creationId xmlns:p14="http://schemas.microsoft.com/office/powerpoint/2010/main" val="2696510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82896-9993-4D16-8383-6828BC2DC835}"/>
              </a:ext>
            </a:extLst>
          </p:cNvPr>
          <p:cNvSpPr>
            <a:spLocks noGrp="1"/>
          </p:cNvSpPr>
          <p:nvPr>
            <p:ph type="title"/>
          </p:nvPr>
        </p:nvSpPr>
        <p:spPr/>
        <p:txBody>
          <a:bodyPr/>
          <a:lstStyle/>
          <a:p>
            <a:r>
              <a:rPr lang="en-US" dirty="0"/>
              <a:t>Character Folding</a:t>
            </a:r>
            <a:endParaRPr lang="en-CA" dirty="0"/>
          </a:p>
        </p:txBody>
      </p:sp>
      <p:sp>
        <p:nvSpPr>
          <p:cNvPr id="3" name="Content Placeholder 2">
            <a:extLst>
              <a:ext uri="{FF2B5EF4-FFF2-40B4-BE49-F238E27FC236}">
                <a16:creationId xmlns:a16="http://schemas.microsoft.com/office/drawing/2014/main" id="{FC31ED96-5E1D-4D16-9A91-C36128FE0839}"/>
              </a:ext>
            </a:extLst>
          </p:cNvPr>
          <p:cNvSpPr>
            <a:spLocks noGrp="1"/>
          </p:cNvSpPr>
          <p:nvPr>
            <p:ph idx="1"/>
          </p:nvPr>
        </p:nvSpPr>
        <p:spPr/>
        <p:txBody>
          <a:bodyPr/>
          <a:lstStyle/>
          <a:p>
            <a:r>
              <a:rPr lang="en-US" dirty="0"/>
              <a:t>Instead of just using the first character, convert each character in the key to an integer and sum them up</a:t>
            </a:r>
          </a:p>
          <a:p>
            <a:endParaRPr lang="en-US" dirty="0"/>
          </a:p>
          <a:p>
            <a:endParaRPr lang="en-US" dirty="0"/>
          </a:p>
          <a:p>
            <a:endParaRPr lang="en-US" dirty="0"/>
          </a:p>
          <a:p>
            <a:endParaRPr lang="en-US" dirty="0"/>
          </a:p>
          <a:p>
            <a:pPr lvl="1"/>
            <a:r>
              <a:rPr lang="en-US" dirty="0"/>
              <a:t>What if we have people with the same names? Or characters that adds up to the same value?</a:t>
            </a:r>
          </a:p>
          <a:p>
            <a:pPr lvl="2"/>
            <a:r>
              <a:rPr lang="en-US" dirty="0"/>
              <a:t>Consider words like </a:t>
            </a:r>
            <a:r>
              <a:rPr lang="en-US" altLang="en-US" dirty="0"/>
              <a:t>“stop”, “tops”, “pots”, “spot”</a:t>
            </a:r>
            <a:endParaRPr lang="en-CA" dirty="0"/>
          </a:p>
        </p:txBody>
      </p:sp>
      <p:graphicFrame>
        <p:nvGraphicFramePr>
          <p:cNvPr id="4" name="Table 3">
            <a:extLst>
              <a:ext uri="{FF2B5EF4-FFF2-40B4-BE49-F238E27FC236}">
                <a16:creationId xmlns:a16="http://schemas.microsoft.com/office/drawing/2014/main" id="{ED556CE1-E58A-4AD7-9A92-ED9E29927AD3}"/>
              </a:ext>
            </a:extLst>
          </p:cNvPr>
          <p:cNvGraphicFramePr>
            <a:graphicFrameLocks noGrp="1"/>
          </p:cNvGraphicFramePr>
          <p:nvPr>
            <p:extLst>
              <p:ext uri="{D42A27DB-BD31-4B8C-83A1-F6EECF244321}">
                <p14:modId xmlns:p14="http://schemas.microsoft.com/office/powerpoint/2010/main" val="3509951807"/>
              </p:ext>
            </p:extLst>
          </p:nvPr>
        </p:nvGraphicFramePr>
        <p:xfrm>
          <a:off x="3192780" y="2772569"/>
          <a:ext cx="5806440" cy="1870075"/>
        </p:xfrm>
        <a:graphic>
          <a:graphicData uri="http://schemas.openxmlformats.org/drawingml/2006/table">
            <a:tbl>
              <a:tblPr firstRow="1" firstCol="1" bandRow="1">
                <a:tableStyleId>{5C22544A-7EE6-4342-B048-85BDC9FD1C3A}</a:tableStyleId>
              </a:tblPr>
              <a:tblGrid>
                <a:gridCol w="1958340">
                  <a:extLst>
                    <a:ext uri="{9D8B030D-6E8A-4147-A177-3AD203B41FA5}">
                      <a16:colId xmlns:a16="http://schemas.microsoft.com/office/drawing/2014/main" val="673450982"/>
                    </a:ext>
                  </a:extLst>
                </a:gridCol>
                <a:gridCol w="3848100">
                  <a:extLst>
                    <a:ext uri="{9D8B030D-6E8A-4147-A177-3AD203B41FA5}">
                      <a16:colId xmlns:a16="http://schemas.microsoft.com/office/drawing/2014/main" val="2791254900"/>
                    </a:ext>
                  </a:extLst>
                </a:gridCol>
              </a:tblGrid>
              <a:tr h="314166">
                <a:tc>
                  <a:txBody>
                    <a:bodyPr/>
                    <a:lstStyle/>
                    <a:p>
                      <a:pPr>
                        <a:lnSpc>
                          <a:spcPct val="107000"/>
                        </a:lnSpc>
                        <a:spcAft>
                          <a:spcPts val="8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Name</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Sum</a:t>
                      </a:r>
                    </a:p>
                  </a:txBody>
                  <a:tcPr marL="68580" marR="68580" marT="0" marB="0"/>
                </a:tc>
                <a:extLst>
                  <a:ext uri="{0D108BD9-81ED-4DB2-BD59-A6C34878D82A}">
                    <a16:rowId xmlns:a16="http://schemas.microsoft.com/office/drawing/2014/main" val="3179025693"/>
                  </a:ext>
                </a:extLst>
              </a:tr>
              <a:tr h="314166">
                <a:tc>
                  <a:txBody>
                    <a:bodyPr/>
                    <a:lstStyle/>
                    <a:p>
                      <a:pPr>
                        <a:lnSpc>
                          <a:spcPct val="107000"/>
                        </a:lnSpc>
                        <a:spcAft>
                          <a:spcPts val="800"/>
                        </a:spcAft>
                      </a:pPr>
                      <a:r>
                        <a:rPr lang="en-CA" sz="2400" b="0" dirty="0" err="1">
                          <a:solidFill>
                            <a:schemeClr val="tx1"/>
                          </a:solidFill>
                          <a:effectLst/>
                        </a:rPr>
                        <a:t>Dampe</a:t>
                      </a:r>
                      <a:r>
                        <a:rPr lang="en-CA" sz="2400" b="0" dirty="0">
                          <a:solidFill>
                            <a:schemeClr val="tx1"/>
                          </a:solidFill>
                          <a:effectLst/>
                        </a:rPr>
                        <a:t> </a:t>
                      </a:r>
                      <a:endParaRPr lang="en-CA" sz="2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400" dirty="0">
                          <a:effectLst/>
                        </a:rPr>
                        <a:t>3+0+13+19+4 = 39</a:t>
                      </a:r>
                    </a:p>
                  </a:txBody>
                  <a:tcPr marL="68580" marR="68580" marT="0" marB="0"/>
                </a:tc>
                <a:extLst>
                  <a:ext uri="{0D108BD9-81ED-4DB2-BD59-A6C34878D82A}">
                    <a16:rowId xmlns:a16="http://schemas.microsoft.com/office/drawing/2014/main" val="219784260"/>
                  </a:ext>
                </a:extLst>
              </a:tr>
              <a:tr h="314166">
                <a:tc>
                  <a:txBody>
                    <a:bodyPr/>
                    <a:lstStyle/>
                    <a:p>
                      <a:pPr>
                        <a:lnSpc>
                          <a:spcPct val="107000"/>
                        </a:lnSpc>
                        <a:spcAft>
                          <a:spcPts val="800"/>
                        </a:spcAft>
                      </a:pPr>
                      <a:r>
                        <a:rPr lang="en-CA" sz="2400" b="0" dirty="0" err="1">
                          <a:solidFill>
                            <a:schemeClr val="tx1"/>
                          </a:solidFill>
                          <a:effectLst/>
                        </a:rPr>
                        <a:t>Josha</a:t>
                      </a:r>
                      <a:endParaRPr lang="en-CA" sz="2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9+14+18+7+0 </a:t>
                      </a:r>
                      <a:r>
                        <a:rPr lang="en-US" sz="2400">
                          <a:effectLst/>
                          <a:latin typeface="Calibri" panose="020F0502020204030204" pitchFamily="34" charset="0"/>
                          <a:ea typeface="Calibri" panose="020F0502020204030204" pitchFamily="34" charset="0"/>
                          <a:cs typeface="Times New Roman" panose="02020603050405020304" pitchFamily="18" charset="0"/>
                        </a:rPr>
                        <a:t>= 48</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3051094"/>
                  </a:ext>
                </a:extLst>
              </a:tr>
              <a:tr h="314166">
                <a:tc>
                  <a:txBody>
                    <a:bodyPr/>
                    <a:lstStyle/>
                    <a:p>
                      <a:pPr>
                        <a:lnSpc>
                          <a:spcPct val="107000"/>
                        </a:lnSpc>
                        <a:spcAft>
                          <a:spcPts val="800"/>
                        </a:spcAft>
                      </a:pPr>
                      <a:r>
                        <a:rPr lang="en-CA" sz="2400" b="0" dirty="0">
                          <a:solidFill>
                            <a:schemeClr val="tx1"/>
                          </a:solidFill>
                          <a:effectLst/>
                        </a:rPr>
                        <a:t>Link</a:t>
                      </a:r>
                      <a:endParaRPr lang="en-CA" sz="2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11+8+13+10 = 42</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8919507"/>
                  </a:ext>
                </a:extLst>
              </a:tr>
              <a:tr h="314166">
                <a:tc>
                  <a:txBody>
                    <a:bodyPr/>
                    <a:lstStyle/>
                    <a:p>
                      <a:pPr>
                        <a:lnSpc>
                          <a:spcPct val="107000"/>
                        </a:lnSpc>
                        <a:spcAft>
                          <a:spcPts val="800"/>
                        </a:spcAft>
                      </a:pPr>
                      <a:r>
                        <a:rPr lang="en-CA" sz="2400" b="0" dirty="0" err="1">
                          <a:solidFill>
                            <a:schemeClr val="tx1"/>
                          </a:solidFill>
                          <a:effectLst/>
                        </a:rPr>
                        <a:t>Etc</a:t>
                      </a:r>
                      <a:r>
                        <a:rPr lang="en-CA" sz="2400" b="0" dirty="0">
                          <a:solidFill>
                            <a:schemeClr val="tx1"/>
                          </a:solidFill>
                          <a:effectLst/>
                        </a:rPr>
                        <a:t>…</a:t>
                      </a:r>
                      <a:endParaRPr lang="en-CA" sz="2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8723590"/>
                  </a:ext>
                </a:extLst>
              </a:tr>
            </a:tbl>
          </a:graphicData>
        </a:graphic>
      </p:graphicFrame>
    </p:spTree>
    <p:extLst>
      <p:ext uri="{BB962C8B-B14F-4D97-AF65-F5344CB8AC3E}">
        <p14:creationId xmlns:p14="http://schemas.microsoft.com/office/powerpoint/2010/main" val="115838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64FFB-29D2-4A60-ABE5-E2E49B5F8A13}"/>
              </a:ext>
            </a:extLst>
          </p:cNvPr>
          <p:cNvSpPr>
            <a:spLocks noGrp="1"/>
          </p:cNvSpPr>
          <p:nvPr>
            <p:ph type="title"/>
          </p:nvPr>
        </p:nvSpPr>
        <p:spPr/>
        <p:txBody>
          <a:bodyPr/>
          <a:lstStyle/>
          <a:p>
            <a:r>
              <a:rPr lang="en-US" dirty="0"/>
              <a:t>Polynomial Hashing</a:t>
            </a:r>
            <a:endParaRPr lang="en-CA" dirty="0"/>
          </a:p>
        </p:txBody>
      </p:sp>
      <p:sp>
        <p:nvSpPr>
          <p:cNvPr id="3" name="Content Placeholder 2">
            <a:extLst>
              <a:ext uri="{FF2B5EF4-FFF2-40B4-BE49-F238E27FC236}">
                <a16:creationId xmlns:a16="http://schemas.microsoft.com/office/drawing/2014/main" id="{AC5E9ABC-4275-4A65-A2F3-991389EF7DD5}"/>
              </a:ext>
            </a:extLst>
          </p:cNvPr>
          <p:cNvSpPr>
            <a:spLocks noGrp="1"/>
          </p:cNvSpPr>
          <p:nvPr>
            <p:ph idx="1"/>
          </p:nvPr>
        </p:nvSpPr>
        <p:spPr/>
        <p:txBody>
          <a:bodyPr>
            <a:normAutofit fontScale="92500" lnSpcReduction="10000"/>
          </a:bodyPr>
          <a:lstStyle/>
          <a:p>
            <a:r>
              <a:rPr lang="en-US" dirty="0"/>
              <a:t>Avoids problems from simple summation</a:t>
            </a:r>
          </a:p>
          <a:p>
            <a:pPr lvl="1"/>
            <a:r>
              <a:rPr lang="en-US" dirty="0"/>
              <a:t>Each character value is multiplied by the power of a constant value (the multiplier)</a:t>
            </a:r>
          </a:p>
          <a:p>
            <a:pPr lvl="2"/>
            <a:r>
              <a:rPr lang="en-US" dirty="0"/>
              <a:t>Uses the position of each character along with alphabet hashing</a:t>
            </a:r>
          </a:p>
          <a:p>
            <a:pPr lvl="2"/>
            <a:r>
              <a:rPr lang="en-US" dirty="0"/>
              <a:t>Always produces an unique hash code!</a:t>
            </a:r>
          </a:p>
          <a:p>
            <a:pPr lvl="1"/>
            <a:r>
              <a:rPr lang="en-US" altLang="en-US" sz="2400" dirty="0">
                <a:solidFill>
                  <a:schemeClr val="tx1"/>
                </a:solidFill>
                <a:latin typeface="Verdana" panose="020B0604030504040204" pitchFamily="34" charset="0"/>
                <a:ea typeface="Verdana" panose="020B0604030504040204" pitchFamily="34" charset="0"/>
              </a:rPr>
              <a:t>Function: x</a:t>
            </a:r>
            <a:r>
              <a:rPr lang="en-US" altLang="en-US" sz="2400" baseline="-25000" dirty="0">
                <a:solidFill>
                  <a:schemeClr val="tx1"/>
                </a:solidFill>
                <a:latin typeface="Verdana" panose="020B0604030504040204" pitchFamily="34" charset="0"/>
                <a:ea typeface="Verdana" panose="020B0604030504040204" pitchFamily="34" charset="0"/>
              </a:rPr>
              <a:t>0</a:t>
            </a:r>
            <a:r>
              <a:rPr lang="en-US" altLang="en-US" sz="2400" dirty="0">
                <a:solidFill>
                  <a:schemeClr val="tx1"/>
                </a:solidFill>
                <a:latin typeface="Verdana" panose="020B0604030504040204" pitchFamily="34" charset="0"/>
                <a:ea typeface="Verdana" panose="020B0604030504040204" pitchFamily="34" charset="0"/>
              </a:rPr>
              <a:t>a</a:t>
            </a:r>
            <a:r>
              <a:rPr lang="en-US" altLang="en-US" sz="2400" baseline="30000" dirty="0">
                <a:solidFill>
                  <a:schemeClr val="tx1"/>
                </a:solidFill>
                <a:latin typeface="Verdana" panose="020B0604030504040204" pitchFamily="34" charset="0"/>
                <a:ea typeface="Verdana" panose="020B0604030504040204" pitchFamily="34" charset="0"/>
              </a:rPr>
              <a:t>k-1</a:t>
            </a:r>
            <a:r>
              <a:rPr lang="en-US" altLang="en-US" sz="2400" dirty="0">
                <a:solidFill>
                  <a:schemeClr val="tx1"/>
                </a:solidFill>
                <a:latin typeface="Verdana" panose="020B0604030504040204" pitchFamily="34" charset="0"/>
                <a:ea typeface="Verdana" panose="020B0604030504040204" pitchFamily="34" charset="0"/>
              </a:rPr>
              <a:t> + x</a:t>
            </a:r>
            <a:r>
              <a:rPr lang="en-US" altLang="en-US" sz="2400" baseline="-25000" dirty="0">
                <a:solidFill>
                  <a:schemeClr val="tx1"/>
                </a:solidFill>
                <a:latin typeface="Verdana" panose="020B0604030504040204" pitchFamily="34" charset="0"/>
                <a:ea typeface="Verdana" panose="020B0604030504040204" pitchFamily="34" charset="0"/>
              </a:rPr>
              <a:t>1</a:t>
            </a:r>
            <a:r>
              <a:rPr lang="en-US" altLang="en-US" sz="2400" dirty="0">
                <a:solidFill>
                  <a:schemeClr val="tx1"/>
                </a:solidFill>
                <a:latin typeface="Verdana" panose="020B0604030504040204" pitchFamily="34" charset="0"/>
                <a:ea typeface="Verdana" panose="020B0604030504040204" pitchFamily="34" charset="0"/>
              </a:rPr>
              <a:t>a</a:t>
            </a:r>
            <a:r>
              <a:rPr lang="en-US" altLang="en-US" sz="2400" baseline="30000" dirty="0">
                <a:solidFill>
                  <a:schemeClr val="tx1"/>
                </a:solidFill>
                <a:latin typeface="Verdana" panose="020B0604030504040204" pitchFamily="34" charset="0"/>
                <a:ea typeface="Verdana" panose="020B0604030504040204" pitchFamily="34" charset="0"/>
              </a:rPr>
              <a:t>k-2</a:t>
            </a:r>
            <a:r>
              <a:rPr lang="en-US" altLang="en-US" sz="2400" dirty="0">
                <a:solidFill>
                  <a:schemeClr val="tx1"/>
                </a:solidFill>
                <a:latin typeface="Verdana" panose="020B0604030504040204" pitchFamily="34" charset="0"/>
                <a:ea typeface="Verdana" panose="020B0604030504040204" pitchFamily="34" charset="0"/>
              </a:rPr>
              <a:t> …. X</a:t>
            </a:r>
            <a:r>
              <a:rPr lang="en-US" altLang="en-US" sz="2400" baseline="-25000" dirty="0">
                <a:solidFill>
                  <a:schemeClr val="tx1"/>
                </a:solidFill>
                <a:latin typeface="Verdana" panose="020B0604030504040204" pitchFamily="34" charset="0"/>
                <a:ea typeface="Verdana" panose="020B0604030504040204" pitchFamily="34" charset="0"/>
              </a:rPr>
              <a:t>k-2</a:t>
            </a:r>
            <a:r>
              <a:rPr lang="en-US" altLang="en-US" sz="2400" dirty="0">
                <a:solidFill>
                  <a:schemeClr val="tx1"/>
                </a:solidFill>
                <a:latin typeface="Verdana" panose="020B0604030504040204" pitchFamily="34" charset="0"/>
                <a:ea typeface="Verdana" panose="020B0604030504040204" pitchFamily="34" charset="0"/>
              </a:rPr>
              <a:t>a + x</a:t>
            </a:r>
            <a:r>
              <a:rPr lang="en-US" altLang="en-US" sz="2400" baseline="-25000" dirty="0">
                <a:solidFill>
                  <a:schemeClr val="tx1"/>
                </a:solidFill>
                <a:latin typeface="Verdana" panose="020B0604030504040204" pitchFamily="34" charset="0"/>
                <a:ea typeface="Verdana" panose="020B0604030504040204" pitchFamily="34" charset="0"/>
              </a:rPr>
              <a:t>k-1</a:t>
            </a:r>
          </a:p>
          <a:p>
            <a:pPr lvl="5"/>
            <a:endParaRPr lang="en-US" dirty="0"/>
          </a:p>
          <a:p>
            <a:r>
              <a:rPr lang="en-US" dirty="0"/>
              <a:t>E.g. multiplier = 7</a:t>
            </a:r>
          </a:p>
          <a:p>
            <a:pPr marL="457200" lvl="1" indent="0">
              <a:buNone/>
            </a:pPr>
            <a:r>
              <a:rPr lang="en-CA" dirty="0">
                <a:effectLst/>
                <a:latin typeface="Verdana" panose="020B0604030504040204" pitchFamily="34" charset="0"/>
                <a:ea typeface="Verdana" panose="020B0604030504040204" pitchFamily="34" charset="0"/>
                <a:cs typeface="Times New Roman" panose="02020603050405020304" pitchFamily="18" charset="0"/>
              </a:rPr>
              <a:t>	STOP = (18*7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3</a:t>
            </a:r>
            <a:r>
              <a:rPr lang="en-CA" dirty="0">
                <a:effectLst/>
                <a:latin typeface="Verdana" panose="020B0604030504040204" pitchFamily="34" charset="0"/>
                <a:ea typeface="Verdana" panose="020B0604030504040204" pitchFamily="34" charset="0"/>
                <a:cs typeface="Times New Roman" panose="02020603050405020304" pitchFamily="18" charset="0"/>
              </a:rPr>
              <a:t>)+(19*7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2</a:t>
            </a:r>
            <a:r>
              <a:rPr lang="en-CA" dirty="0">
                <a:effectLst/>
                <a:latin typeface="Verdana" panose="020B0604030504040204" pitchFamily="34" charset="0"/>
                <a:ea typeface="Verdana" panose="020B0604030504040204" pitchFamily="34" charset="0"/>
                <a:cs typeface="Times New Roman" panose="02020603050405020304" pitchFamily="18" charset="0"/>
              </a:rPr>
              <a:t>)+(14*7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1</a:t>
            </a:r>
            <a:r>
              <a:rPr lang="en-CA" dirty="0">
                <a:effectLst/>
                <a:latin typeface="Verdana" panose="020B0604030504040204" pitchFamily="34" charset="0"/>
                <a:ea typeface="Verdana" panose="020B0604030504040204" pitchFamily="34" charset="0"/>
                <a:cs typeface="Times New Roman" panose="02020603050405020304" pitchFamily="18" charset="0"/>
              </a:rPr>
              <a:t>)+(15*7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0</a:t>
            </a:r>
            <a:r>
              <a:rPr lang="en-CA" dirty="0">
                <a:effectLst/>
                <a:latin typeface="Verdana" panose="020B0604030504040204" pitchFamily="34" charset="0"/>
                <a:ea typeface="Verdana" panose="020B0604030504040204" pitchFamily="34" charset="0"/>
                <a:cs typeface="Times New Roman" panose="02020603050405020304" pitchFamily="18" charset="0"/>
              </a:rPr>
              <a:t>)</a:t>
            </a:r>
          </a:p>
          <a:p>
            <a:pPr marL="457200" lvl="1" indent="0">
              <a:buNone/>
            </a:pPr>
            <a:r>
              <a:rPr lang="en-CA" dirty="0">
                <a:effectLst/>
                <a:latin typeface="Verdana" panose="020B0604030504040204" pitchFamily="34" charset="0"/>
                <a:ea typeface="Verdana" panose="020B0604030504040204" pitchFamily="34" charset="0"/>
                <a:cs typeface="Times New Roman" panose="02020603050405020304" pitchFamily="18" charset="0"/>
              </a:rPr>
              <a:t>	TOPS = (19*7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3</a:t>
            </a:r>
            <a:r>
              <a:rPr lang="en-CA" dirty="0">
                <a:effectLst/>
                <a:latin typeface="Verdana" panose="020B0604030504040204" pitchFamily="34" charset="0"/>
                <a:ea typeface="Verdana" panose="020B0604030504040204" pitchFamily="34" charset="0"/>
                <a:cs typeface="Times New Roman" panose="02020603050405020304" pitchFamily="18" charset="0"/>
              </a:rPr>
              <a:t>)+(14*7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2</a:t>
            </a:r>
            <a:r>
              <a:rPr lang="en-CA" dirty="0">
                <a:effectLst/>
                <a:latin typeface="Verdana" panose="020B0604030504040204" pitchFamily="34" charset="0"/>
                <a:ea typeface="Verdana" panose="020B0604030504040204" pitchFamily="34" charset="0"/>
                <a:cs typeface="Times New Roman" panose="02020603050405020304" pitchFamily="18" charset="0"/>
              </a:rPr>
              <a:t>)+(15*7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1</a:t>
            </a:r>
            <a:r>
              <a:rPr lang="en-CA" dirty="0">
                <a:effectLst/>
                <a:latin typeface="Verdana" panose="020B0604030504040204" pitchFamily="34" charset="0"/>
                <a:ea typeface="Verdana" panose="020B0604030504040204" pitchFamily="34" charset="0"/>
                <a:cs typeface="Times New Roman" panose="02020603050405020304" pitchFamily="18" charset="0"/>
              </a:rPr>
              <a:t>)+(18*7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0</a:t>
            </a:r>
            <a:r>
              <a:rPr lang="en-CA" dirty="0">
                <a:effectLst/>
                <a:latin typeface="Verdana" panose="020B0604030504040204" pitchFamily="34" charset="0"/>
                <a:ea typeface="Verdana" panose="020B0604030504040204" pitchFamily="34" charset="0"/>
                <a:cs typeface="Times New Roman" panose="02020603050405020304" pitchFamily="18" charset="0"/>
              </a:rPr>
              <a:t>)</a:t>
            </a:r>
          </a:p>
          <a:p>
            <a:pPr marL="457200" lvl="1" indent="0">
              <a:buNone/>
            </a:pPr>
            <a:r>
              <a:rPr lang="en-CA" dirty="0">
                <a:effectLst/>
                <a:latin typeface="Verdana" panose="020B0604030504040204" pitchFamily="34" charset="0"/>
                <a:ea typeface="Verdana" panose="020B0604030504040204" pitchFamily="34" charset="0"/>
                <a:cs typeface="Times New Roman" panose="02020603050405020304" pitchFamily="18" charset="0"/>
              </a:rPr>
              <a:t>	POTS = (15*7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3</a:t>
            </a:r>
            <a:r>
              <a:rPr lang="en-CA" dirty="0">
                <a:effectLst/>
                <a:latin typeface="Verdana" panose="020B0604030504040204" pitchFamily="34" charset="0"/>
                <a:ea typeface="Verdana" panose="020B0604030504040204" pitchFamily="34" charset="0"/>
                <a:cs typeface="Times New Roman" panose="02020603050405020304" pitchFamily="18" charset="0"/>
              </a:rPr>
              <a:t>)+(14*7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2</a:t>
            </a:r>
            <a:r>
              <a:rPr lang="en-CA" dirty="0">
                <a:effectLst/>
                <a:latin typeface="Verdana" panose="020B0604030504040204" pitchFamily="34" charset="0"/>
                <a:ea typeface="Verdana" panose="020B0604030504040204" pitchFamily="34" charset="0"/>
                <a:cs typeface="Times New Roman" panose="02020603050405020304" pitchFamily="18" charset="0"/>
              </a:rPr>
              <a:t>)+(19*7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1</a:t>
            </a:r>
            <a:r>
              <a:rPr lang="en-CA" dirty="0">
                <a:effectLst/>
                <a:latin typeface="Verdana" panose="020B0604030504040204" pitchFamily="34" charset="0"/>
                <a:ea typeface="Verdana" panose="020B0604030504040204" pitchFamily="34" charset="0"/>
                <a:cs typeface="Times New Roman" panose="02020603050405020304" pitchFamily="18" charset="0"/>
              </a:rPr>
              <a:t>)+(18*7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0</a:t>
            </a:r>
            <a:r>
              <a:rPr lang="en-CA" dirty="0">
                <a:effectLst/>
                <a:latin typeface="Verdana" panose="020B0604030504040204" pitchFamily="34" charset="0"/>
                <a:ea typeface="Verdana" panose="020B0604030504040204" pitchFamily="34" charset="0"/>
                <a:cs typeface="Times New Roman" panose="02020603050405020304" pitchFamily="18" charset="0"/>
              </a:rPr>
              <a:t>)</a:t>
            </a:r>
          </a:p>
          <a:p>
            <a:pPr marL="457200" lvl="1" indent="0">
              <a:buNone/>
            </a:pPr>
            <a:r>
              <a:rPr lang="en-CA" dirty="0">
                <a:effectLst/>
                <a:latin typeface="Verdana" panose="020B0604030504040204" pitchFamily="34" charset="0"/>
                <a:ea typeface="Verdana" panose="020B0604030504040204" pitchFamily="34" charset="0"/>
                <a:cs typeface="Times New Roman" panose="02020603050405020304" pitchFamily="18" charset="0"/>
              </a:rPr>
              <a:t>	SPOT = (18*7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3</a:t>
            </a:r>
            <a:r>
              <a:rPr lang="en-CA" dirty="0">
                <a:effectLst/>
                <a:latin typeface="Verdana" panose="020B0604030504040204" pitchFamily="34" charset="0"/>
                <a:ea typeface="Verdana" panose="020B0604030504040204" pitchFamily="34" charset="0"/>
                <a:cs typeface="Times New Roman" panose="02020603050405020304" pitchFamily="18" charset="0"/>
              </a:rPr>
              <a:t>)+(15*7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2</a:t>
            </a:r>
            <a:r>
              <a:rPr lang="en-CA" dirty="0">
                <a:effectLst/>
                <a:latin typeface="Verdana" panose="020B0604030504040204" pitchFamily="34" charset="0"/>
                <a:ea typeface="Verdana" panose="020B0604030504040204" pitchFamily="34" charset="0"/>
                <a:cs typeface="Times New Roman" panose="02020603050405020304" pitchFamily="18" charset="0"/>
              </a:rPr>
              <a:t>)+(14*7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1</a:t>
            </a:r>
            <a:r>
              <a:rPr lang="en-CA" dirty="0">
                <a:effectLst/>
                <a:latin typeface="Verdana" panose="020B0604030504040204" pitchFamily="34" charset="0"/>
                <a:ea typeface="Verdana" panose="020B0604030504040204" pitchFamily="34" charset="0"/>
                <a:cs typeface="Times New Roman" panose="02020603050405020304" pitchFamily="18" charset="0"/>
              </a:rPr>
              <a:t>)+(19*7</a:t>
            </a:r>
            <a:r>
              <a:rPr lang="en-CA" baseline="30000" dirty="0">
                <a:effectLst/>
                <a:latin typeface="Verdana" panose="020B0604030504040204" pitchFamily="34" charset="0"/>
                <a:ea typeface="Verdana" panose="020B0604030504040204" pitchFamily="34" charset="0"/>
                <a:cs typeface="Times New Roman" panose="02020603050405020304" pitchFamily="18" charset="0"/>
              </a:rPr>
              <a:t>0</a:t>
            </a:r>
            <a:r>
              <a:rPr lang="en-CA" dirty="0">
                <a:effectLst/>
                <a:latin typeface="Verdana" panose="020B0604030504040204" pitchFamily="34" charset="0"/>
                <a:ea typeface="Verdana" panose="020B0604030504040204" pitchFamily="34" charset="0"/>
                <a:cs typeface="Times New Roman" panose="02020603050405020304" pitchFamily="18" charset="0"/>
              </a:rPr>
              <a:t>)</a:t>
            </a:r>
          </a:p>
          <a:p>
            <a:pPr lvl="1"/>
            <a:r>
              <a:rPr lang="en-CA" sz="2000" dirty="0">
                <a:effectLst/>
                <a:latin typeface="Verdana" panose="020B0604030504040204" pitchFamily="34" charset="0"/>
                <a:ea typeface="Verdana" panose="020B0604030504040204" pitchFamily="34" charset="0"/>
                <a:cs typeface="Times New Roman" panose="02020603050405020304" pitchFamily="18" charset="0"/>
              </a:rPr>
              <a:t>Studies have shown that 33, 37, 39 and 41 are good multipliers</a:t>
            </a:r>
          </a:p>
        </p:txBody>
      </p:sp>
    </p:spTree>
    <p:extLst>
      <p:ext uri="{BB962C8B-B14F-4D97-AF65-F5344CB8AC3E}">
        <p14:creationId xmlns:p14="http://schemas.microsoft.com/office/powerpoint/2010/main" val="1797582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91A61-D35F-475A-A9CE-EFF5F1E4CFBB}"/>
              </a:ext>
            </a:extLst>
          </p:cNvPr>
          <p:cNvSpPr>
            <a:spLocks noGrp="1"/>
          </p:cNvSpPr>
          <p:nvPr>
            <p:ph type="title"/>
          </p:nvPr>
        </p:nvSpPr>
        <p:spPr/>
        <p:txBody>
          <a:bodyPr/>
          <a:lstStyle/>
          <a:p>
            <a:r>
              <a:rPr lang="en-US" dirty="0"/>
              <a:t>Compression Mapping</a:t>
            </a:r>
            <a:endParaRPr lang="en-CA" dirty="0"/>
          </a:p>
        </p:txBody>
      </p:sp>
      <p:sp>
        <p:nvSpPr>
          <p:cNvPr id="3" name="Content Placeholder 2">
            <a:extLst>
              <a:ext uri="{FF2B5EF4-FFF2-40B4-BE49-F238E27FC236}">
                <a16:creationId xmlns:a16="http://schemas.microsoft.com/office/drawing/2014/main" id="{7F7A7BE9-1433-479C-B470-7D026D36F93C}"/>
              </a:ext>
            </a:extLst>
          </p:cNvPr>
          <p:cNvSpPr>
            <a:spLocks noGrp="1"/>
          </p:cNvSpPr>
          <p:nvPr>
            <p:ph idx="1"/>
          </p:nvPr>
        </p:nvSpPr>
        <p:spPr/>
        <p:txBody>
          <a:bodyPr>
            <a:normAutofit lnSpcReduction="10000"/>
          </a:bodyPr>
          <a:lstStyle/>
          <a:p>
            <a:r>
              <a:rPr lang="en-US" dirty="0"/>
              <a:t>Choose a size for the hash table and desired packing density</a:t>
            </a:r>
          </a:p>
          <a:p>
            <a:pPr lvl="1"/>
            <a:r>
              <a:rPr lang="en-US" dirty="0"/>
              <a:t>Based on the hash codes that was calculated</a:t>
            </a:r>
          </a:p>
          <a:p>
            <a:pPr lvl="1"/>
            <a:r>
              <a:rPr lang="en-CA" dirty="0"/>
              <a:t>E.g. in our phone book example, we wanted 100% packing density so we want all hash codes to convert into index range 0 to 4 for a hash table of size 5</a:t>
            </a:r>
          </a:p>
          <a:p>
            <a:pPr lvl="2"/>
            <a:r>
              <a:rPr lang="en-CA" dirty="0"/>
              <a:t>No flexibility</a:t>
            </a:r>
          </a:p>
          <a:p>
            <a:pPr lvl="5"/>
            <a:endParaRPr lang="en-CA" dirty="0"/>
          </a:p>
          <a:p>
            <a:r>
              <a:rPr lang="en-CA" dirty="0"/>
              <a:t>Determine the load factor to calculate the size of the hash table</a:t>
            </a:r>
          </a:p>
          <a:p>
            <a:pPr lvl="1"/>
            <a:r>
              <a:rPr lang="en-CA" dirty="0"/>
              <a:t>E.g. 70 elements, load factor = 70%</a:t>
            </a:r>
          </a:p>
          <a:p>
            <a:pPr lvl="2"/>
            <a:r>
              <a:rPr lang="en-CA" dirty="0"/>
              <a:t>(70*100%)/70% = 100, thus the hash table is size 100</a:t>
            </a:r>
          </a:p>
        </p:txBody>
      </p:sp>
    </p:spTree>
    <p:extLst>
      <p:ext uri="{BB962C8B-B14F-4D97-AF65-F5344CB8AC3E}">
        <p14:creationId xmlns:p14="http://schemas.microsoft.com/office/powerpoint/2010/main" val="2555411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D268E-C11D-42B3-87DE-7B5F811721AB}"/>
              </a:ext>
            </a:extLst>
          </p:cNvPr>
          <p:cNvSpPr>
            <a:spLocks noGrp="1"/>
          </p:cNvSpPr>
          <p:nvPr>
            <p:ph type="title"/>
          </p:nvPr>
        </p:nvSpPr>
        <p:spPr/>
        <p:txBody>
          <a:bodyPr/>
          <a:lstStyle/>
          <a:p>
            <a:r>
              <a:rPr lang="en-US" dirty="0"/>
              <a:t>Phone Book Example</a:t>
            </a:r>
            <a:endParaRPr lang="en-CA" dirty="0"/>
          </a:p>
        </p:txBody>
      </p:sp>
      <p:sp>
        <p:nvSpPr>
          <p:cNvPr id="3" name="Content Placeholder 2">
            <a:extLst>
              <a:ext uri="{FF2B5EF4-FFF2-40B4-BE49-F238E27FC236}">
                <a16:creationId xmlns:a16="http://schemas.microsoft.com/office/drawing/2014/main" id="{DD7D0646-D69C-481D-BD13-D2488F016D16}"/>
              </a:ext>
            </a:extLst>
          </p:cNvPr>
          <p:cNvSpPr>
            <a:spLocks noGrp="1"/>
          </p:cNvSpPr>
          <p:nvPr>
            <p:ph idx="1"/>
          </p:nvPr>
        </p:nvSpPr>
        <p:spPr/>
        <p:txBody>
          <a:bodyPr/>
          <a:lstStyle/>
          <a:p>
            <a:r>
              <a:rPr lang="en-US" dirty="0"/>
              <a:t>5 elements, load factor = 70%</a:t>
            </a:r>
          </a:p>
          <a:p>
            <a:pPr lvl="1"/>
            <a:r>
              <a:rPr lang="en-US" dirty="0"/>
              <a:t>(5*100%)/70% = 7.1428… …</a:t>
            </a:r>
          </a:p>
          <a:p>
            <a:pPr lvl="1"/>
            <a:r>
              <a:rPr lang="en-US" dirty="0"/>
              <a:t>Use floor of value (since arrays must be </a:t>
            </a:r>
            <a:r>
              <a:rPr lang="en-US" dirty="0" err="1"/>
              <a:t>ints</a:t>
            </a:r>
            <a:r>
              <a:rPr lang="en-US" dirty="0"/>
              <a:t>) = 7</a:t>
            </a:r>
          </a:p>
          <a:p>
            <a:pPr lvl="1"/>
            <a:r>
              <a:rPr lang="en-US" dirty="0"/>
              <a:t>So we will have a hash table of size 7</a:t>
            </a:r>
          </a:p>
          <a:p>
            <a:pPr lvl="6"/>
            <a:endParaRPr lang="en-US" dirty="0"/>
          </a:p>
          <a:p>
            <a:r>
              <a:rPr lang="en-US" dirty="0"/>
              <a:t>Assuming basic alphabet hash and modulo reduction</a:t>
            </a:r>
          </a:p>
        </p:txBody>
      </p:sp>
      <p:graphicFrame>
        <p:nvGraphicFramePr>
          <p:cNvPr id="4" name="Table 3">
            <a:extLst>
              <a:ext uri="{FF2B5EF4-FFF2-40B4-BE49-F238E27FC236}">
                <a16:creationId xmlns:a16="http://schemas.microsoft.com/office/drawing/2014/main" id="{8386EF2B-503A-4196-9A2C-5E6CA7848FCF}"/>
              </a:ext>
            </a:extLst>
          </p:cNvPr>
          <p:cNvGraphicFramePr>
            <a:graphicFrameLocks noGrp="1"/>
          </p:cNvGraphicFramePr>
          <p:nvPr>
            <p:extLst>
              <p:ext uri="{D42A27DB-BD31-4B8C-83A1-F6EECF244321}">
                <p14:modId xmlns:p14="http://schemas.microsoft.com/office/powerpoint/2010/main" val="3595448516"/>
              </p:ext>
            </p:extLst>
          </p:nvPr>
        </p:nvGraphicFramePr>
        <p:xfrm>
          <a:off x="1356360" y="4307015"/>
          <a:ext cx="9479279" cy="1869948"/>
        </p:xfrm>
        <a:graphic>
          <a:graphicData uri="http://schemas.openxmlformats.org/drawingml/2006/table">
            <a:tbl>
              <a:tblPr firstRow="1" firstCol="1" bandRow="1">
                <a:tableStyleId>{5C22544A-7EE6-4342-B048-85BDC9FD1C3A}</a:tableStyleId>
              </a:tblPr>
              <a:tblGrid>
                <a:gridCol w="2033237">
                  <a:extLst>
                    <a:ext uri="{9D8B030D-6E8A-4147-A177-3AD203B41FA5}">
                      <a16:colId xmlns:a16="http://schemas.microsoft.com/office/drawing/2014/main" val="673450982"/>
                    </a:ext>
                  </a:extLst>
                </a:gridCol>
                <a:gridCol w="1552402">
                  <a:extLst>
                    <a:ext uri="{9D8B030D-6E8A-4147-A177-3AD203B41FA5}">
                      <a16:colId xmlns:a16="http://schemas.microsoft.com/office/drawing/2014/main" val="2415858185"/>
                    </a:ext>
                  </a:extLst>
                </a:gridCol>
                <a:gridCol w="2486595">
                  <a:extLst>
                    <a:ext uri="{9D8B030D-6E8A-4147-A177-3AD203B41FA5}">
                      <a16:colId xmlns:a16="http://schemas.microsoft.com/office/drawing/2014/main" val="3225688467"/>
                    </a:ext>
                  </a:extLst>
                </a:gridCol>
                <a:gridCol w="3407045">
                  <a:extLst>
                    <a:ext uri="{9D8B030D-6E8A-4147-A177-3AD203B41FA5}">
                      <a16:colId xmlns:a16="http://schemas.microsoft.com/office/drawing/2014/main" val="2791254900"/>
                    </a:ext>
                  </a:extLst>
                </a:gridCol>
              </a:tblGrid>
              <a:tr h="273711">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Name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Hash Code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Compression</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tc>
                <a:extLst>
                  <a:ext uri="{0D108BD9-81ED-4DB2-BD59-A6C34878D82A}">
                    <a16:rowId xmlns:a16="http://schemas.microsoft.com/office/drawing/2014/main" val="3179025693"/>
                  </a:ext>
                </a:extLst>
              </a:tr>
              <a:tr h="273711">
                <a:tc>
                  <a:txBody>
                    <a:bodyPr/>
                    <a:lstStyle/>
                    <a:p>
                      <a:pPr>
                        <a:lnSpc>
                          <a:spcPct val="107000"/>
                        </a:lnSpc>
                        <a:spcAft>
                          <a:spcPts val="800"/>
                        </a:spcAft>
                      </a:pPr>
                      <a:r>
                        <a:rPr lang="en-CA" sz="2000" b="0" dirty="0" err="1">
                          <a:solidFill>
                            <a:schemeClr val="tx1"/>
                          </a:solidFill>
                          <a:effectLst/>
                        </a:rPr>
                        <a:t>Dampe</a:t>
                      </a:r>
                      <a:r>
                        <a:rPr lang="en-CA" sz="2000" b="0" dirty="0">
                          <a:solidFill>
                            <a:schemeClr val="tx1"/>
                          </a:solidFill>
                          <a:effectLst/>
                        </a:rPr>
                        <a:t> </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D = 3</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3 % 7 = 3</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Array[3] = 403-555-1234</a:t>
                      </a:r>
                    </a:p>
                  </a:txBody>
                  <a:tcPr marL="68580" marR="68580" marT="0" marB="0"/>
                </a:tc>
                <a:extLst>
                  <a:ext uri="{0D108BD9-81ED-4DB2-BD59-A6C34878D82A}">
                    <a16:rowId xmlns:a16="http://schemas.microsoft.com/office/drawing/2014/main" val="219784260"/>
                  </a:ext>
                </a:extLst>
              </a:tr>
              <a:tr h="273711">
                <a:tc>
                  <a:txBody>
                    <a:bodyPr/>
                    <a:lstStyle/>
                    <a:p>
                      <a:pPr>
                        <a:lnSpc>
                          <a:spcPct val="107000"/>
                        </a:lnSpc>
                        <a:spcAft>
                          <a:spcPts val="800"/>
                        </a:spcAft>
                      </a:pPr>
                      <a:r>
                        <a:rPr lang="en-CA" sz="2000" b="0" dirty="0" err="1">
                          <a:solidFill>
                            <a:schemeClr val="tx1"/>
                          </a:solidFill>
                          <a:effectLst/>
                        </a:rPr>
                        <a:t>Josha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J = 9</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9 % 7 = 2</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Array[2] = 403-111-1111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3051094"/>
                  </a:ext>
                </a:extLst>
              </a:tr>
              <a:tr h="273711">
                <a:tc>
                  <a:txBody>
                    <a:bodyPr/>
                    <a:lstStyle/>
                    <a:p>
                      <a:pPr>
                        <a:lnSpc>
                          <a:spcPct val="107000"/>
                        </a:lnSpc>
                        <a:spcAft>
                          <a:spcPts val="800"/>
                        </a:spcAft>
                      </a:pPr>
                      <a:r>
                        <a:rPr lang="en-CA" sz="2000" b="0" dirty="0">
                          <a:solidFill>
                            <a:schemeClr val="tx1"/>
                          </a:solidFill>
                          <a:effectLst/>
                        </a:rPr>
                        <a:t>Link</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 = 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11 % 7 = 4</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Array[4] = 403-123-4567</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8919507"/>
                  </a:ext>
                </a:extLst>
              </a:tr>
              <a:tr h="273711">
                <a:tc>
                  <a:txBody>
                    <a:bodyPr/>
                    <a:lstStyle/>
                    <a:p>
                      <a:pPr>
                        <a:lnSpc>
                          <a:spcPct val="107000"/>
                        </a:lnSpc>
                        <a:spcAft>
                          <a:spcPts val="800"/>
                        </a:spcAft>
                      </a:pPr>
                      <a:r>
                        <a:rPr lang="en-CA" sz="2000" b="0" dirty="0" err="1">
                          <a:solidFill>
                            <a:schemeClr val="tx1"/>
                          </a:solidFill>
                          <a:effectLst/>
                        </a:rPr>
                        <a:t>Midna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M = 12</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12 % 7 = 5</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Array[5] = 587-111-1111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8723590"/>
                  </a:ext>
                </a:extLst>
              </a:tr>
              <a:tr h="273711">
                <a:tc>
                  <a:txBody>
                    <a:bodyPr/>
                    <a:lstStyle/>
                    <a:p>
                      <a:pPr>
                        <a:lnSpc>
                          <a:spcPct val="107000"/>
                        </a:lnSpc>
                        <a:spcAft>
                          <a:spcPts val="800"/>
                        </a:spcAft>
                      </a:pPr>
                      <a:r>
                        <a:rPr lang="en-CA" sz="2000" b="0" dirty="0">
                          <a:solidFill>
                            <a:schemeClr val="tx1"/>
                          </a:solidFill>
                          <a:effectLst/>
                        </a:rPr>
                        <a:t>Princess Zelda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P = 15</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15 % 7 = 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Array[1] = 780-555-1234</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5074069"/>
                  </a:ext>
                </a:extLst>
              </a:tr>
            </a:tbl>
          </a:graphicData>
        </a:graphic>
      </p:graphicFrame>
    </p:spTree>
    <p:extLst>
      <p:ext uri="{BB962C8B-B14F-4D97-AF65-F5344CB8AC3E}">
        <p14:creationId xmlns:p14="http://schemas.microsoft.com/office/powerpoint/2010/main" val="2191563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A0406-0EA4-42C7-BF91-DEBD2D9A1E10}"/>
              </a:ext>
            </a:extLst>
          </p:cNvPr>
          <p:cNvSpPr>
            <a:spLocks noGrp="1"/>
          </p:cNvSpPr>
          <p:nvPr>
            <p:ph type="title"/>
          </p:nvPr>
        </p:nvSpPr>
        <p:spPr/>
        <p:txBody>
          <a:bodyPr/>
          <a:lstStyle/>
          <a:p>
            <a:r>
              <a:rPr lang="en-US" dirty="0"/>
              <a:t>Phone Book Example</a:t>
            </a:r>
            <a:endParaRPr lang="en-CA" dirty="0"/>
          </a:p>
        </p:txBody>
      </p:sp>
      <p:sp>
        <p:nvSpPr>
          <p:cNvPr id="3" name="Content Placeholder 2">
            <a:extLst>
              <a:ext uri="{FF2B5EF4-FFF2-40B4-BE49-F238E27FC236}">
                <a16:creationId xmlns:a16="http://schemas.microsoft.com/office/drawing/2014/main" id="{851F7A2F-CA8A-452B-9533-5C96EA590818}"/>
              </a:ext>
            </a:extLst>
          </p:cNvPr>
          <p:cNvSpPr>
            <a:spLocks noGrp="1"/>
          </p:cNvSpPr>
          <p:nvPr>
            <p:ph idx="1"/>
          </p:nvPr>
        </p:nvSpPr>
        <p:spPr/>
        <p:txBody>
          <a:bodyPr>
            <a:normAutofit/>
          </a:bodyPr>
          <a:lstStyle/>
          <a:p>
            <a:r>
              <a:rPr lang="en-US" dirty="0"/>
              <a:t>Now we have some flexibility!</a:t>
            </a:r>
          </a:p>
          <a:p>
            <a:endParaRPr lang="en-US" dirty="0"/>
          </a:p>
          <a:p>
            <a:endParaRPr lang="en-US" dirty="0"/>
          </a:p>
          <a:p>
            <a:pPr lvl="1"/>
            <a:endParaRPr lang="en-US" dirty="0"/>
          </a:p>
          <a:p>
            <a:pPr lvl="2"/>
            <a:endParaRPr lang="en-US" dirty="0"/>
          </a:p>
          <a:p>
            <a:pPr lvl="2"/>
            <a:endParaRPr lang="en-US" dirty="0"/>
          </a:p>
          <a:p>
            <a:r>
              <a:rPr lang="en-CA" dirty="0"/>
              <a:t>What about more friends?</a:t>
            </a:r>
          </a:p>
          <a:p>
            <a:pPr lvl="1"/>
            <a:r>
              <a:rPr lang="en-CA" dirty="0"/>
              <a:t>Sephiroth: S = 18 % 7 = 4 </a:t>
            </a:r>
            <a:r>
              <a:rPr lang="en-CA" dirty="0">
                <a:sym typeface="Wingdings" panose="05000000000000000000" pitchFamily="2" charset="2"/>
              </a:rPr>
              <a:t></a:t>
            </a:r>
            <a:r>
              <a:rPr lang="en-CA" dirty="0"/>
              <a:t> collision!</a:t>
            </a:r>
          </a:p>
          <a:p>
            <a:pPr lvl="5"/>
            <a:endParaRPr lang="en-CA" dirty="0"/>
          </a:p>
          <a:p>
            <a:r>
              <a:rPr lang="en-CA" dirty="0"/>
              <a:t>MOD is too simple…</a:t>
            </a:r>
          </a:p>
        </p:txBody>
      </p:sp>
      <p:graphicFrame>
        <p:nvGraphicFramePr>
          <p:cNvPr id="4" name="Table 3">
            <a:extLst>
              <a:ext uri="{FF2B5EF4-FFF2-40B4-BE49-F238E27FC236}">
                <a16:creationId xmlns:a16="http://schemas.microsoft.com/office/drawing/2014/main" id="{2CBF2C90-D8CB-473F-BB5F-DF63087C0BFF}"/>
              </a:ext>
            </a:extLst>
          </p:cNvPr>
          <p:cNvGraphicFramePr>
            <a:graphicFrameLocks noGrp="1"/>
          </p:cNvGraphicFramePr>
          <p:nvPr>
            <p:extLst>
              <p:ext uri="{D42A27DB-BD31-4B8C-83A1-F6EECF244321}">
                <p14:modId xmlns:p14="http://schemas.microsoft.com/office/powerpoint/2010/main" val="2590852498"/>
              </p:ext>
            </p:extLst>
          </p:nvPr>
        </p:nvGraphicFramePr>
        <p:xfrm>
          <a:off x="1356360" y="2295335"/>
          <a:ext cx="9479279" cy="2181606"/>
        </p:xfrm>
        <a:graphic>
          <a:graphicData uri="http://schemas.openxmlformats.org/drawingml/2006/table">
            <a:tbl>
              <a:tblPr firstRow="1" firstCol="1" bandRow="1">
                <a:tableStyleId>{5C22544A-7EE6-4342-B048-85BDC9FD1C3A}</a:tableStyleId>
              </a:tblPr>
              <a:tblGrid>
                <a:gridCol w="2033237">
                  <a:extLst>
                    <a:ext uri="{9D8B030D-6E8A-4147-A177-3AD203B41FA5}">
                      <a16:colId xmlns:a16="http://schemas.microsoft.com/office/drawing/2014/main" val="673450982"/>
                    </a:ext>
                  </a:extLst>
                </a:gridCol>
                <a:gridCol w="1552402">
                  <a:extLst>
                    <a:ext uri="{9D8B030D-6E8A-4147-A177-3AD203B41FA5}">
                      <a16:colId xmlns:a16="http://schemas.microsoft.com/office/drawing/2014/main" val="2415858185"/>
                    </a:ext>
                  </a:extLst>
                </a:gridCol>
                <a:gridCol w="2486595">
                  <a:extLst>
                    <a:ext uri="{9D8B030D-6E8A-4147-A177-3AD203B41FA5}">
                      <a16:colId xmlns:a16="http://schemas.microsoft.com/office/drawing/2014/main" val="3225688467"/>
                    </a:ext>
                  </a:extLst>
                </a:gridCol>
                <a:gridCol w="3407045">
                  <a:extLst>
                    <a:ext uri="{9D8B030D-6E8A-4147-A177-3AD203B41FA5}">
                      <a16:colId xmlns:a16="http://schemas.microsoft.com/office/drawing/2014/main" val="2791254900"/>
                    </a:ext>
                  </a:extLst>
                </a:gridCol>
              </a:tblGrid>
              <a:tr h="273711">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Name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Hash Code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Compression</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tc>
                <a:extLst>
                  <a:ext uri="{0D108BD9-81ED-4DB2-BD59-A6C34878D82A}">
                    <a16:rowId xmlns:a16="http://schemas.microsoft.com/office/drawing/2014/main" val="3179025693"/>
                  </a:ext>
                </a:extLst>
              </a:tr>
              <a:tr h="273711">
                <a:tc>
                  <a:txBody>
                    <a:bodyPr/>
                    <a:lstStyle/>
                    <a:p>
                      <a:pPr>
                        <a:lnSpc>
                          <a:spcPct val="107000"/>
                        </a:lnSpc>
                        <a:spcAft>
                          <a:spcPts val="800"/>
                        </a:spcAft>
                      </a:pPr>
                      <a:r>
                        <a:rPr lang="en-CA" sz="2000" b="0" dirty="0" err="1">
                          <a:solidFill>
                            <a:schemeClr val="tx1"/>
                          </a:solidFill>
                          <a:effectLst/>
                        </a:rPr>
                        <a:t>Dampe</a:t>
                      </a:r>
                      <a:r>
                        <a:rPr lang="en-CA" sz="2000" b="0" dirty="0">
                          <a:solidFill>
                            <a:schemeClr val="tx1"/>
                          </a:solidFill>
                          <a:effectLst/>
                        </a:rPr>
                        <a:t> </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D = 3</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3 % 7 = 3</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Array[3] = 403-555-1234</a:t>
                      </a:r>
                    </a:p>
                  </a:txBody>
                  <a:tcPr marL="68580" marR="68580" marT="0" marB="0"/>
                </a:tc>
                <a:extLst>
                  <a:ext uri="{0D108BD9-81ED-4DB2-BD59-A6C34878D82A}">
                    <a16:rowId xmlns:a16="http://schemas.microsoft.com/office/drawing/2014/main" val="219784260"/>
                  </a:ext>
                </a:extLst>
              </a:tr>
              <a:tr h="273711">
                <a:tc>
                  <a:txBody>
                    <a:bodyPr/>
                    <a:lstStyle/>
                    <a:p>
                      <a:pPr>
                        <a:lnSpc>
                          <a:spcPct val="107000"/>
                        </a:lnSpc>
                        <a:spcAft>
                          <a:spcPts val="800"/>
                        </a:spcAft>
                      </a:pPr>
                      <a:r>
                        <a:rPr lang="en-CA" sz="2000" b="0" dirty="0" err="1">
                          <a:solidFill>
                            <a:schemeClr val="tx1"/>
                          </a:solidFill>
                          <a:effectLst/>
                        </a:rPr>
                        <a:t>Josha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J = 9</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9 % 7 = 2</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Array[2] = 403-111-1111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3051094"/>
                  </a:ext>
                </a:extLst>
              </a:tr>
              <a:tr h="273711">
                <a:tc>
                  <a:txBody>
                    <a:bodyPr/>
                    <a:lstStyle/>
                    <a:p>
                      <a:pPr>
                        <a:lnSpc>
                          <a:spcPct val="107000"/>
                        </a:lnSpc>
                        <a:spcAft>
                          <a:spcPts val="800"/>
                        </a:spcAft>
                      </a:pPr>
                      <a:r>
                        <a:rPr lang="en-CA" sz="2000" b="0" dirty="0">
                          <a:solidFill>
                            <a:schemeClr val="tx1"/>
                          </a:solidFill>
                          <a:effectLst/>
                        </a:rPr>
                        <a:t>Link</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 = 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11 % 7 = 4</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Array[4] = 403-123-4567</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8919507"/>
                  </a:ext>
                </a:extLst>
              </a:tr>
              <a:tr h="273711">
                <a:tc>
                  <a:txBody>
                    <a:bodyPr/>
                    <a:lstStyle/>
                    <a:p>
                      <a:pPr>
                        <a:lnSpc>
                          <a:spcPct val="107000"/>
                        </a:lnSpc>
                        <a:spcAft>
                          <a:spcPts val="800"/>
                        </a:spcAft>
                      </a:pPr>
                      <a:r>
                        <a:rPr lang="en-CA" sz="2000" b="0" dirty="0" err="1">
                          <a:solidFill>
                            <a:schemeClr val="tx1"/>
                          </a:solidFill>
                          <a:effectLst/>
                        </a:rPr>
                        <a:t>Midna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M = 12</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12 % 7 = 5</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Array[5] = 587-111-1111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8723590"/>
                  </a:ext>
                </a:extLst>
              </a:tr>
              <a:tr h="273711">
                <a:tc>
                  <a:txBody>
                    <a:bodyPr/>
                    <a:lstStyle/>
                    <a:p>
                      <a:pPr>
                        <a:lnSpc>
                          <a:spcPct val="107000"/>
                        </a:lnSpc>
                        <a:spcAft>
                          <a:spcPts val="800"/>
                        </a:spcAft>
                      </a:pPr>
                      <a:r>
                        <a:rPr lang="en-CA" sz="2000" b="0" dirty="0">
                          <a:solidFill>
                            <a:schemeClr val="tx1"/>
                          </a:solidFill>
                          <a:effectLst/>
                        </a:rPr>
                        <a:t>Princess Zelda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P = 15</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15 % 7 = 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Array[1] = 780-555-1234</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5074069"/>
                  </a:ext>
                </a:extLst>
              </a:tr>
              <a:tr h="273711">
                <a:tc>
                  <a:txBody>
                    <a:bodyPr/>
                    <a:lstStyle/>
                    <a:p>
                      <a:pPr>
                        <a:lnSpc>
                          <a:spcPct val="107000"/>
                        </a:lnSpc>
                        <a:spcAft>
                          <a:spcPts val="800"/>
                        </a:spcAft>
                      </a:pPr>
                      <a:r>
                        <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Noctis</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N = 13</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13 % 7 = 6</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CA" sz="2000" dirty="0">
                          <a:effectLst/>
                        </a:rPr>
                        <a:t>Array[6] = 587-555-1234</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64788331"/>
                  </a:ext>
                </a:extLst>
              </a:tr>
            </a:tbl>
          </a:graphicData>
        </a:graphic>
      </p:graphicFrame>
    </p:spTree>
    <p:extLst>
      <p:ext uri="{BB962C8B-B14F-4D97-AF65-F5344CB8AC3E}">
        <p14:creationId xmlns:p14="http://schemas.microsoft.com/office/powerpoint/2010/main" val="76292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EFFF5-FF22-44DB-8987-090B9709F8D0}"/>
              </a:ext>
            </a:extLst>
          </p:cNvPr>
          <p:cNvSpPr>
            <a:spLocks noGrp="1"/>
          </p:cNvSpPr>
          <p:nvPr>
            <p:ph type="title"/>
          </p:nvPr>
        </p:nvSpPr>
        <p:spPr/>
        <p:txBody>
          <a:bodyPr/>
          <a:lstStyle/>
          <a:p>
            <a:r>
              <a:rPr lang="en-US" dirty="0"/>
              <a:t>MAD – Multiply, Add and Divide</a:t>
            </a:r>
            <a:endParaRPr lang="en-CA" dirty="0"/>
          </a:p>
        </p:txBody>
      </p:sp>
      <p:sp>
        <p:nvSpPr>
          <p:cNvPr id="3" name="Content Placeholder 2">
            <a:extLst>
              <a:ext uri="{FF2B5EF4-FFF2-40B4-BE49-F238E27FC236}">
                <a16:creationId xmlns:a16="http://schemas.microsoft.com/office/drawing/2014/main" id="{A8ADA839-A1FB-4D5D-9637-22C3E4EDEE42}"/>
              </a:ext>
            </a:extLst>
          </p:cNvPr>
          <p:cNvSpPr>
            <a:spLocks noGrp="1"/>
          </p:cNvSpPr>
          <p:nvPr>
            <p:ph idx="1"/>
          </p:nvPr>
        </p:nvSpPr>
        <p:spPr/>
        <p:txBody>
          <a:bodyPr/>
          <a:lstStyle/>
          <a:p>
            <a:r>
              <a:rPr lang="en-US" dirty="0"/>
              <a:t>Using random but purposefully chosen constants </a:t>
            </a:r>
            <a:r>
              <a:rPr lang="en-US" b="1" dirty="0"/>
              <a:t>a</a:t>
            </a:r>
            <a:r>
              <a:rPr lang="en-US" dirty="0"/>
              <a:t> and </a:t>
            </a:r>
            <a:r>
              <a:rPr lang="en-US" b="1" dirty="0"/>
              <a:t>b</a:t>
            </a:r>
            <a:r>
              <a:rPr lang="en-US" dirty="0"/>
              <a:t> which are &gt; 0 and a mod N != 0 where N is the size of the hash table</a:t>
            </a:r>
          </a:p>
          <a:p>
            <a:pPr lvl="1"/>
            <a:r>
              <a:rPr lang="en-CA" dirty="0"/>
              <a:t>Index = </a:t>
            </a:r>
            <a:r>
              <a:rPr lang="en-CA" b="1" dirty="0">
                <a:effectLst/>
                <a:latin typeface="Verdana" panose="020B0604030504040204" pitchFamily="34" charset="0"/>
                <a:ea typeface="Verdana" panose="020B0604030504040204" pitchFamily="34" charset="0"/>
                <a:cs typeface="Times New Roman" panose="02020603050405020304" pitchFamily="18" charset="0"/>
              </a:rPr>
              <a:t>abs(a * hash code + b) mod N</a:t>
            </a:r>
          </a:p>
          <a:p>
            <a:pPr lvl="4"/>
            <a:endParaRPr lang="en-CA" b="1" dirty="0">
              <a:latin typeface="Verdana" panose="020B0604030504040204" pitchFamily="34" charset="0"/>
              <a:ea typeface="Verdana" panose="020B0604030504040204" pitchFamily="34" charset="0"/>
              <a:cs typeface="Times New Roman" panose="02020603050405020304" pitchFamily="18" charset="0"/>
            </a:endParaRPr>
          </a:p>
          <a:p>
            <a:r>
              <a:rPr lang="en-CA" dirty="0">
                <a:latin typeface="Verdana" panose="020B0604030504040204" pitchFamily="34" charset="0"/>
                <a:ea typeface="Verdana" panose="020B0604030504040204" pitchFamily="34" charset="0"/>
                <a:cs typeface="Times New Roman" panose="02020603050405020304" pitchFamily="18" charset="0"/>
              </a:rPr>
              <a:t>E.g. a = 2, b = 4, N = 7</a:t>
            </a:r>
            <a:endParaRPr lang="en-CA" dirty="0">
              <a:latin typeface="Verdana" panose="020B0604030504040204" pitchFamily="34" charset="0"/>
              <a:ea typeface="Verdana" panose="020B0604030504040204" pitchFamily="34" charset="0"/>
            </a:endParaRPr>
          </a:p>
        </p:txBody>
      </p:sp>
      <p:graphicFrame>
        <p:nvGraphicFramePr>
          <p:cNvPr id="4" name="Table 3">
            <a:extLst>
              <a:ext uri="{FF2B5EF4-FFF2-40B4-BE49-F238E27FC236}">
                <a16:creationId xmlns:a16="http://schemas.microsoft.com/office/drawing/2014/main" id="{A3F2BF64-7919-4EAD-92EE-69B501CD6F6D}"/>
              </a:ext>
            </a:extLst>
          </p:cNvPr>
          <p:cNvGraphicFramePr>
            <a:graphicFrameLocks noGrp="1"/>
          </p:cNvGraphicFramePr>
          <p:nvPr>
            <p:extLst>
              <p:ext uri="{D42A27DB-BD31-4B8C-83A1-F6EECF244321}">
                <p14:modId xmlns:p14="http://schemas.microsoft.com/office/powerpoint/2010/main" val="2347685777"/>
              </p:ext>
            </p:extLst>
          </p:nvPr>
        </p:nvGraphicFramePr>
        <p:xfrm>
          <a:off x="1356360" y="4301110"/>
          <a:ext cx="9479279" cy="1869948"/>
        </p:xfrm>
        <a:graphic>
          <a:graphicData uri="http://schemas.openxmlformats.org/drawingml/2006/table">
            <a:tbl>
              <a:tblPr firstRow="1" firstCol="1" bandRow="1">
                <a:tableStyleId>{5C22544A-7EE6-4342-B048-85BDC9FD1C3A}</a:tableStyleId>
              </a:tblPr>
              <a:tblGrid>
                <a:gridCol w="2033237">
                  <a:extLst>
                    <a:ext uri="{9D8B030D-6E8A-4147-A177-3AD203B41FA5}">
                      <a16:colId xmlns:a16="http://schemas.microsoft.com/office/drawing/2014/main" val="673450982"/>
                    </a:ext>
                  </a:extLst>
                </a:gridCol>
                <a:gridCol w="1456723">
                  <a:extLst>
                    <a:ext uri="{9D8B030D-6E8A-4147-A177-3AD203B41FA5}">
                      <a16:colId xmlns:a16="http://schemas.microsoft.com/office/drawing/2014/main" val="2415858185"/>
                    </a:ext>
                  </a:extLst>
                </a:gridCol>
                <a:gridCol w="2987040">
                  <a:extLst>
                    <a:ext uri="{9D8B030D-6E8A-4147-A177-3AD203B41FA5}">
                      <a16:colId xmlns:a16="http://schemas.microsoft.com/office/drawing/2014/main" val="3225688467"/>
                    </a:ext>
                  </a:extLst>
                </a:gridCol>
                <a:gridCol w="3002279">
                  <a:extLst>
                    <a:ext uri="{9D8B030D-6E8A-4147-A177-3AD203B41FA5}">
                      <a16:colId xmlns:a16="http://schemas.microsoft.com/office/drawing/2014/main" val="2791254900"/>
                    </a:ext>
                  </a:extLst>
                </a:gridCol>
              </a:tblGrid>
              <a:tr h="273711">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Name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Hash Code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Compression</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tc>
                <a:extLst>
                  <a:ext uri="{0D108BD9-81ED-4DB2-BD59-A6C34878D82A}">
                    <a16:rowId xmlns:a16="http://schemas.microsoft.com/office/drawing/2014/main" val="3179025693"/>
                  </a:ext>
                </a:extLst>
              </a:tr>
              <a:tr h="273711">
                <a:tc>
                  <a:txBody>
                    <a:bodyPr/>
                    <a:lstStyle/>
                    <a:p>
                      <a:pPr>
                        <a:lnSpc>
                          <a:spcPct val="107000"/>
                        </a:lnSpc>
                        <a:spcAft>
                          <a:spcPts val="800"/>
                        </a:spcAft>
                      </a:pPr>
                      <a:r>
                        <a:rPr lang="en-CA" sz="2000" b="0" dirty="0" err="1">
                          <a:solidFill>
                            <a:schemeClr val="tx1"/>
                          </a:solidFill>
                          <a:effectLst/>
                        </a:rPr>
                        <a:t>Dampe</a:t>
                      </a:r>
                      <a:r>
                        <a:rPr lang="en-CA" sz="2000" b="0" dirty="0">
                          <a:solidFill>
                            <a:schemeClr val="tx1"/>
                          </a:solidFill>
                          <a:effectLst/>
                        </a:rPr>
                        <a:t> </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D = 3</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kern="1200" dirty="0">
                          <a:solidFill>
                            <a:schemeClr val="dk1"/>
                          </a:solidFill>
                          <a:effectLst/>
                          <a:latin typeface="+mn-lt"/>
                          <a:ea typeface="+mn-ea"/>
                          <a:cs typeface="+mn-cs"/>
                        </a:rPr>
                        <a:t>abs(2*3+4) mod 7 = 3</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Array[3] = 403-555-1234</a:t>
                      </a:r>
                    </a:p>
                  </a:txBody>
                  <a:tcPr marL="68580" marR="68580" marT="0" marB="0"/>
                </a:tc>
                <a:extLst>
                  <a:ext uri="{0D108BD9-81ED-4DB2-BD59-A6C34878D82A}">
                    <a16:rowId xmlns:a16="http://schemas.microsoft.com/office/drawing/2014/main" val="219784260"/>
                  </a:ext>
                </a:extLst>
              </a:tr>
              <a:tr h="273711">
                <a:tc>
                  <a:txBody>
                    <a:bodyPr/>
                    <a:lstStyle/>
                    <a:p>
                      <a:pPr>
                        <a:lnSpc>
                          <a:spcPct val="107000"/>
                        </a:lnSpc>
                        <a:spcAft>
                          <a:spcPts val="800"/>
                        </a:spcAft>
                      </a:pPr>
                      <a:r>
                        <a:rPr lang="en-CA" sz="2000" b="0" dirty="0" err="1">
                          <a:solidFill>
                            <a:schemeClr val="tx1"/>
                          </a:solidFill>
                          <a:effectLst/>
                        </a:rPr>
                        <a:t>Josha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J = 9</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kern="1200" dirty="0">
                          <a:solidFill>
                            <a:schemeClr val="dk1"/>
                          </a:solidFill>
                          <a:effectLst/>
                          <a:latin typeface="+mn-lt"/>
                          <a:ea typeface="+mn-ea"/>
                          <a:cs typeface="+mn-cs"/>
                        </a:rPr>
                        <a:t>abs(2*9+4) mod 7 = 1</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Array[1] = 403-111-1111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3051094"/>
                  </a:ext>
                </a:extLst>
              </a:tr>
              <a:tr h="273711">
                <a:tc>
                  <a:txBody>
                    <a:bodyPr/>
                    <a:lstStyle/>
                    <a:p>
                      <a:pPr>
                        <a:lnSpc>
                          <a:spcPct val="107000"/>
                        </a:lnSpc>
                        <a:spcAft>
                          <a:spcPts val="800"/>
                        </a:spcAft>
                      </a:pPr>
                      <a:r>
                        <a:rPr lang="en-CA" sz="2000" b="0" dirty="0">
                          <a:solidFill>
                            <a:schemeClr val="tx1"/>
                          </a:solidFill>
                          <a:effectLst/>
                        </a:rPr>
                        <a:t>Link</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 = 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r>
                        <a:rPr lang="en-CA" sz="2000" kern="1200" dirty="0">
                          <a:solidFill>
                            <a:schemeClr val="dk1"/>
                          </a:solidFill>
                          <a:effectLst/>
                          <a:latin typeface="+mn-lt"/>
                          <a:ea typeface="+mn-ea"/>
                          <a:cs typeface="+mn-cs"/>
                        </a:rPr>
                        <a:t>abs(2*11+4) mod 7 = 5</a:t>
                      </a: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Array[5] = 403-123-4567</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8919507"/>
                  </a:ext>
                </a:extLst>
              </a:tr>
              <a:tr h="273711">
                <a:tc>
                  <a:txBody>
                    <a:bodyPr/>
                    <a:lstStyle/>
                    <a:p>
                      <a:pPr>
                        <a:lnSpc>
                          <a:spcPct val="107000"/>
                        </a:lnSpc>
                        <a:spcAft>
                          <a:spcPts val="800"/>
                        </a:spcAft>
                      </a:pPr>
                      <a:r>
                        <a:rPr lang="en-CA" sz="2000" b="0" dirty="0" err="1">
                          <a:solidFill>
                            <a:schemeClr val="tx1"/>
                          </a:solidFill>
                          <a:effectLst/>
                        </a:rPr>
                        <a:t>Midna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M = 12</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kern="1200" dirty="0">
                          <a:solidFill>
                            <a:schemeClr val="dk1"/>
                          </a:solidFill>
                          <a:effectLst/>
                          <a:latin typeface="+mn-lt"/>
                          <a:ea typeface="+mn-ea"/>
                          <a:cs typeface="+mn-cs"/>
                        </a:rPr>
                        <a:t>abs(2*12+4) mod 7 = 0</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Array[0] = 587-111-1111</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8723590"/>
                  </a:ext>
                </a:extLst>
              </a:tr>
              <a:tr h="273711">
                <a:tc>
                  <a:txBody>
                    <a:bodyPr/>
                    <a:lstStyle/>
                    <a:p>
                      <a:pPr>
                        <a:lnSpc>
                          <a:spcPct val="107000"/>
                        </a:lnSpc>
                        <a:spcAft>
                          <a:spcPts val="800"/>
                        </a:spcAft>
                      </a:pPr>
                      <a:r>
                        <a:rPr lang="en-CA" sz="2000" b="0" dirty="0">
                          <a:solidFill>
                            <a:schemeClr val="tx1"/>
                          </a:solidFill>
                          <a:effectLst/>
                        </a:rPr>
                        <a:t>Princess Zelda</a:t>
                      </a:r>
                      <a:endParaRPr lang="en-CA"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P = 15</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kern="1200" dirty="0">
                          <a:solidFill>
                            <a:schemeClr val="dk1"/>
                          </a:solidFill>
                          <a:effectLst/>
                          <a:latin typeface="+mn-lt"/>
                          <a:ea typeface="+mn-ea"/>
                          <a:cs typeface="+mn-cs"/>
                        </a:rPr>
                        <a:t>abs(2*15+4) mod 7 = 6</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tc>
                  <a:txBody>
                    <a:bodyPr/>
                    <a:lstStyle/>
                    <a:p>
                      <a:pPr>
                        <a:lnSpc>
                          <a:spcPct val="107000"/>
                        </a:lnSpc>
                        <a:spcAft>
                          <a:spcPts val="800"/>
                        </a:spcAft>
                      </a:pPr>
                      <a:r>
                        <a:rPr lang="en-CA" sz="2000" dirty="0">
                          <a:effectLst/>
                        </a:rPr>
                        <a:t>Array[6] = 780-555-1234</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5074069"/>
                  </a:ext>
                </a:extLst>
              </a:tr>
            </a:tbl>
          </a:graphicData>
        </a:graphic>
      </p:graphicFrame>
    </p:spTree>
    <p:extLst>
      <p:ext uri="{BB962C8B-B14F-4D97-AF65-F5344CB8AC3E}">
        <p14:creationId xmlns:p14="http://schemas.microsoft.com/office/powerpoint/2010/main" val="1597653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DAF49-D5D0-4B52-BE86-E3BBC86689B1}"/>
              </a:ext>
            </a:extLst>
          </p:cNvPr>
          <p:cNvSpPr>
            <a:spLocks noGrp="1"/>
          </p:cNvSpPr>
          <p:nvPr>
            <p:ph type="title"/>
          </p:nvPr>
        </p:nvSpPr>
        <p:spPr/>
        <p:txBody>
          <a:bodyPr/>
          <a:lstStyle/>
          <a:p>
            <a:r>
              <a:rPr lang="en-US" dirty="0"/>
              <a:t>Hash Collisions</a:t>
            </a:r>
            <a:endParaRPr lang="en-CA" dirty="0"/>
          </a:p>
        </p:txBody>
      </p:sp>
      <p:sp>
        <p:nvSpPr>
          <p:cNvPr id="3" name="Content Placeholder 2">
            <a:extLst>
              <a:ext uri="{FF2B5EF4-FFF2-40B4-BE49-F238E27FC236}">
                <a16:creationId xmlns:a16="http://schemas.microsoft.com/office/drawing/2014/main" id="{1EA48652-5A78-414C-BB07-14B79E001785}"/>
              </a:ext>
            </a:extLst>
          </p:cNvPr>
          <p:cNvSpPr>
            <a:spLocks noGrp="1"/>
          </p:cNvSpPr>
          <p:nvPr>
            <p:ph idx="1"/>
          </p:nvPr>
        </p:nvSpPr>
        <p:spPr/>
        <p:txBody>
          <a:bodyPr/>
          <a:lstStyle/>
          <a:p>
            <a:r>
              <a:rPr lang="en-CA" altLang="en-US" sz="2800" dirty="0"/>
              <a:t>The choice of a good function to create hash codes will reduce the number of duplicate hash codes created</a:t>
            </a:r>
          </a:p>
          <a:p>
            <a:pPr lvl="1"/>
            <a:r>
              <a:rPr lang="en-CA" altLang="en-US" dirty="0"/>
              <a:t>A reasonable size for hash table (array) and reasonable load factor will reduce the number of duplicates (collisions)</a:t>
            </a:r>
          </a:p>
          <a:p>
            <a:pPr lvl="2"/>
            <a:endParaRPr lang="en-CA" altLang="en-US" dirty="0"/>
          </a:p>
          <a:p>
            <a:r>
              <a:rPr lang="en-CA" altLang="en-US" dirty="0"/>
              <a:t>If data changes over time, we will always run into scenarios where multiple search keys will produce the same index value, no matter which hash function and compression mapping algorithm is used</a:t>
            </a:r>
            <a:endParaRPr lang="en-CA" altLang="en-US" sz="2800" dirty="0"/>
          </a:p>
          <a:p>
            <a:pPr lvl="1"/>
            <a:r>
              <a:rPr lang="en-CA" dirty="0"/>
              <a:t>So we NEED to plan for these collisions!</a:t>
            </a:r>
          </a:p>
        </p:txBody>
      </p:sp>
    </p:spTree>
    <p:extLst>
      <p:ext uri="{BB962C8B-B14F-4D97-AF65-F5344CB8AC3E}">
        <p14:creationId xmlns:p14="http://schemas.microsoft.com/office/powerpoint/2010/main" val="86683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4C20D-0ABC-439C-B675-ACA84064A2BA}"/>
              </a:ext>
            </a:extLst>
          </p:cNvPr>
          <p:cNvSpPr>
            <a:spLocks noGrp="1"/>
          </p:cNvSpPr>
          <p:nvPr>
            <p:ph type="title"/>
          </p:nvPr>
        </p:nvSpPr>
        <p:spPr/>
        <p:txBody>
          <a:bodyPr/>
          <a:lstStyle/>
          <a:p>
            <a:r>
              <a:rPr lang="en-US" dirty="0"/>
              <a:t>Handling Collisions</a:t>
            </a:r>
            <a:endParaRPr lang="en-CA" dirty="0"/>
          </a:p>
        </p:txBody>
      </p:sp>
      <p:sp>
        <p:nvSpPr>
          <p:cNvPr id="3" name="Content Placeholder 2">
            <a:extLst>
              <a:ext uri="{FF2B5EF4-FFF2-40B4-BE49-F238E27FC236}">
                <a16:creationId xmlns:a16="http://schemas.microsoft.com/office/drawing/2014/main" id="{ABA135D8-3701-49BA-A973-F737BE3489F9}"/>
              </a:ext>
            </a:extLst>
          </p:cNvPr>
          <p:cNvSpPr>
            <a:spLocks noGrp="1"/>
          </p:cNvSpPr>
          <p:nvPr>
            <p:ph idx="1"/>
          </p:nvPr>
        </p:nvSpPr>
        <p:spPr/>
        <p:txBody>
          <a:bodyPr>
            <a:normAutofit/>
          </a:bodyPr>
          <a:lstStyle/>
          <a:p>
            <a:r>
              <a:rPr lang="en-US" dirty="0"/>
              <a:t>3 basic approaches:</a:t>
            </a:r>
          </a:p>
          <a:p>
            <a:pPr marL="914400" lvl="1" indent="-457200">
              <a:buFont typeface="+mj-lt"/>
              <a:buAutoNum type="arabicPeriod"/>
            </a:pPr>
            <a:r>
              <a:rPr lang="en-US" dirty="0"/>
              <a:t>Separate Chaining: each element in the hash table contains a link to a list of items that are mapped to that location</a:t>
            </a:r>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endParaRPr lang="en-US" dirty="0"/>
          </a:p>
          <a:p>
            <a:pPr lvl="2"/>
            <a:r>
              <a:rPr lang="en-US" dirty="0"/>
              <a:t>Just another list! O(n)</a:t>
            </a:r>
          </a:p>
          <a:p>
            <a:pPr marL="914400" lvl="1" indent="-457200">
              <a:buFont typeface="+mj-lt"/>
              <a:buAutoNum type="arabicPeriod"/>
            </a:pPr>
            <a:r>
              <a:rPr lang="en-US" dirty="0"/>
              <a:t>Open Addressing: find an unused location in the hash table to store the element instead</a:t>
            </a:r>
          </a:p>
          <a:p>
            <a:pPr marL="914400" lvl="1" indent="-457200">
              <a:buFont typeface="+mj-lt"/>
              <a:buAutoNum type="arabicPeriod"/>
            </a:pPr>
            <a:r>
              <a:rPr lang="en-US" dirty="0"/>
              <a:t>Dynamic Resizing: expensive!</a:t>
            </a:r>
          </a:p>
          <a:p>
            <a:pPr lvl="2"/>
            <a:r>
              <a:rPr lang="en-US" dirty="0"/>
              <a:t>Not covered in this course</a:t>
            </a:r>
            <a:endParaRPr lang="en-CA" dirty="0"/>
          </a:p>
        </p:txBody>
      </p:sp>
      <p:pic>
        <p:nvPicPr>
          <p:cNvPr id="6" name="Picture 5">
            <a:extLst>
              <a:ext uri="{FF2B5EF4-FFF2-40B4-BE49-F238E27FC236}">
                <a16:creationId xmlns:a16="http://schemas.microsoft.com/office/drawing/2014/main" id="{7C7028E8-14E7-4F61-A05F-83A65AA44C0E}"/>
              </a:ext>
            </a:extLst>
          </p:cNvPr>
          <p:cNvPicPr>
            <a:picLocks noChangeAspect="1"/>
          </p:cNvPicPr>
          <p:nvPr/>
        </p:nvPicPr>
        <p:blipFill>
          <a:blip r:embed="rId3"/>
          <a:stretch>
            <a:fillRect/>
          </a:stretch>
        </p:blipFill>
        <p:spPr>
          <a:xfrm>
            <a:off x="5484350" y="3000283"/>
            <a:ext cx="2362484" cy="1495517"/>
          </a:xfrm>
          <a:prstGeom prst="rect">
            <a:avLst/>
          </a:prstGeom>
        </p:spPr>
      </p:pic>
    </p:spTree>
    <p:extLst>
      <p:ext uri="{BB962C8B-B14F-4D97-AF65-F5344CB8AC3E}">
        <p14:creationId xmlns:p14="http://schemas.microsoft.com/office/powerpoint/2010/main" val="1959717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91805-06CF-483F-8E2A-65B55CAD7101}"/>
              </a:ext>
            </a:extLst>
          </p:cNvPr>
          <p:cNvSpPr>
            <a:spLocks noGrp="1"/>
          </p:cNvSpPr>
          <p:nvPr>
            <p:ph type="title"/>
          </p:nvPr>
        </p:nvSpPr>
        <p:spPr/>
        <p:txBody>
          <a:bodyPr/>
          <a:lstStyle/>
          <a:p>
            <a:r>
              <a:rPr lang="en-US" dirty="0"/>
              <a:t>Open Addressing</a:t>
            </a:r>
            <a:endParaRPr lang="en-CA" dirty="0"/>
          </a:p>
        </p:txBody>
      </p:sp>
      <p:sp>
        <p:nvSpPr>
          <p:cNvPr id="3" name="Content Placeholder 2">
            <a:extLst>
              <a:ext uri="{FF2B5EF4-FFF2-40B4-BE49-F238E27FC236}">
                <a16:creationId xmlns:a16="http://schemas.microsoft.com/office/drawing/2014/main" id="{3084F658-BBFC-4216-8EB7-27ADFE2FFBDE}"/>
              </a:ext>
            </a:extLst>
          </p:cNvPr>
          <p:cNvSpPr>
            <a:spLocks noGrp="1"/>
          </p:cNvSpPr>
          <p:nvPr>
            <p:ph idx="1"/>
          </p:nvPr>
        </p:nvSpPr>
        <p:spPr/>
        <p:txBody>
          <a:bodyPr>
            <a:normAutofit/>
          </a:bodyPr>
          <a:lstStyle/>
          <a:p>
            <a:r>
              <a:rPr lang="en-US" dirty="0"/>
              <a:t>Probing: find another location to store collided item</a:t>
            </a:r>
            <a:endParaRPr lang="en-CA" dirty="0"/>
          </a:p>
          <a:p>
            <a:pPr lvl="1"/>
            <a:r>
              <a:rPr lang="en-CA" dirty="0"/>
              <a:t>Linear probing: search the hash table sequentially for the next unused location</a:t>
            </a:r>
          </a:p>
          <a:p>
            <a:pPr lvl="2"/>
            <a:r>
              <a:rPr lang="en-CA" altLang="en-US" dirty="0"/>
              <a:t>Move to the next position (repeat until an empty position is found)</a:t>
            </a:r>
          </a:p>
          <a:p>
            <a:pPr lvl="3"/>
            <a:r>
              <a:rPr lang="en-CA" altLang="en-US" dirty="0"/>
              <a:t>If the end of array is encountered, loop back to the start of the array</a:t>
            </a:r>
          </a:p>
          <a:p>
            <a:pPr lvl="2"/>
            <a:r>
              <a:rPr lang="en-CA" altLang="en-US" dirty="0"/>
              <a:t>Insert item</a:t>
            </a:r>
          </a:p>
          <a:p>
            <a:pPr lvl="5"/>
            <a:endParaRPr lang="en-CA" dirty="0"/>
          </a:p>
          <a:p>
            <a:r>
              <a:rPr lang="en-US" dirty="0"/>
              <a:t>Performance depends on how “far” each collided item was placed from its calculated index</a:t>
            </a:r>
          </a:p>
          <a:p>
            <a:pPr lvl="1"/>
            <a:r>
              <a:rPr lang="en-US" dirty="0"/>
              <a:t>This is the number of READS, or simply the reads value</a:t>
            </a:r>
          </a:p>
        </p:txBody>
      </p:sp>
    </p:spTree>
    <p:extLst>
      <p:ext uri="{BB962C8B-B14F-4D97-AF65-F5344CB8AC3E}">
        <p14:creationId xmlns:p14="http://schemas.microsoft.com/office/powerpoint/2010/main" val="654736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D7AF3-0A12-403F-A1AC-60E14F0D88E2}"/>
              </a:ext>
            </a:extLst>
          </p:cNvPr>
          <p:cNvSpPr>
            <a:spLocks noGrp="1"/>
          </p:cNvSpPr>
          <p:nvPr>
            <p:ph type="title"/>
          </p:nvPr>
        </p:nvSpPr>
        <p:spPr/>
        <p:txBody>
          <a:bodyPr/>
          <a:lstStyle/>
          <a:p>
            <a:r>
              <a:rPr lang="en-US" dirty="0"/>
              <a:t>Single (One) Pass Loading</a:t>
            </a:r>
            <a:endParaRPr lang="en-CA" dirty="0"/>
          </a:p>
        </p:txBody>
      </p:sp>
      <p:sp>
        <p:nvSpPr>
          <p:cNvPr id="3" name="Content Placeholder 2">
            <a:extLst>
              <a:ext uri="{FF2B5EF4-FFF2-40B4-BE49-F238E27FC236}">
                <a16:creationId xmlns:a16="http://schemas.microsoft.com/office/drawing/2014/main" id="{D306874F-7A1D-408A-A1B0-4D7C8BEF93BE}"/>
              </a:ext>
            </a:extLst>
          </p:cNvPr>
          <p:cNvSpPr>
            <a:spLocks noGrp="1"/>
          </p:cNvSpPr>
          <p:nvPr>
            <p:ph idx="1"/>
          </p:nvPr>
        </p:nvSpPr>
        <p:spPr/>
        <p:txBody>
          <a:bodyPr/>
          <a:lstStyle/>
          <a:p>
            <a:r>
              <a:rPr lang="en-US" dirty="0"/>
              <a:t>E.g. hash table size = 10</a:t>
            </a:r>
          </a:p>
          <a:p>
            <a:pPr lvl="1"/>
            <a:r>
              <a:rPr lang="en-US" dirty="0"/>
              <a:t>In order of insertion: Princess Zelda = 1, </a:t>
            </a:r>
            <a:r>
              <a:rPr lang="en-US" dirty="0" err="1"/>
              <a:t>Josha</a:t>
            </a:r>
            <a:r>
              <a:rPr lang="en-US" dirty="0"/>
              <a:t> = 2, </a:t>
            </a:r>
            <a:r>
              <a:rPr lang="en-US" dirty="0" err="1"/>
              <a:t>Dampe</a:t>
            </a:r>
            <a:r>
              <a:rPr lang="en-US" dirty="0"/>
              <a:t> = 3, Link = 4, </a:t>
            </a:r>
            <a:r>
              <a:rPr lang="en-US" dirty="0" err="1"/>
              <a:t>Midna</a:t>
            </a:r>
            <a:r>
              <a:rPr lang="en-US" dirty="0"/>
              <a:t> = 5, Noctis = 4, Sephiroth = 4</a:t>
            </a:r>
          </a:p>
          <a:p>
            <a:pPr lvl="1"/>
            <a:endParaRPr lang="en-CA" dirty="0"/>
          </a:p>
        </p:txBody>
      </p:sp>
      <p:graphicFrame>
        <p:nvGraphicFramePr>
          <p:cNvPr id="4" name="Table 3">
            <a:extLst>
              <a:ext uri="{FF2B5EF4-FFF2-40B4-BE49-F238E27FC236}">
                <a16:creationId xmlns:a16="http://schemas.microsoft.com/office/drawing/2014/main" id="{45E2E614-D6AF-49BA-8B53-7298C6A34B7E}"/>
              </a:ext>
            </a:extLst>
          </p:cNvPr>
          <p:cNvGraphicFramePr>
            <a:graphicFrameLocks noGrp="1"/>
          </p:cNvGraphicFramePr>
          <p:nvPr>
            <p:extLst>
              <p:ext uri="{D42A27DB-BD31-4B8C-83A1-F6EECF244321}">
                <p14:modId xmlns:p14="http://schemas.microsoft.com/office/powerpoint/2010/main" val="3547920062"/>
              </p:ext>
            </p:extLst>
          </p:nvPr>
        </p:nvGraphicFramePr>
        <p:xfrm>
          <a:off x="3725545" y="3033170"/>
          <a:ext cx="4740910" cy="3739896"/>
        </p:xfrm>
        <a:graphic>
          <a:graphicData uri="http://schemas.openxmlformats.org/drawingml/2006/table">
            <a:tbl>
              <a:tblPr firstRow="1" firstCol="1" bandRow="1">
                <a:tableStyleId>{5C22544A-7EE6-4342-B048-85BDC9FD1C3A}</a:tableStyleId>
              </a:tblPr>
              <a:tblGrid>
                <a:gridCol w="1379855">
                  <a:extLst>
                    <a:ext uri="{9D8B030D-6E8A-4147-A177-3AD203B41FA5}">
                      <a16:colId xmlns:a16="http://schemas.microsoft.com/office/drawing/2014/main" val="715757220"/>
                    </a:ext>
                  </a:extLst>
                </a:gridCol>
                <a:gridCol w="1630680">
                  <a:extLst>
                    <a:ext uri="{9D8B030D-6E8A-4147-A177-3AD203B41FA5}">
                      <a16:colId xmlns:a16="http://schemas.microsoft.com/office/drawing/2014/main" val="2400450762"/>
                    </a:ext>
                  </a:extLst>
                </a:gridCol>
                <a:gridCol w="1730375">
                  <a:extLst>
                    <a:ext uri="{9D8B030D-6E8A-4147-A177-3AD203B41FA5}">
                      <a16:colId xmlns:a16="http://schemas.microsoft.com/office/drawing/2014/main" val="1856431384"/>
                    </a:ext>
                  </a:extLst>
                </a:gridCol>
              </a:tblGrid>
              <a:tr h="297146">
                <a:tc>
                  <a:txBody>
                    <a:bodyPr/>
                    <a:lstStyle/>
                    <a:p>
                      <a:pPr algn="ctr">
                        <a:lnSpc>
                          <a:spcPct val="107000"/>
                        </a:lnSpc>
                        <a:tabLst>
                          <a:tab pos="2743200" algn="ctr"/>
                          <a:tab pos="5486400" algn="r"/>
                          <a:tab pos="457200" algn="l"/>
                        </a:tabLst>
                      </a:pPr>
                      <a:r>
                        <a:rPr lang="en-US" sz="2000" dirty="0">
                          <a:effectLst/>
                          <a:latin typeface="+mn-lt"/>
                        </a:rPr>
                        <a:t>Indexes</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Key</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Reads</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92443134"/>
                  </a:ext>
                </a:extLst>
              </a:tr>
              <a:tr h="297146">
                <a:tc>
                  <a:txBody>
                    <a:bodyPr/>
                    <a:lstStyle/>
                    <a:p>
                      <a:pPr algn="ctr">
                        <a:lnSpc>
                          <a:spcPct val="107000"/>
                        </a:lnSpc>
                        <a:tabLst>
                          <a:tab pos="2743200" algn="ctr"/>
                          <a:tab pos="5486400" algn="r"/>
                          <a:tab pos="457200" algn="l"/>
                        </a:tabLst>
                      </a:pPr>
                      <a:r>
                        <a:rPr lang="en-US" sz="2000" dirty="0">
                          <a:effectLst/>
                          <a:latin typeface="+mn-lt"/>
                        </a:rPr>
                        <a:t>0</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9212843"/>
                  </a:ext>
                </a:extLst>
              </a:tr>
              <a:tr h="297146">
                <a:tc>
                  <a:txBody>
                    <a:bodyPr/>
                    <a:lstStyle/>
                    <a:p>
                      <a:pPr algn="ctr">
                        <a:lnSpc>
                          <a:spcPct val="107000"/>
                        </a:lnSpc>
                        <a:tabLst>
                          <a:tab pos="2743200" algn="ctr"/>
                          <a:tab pos="5486400" algn="r"/>
                          <a:tab pos="457200" algn="l"/>
                        </a:tabLst>
                      </a:pPr>
                      <a:r>
                        <a:rPr lang="en-US" sz="2000">
                          <a:effectLst/>
                          <a:latin typeface="+mn-lt"/>
                        </a:rPr>
                        <a:t>1</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Princess Zelda</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1</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5955689"/>
                  </a:ext>
                </a:extLst>
              </a:tr>
              <a:tr h="297146">
                <a:tc>
                  <a:txBody>
                    <a:bodyPr/>
                    <a:lstStyle/>
                    <a:p>
                      <a:pPr algn="ctr">
                        <a:lnSpc>
                          <a:spcPct val="107000"/>
                        </a:lnSpc>
                        <a:tabLst>
                          <a:tab pos="2743200" algn="ctr"/>
                          <a:tab pos="5486400" algn="r"/>
                          <a:tab pos="457200" algn="l"/>
                        </a:tabLst>
                      </a:pPr>
                      <a:r>
                        <a:rPr lang="en-US" sz="2000">
                          <a:effectLst/>
                          <a:latin typeface="+mn-lt"/>
                        </a:rPr>
                        <a:t>2</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err="1">
                          <a:effectLst/>
                          <a:latin typeface="+mn-lt"/>
                        </a:rPr>
                        <a:t>Josha</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1</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08643973"/>
                  </a:ext>
                </a:extLst>
              </a:tr>
              <a:tr h="297146">
                <a:tc>
                  <a:txBody>
                    <a:bodyPr/>
                    <a:lstStyle/>
                    <a:p>
                      <a:pPr algn="ctr">
                        <a:lnSpc>
                          <a:spcPct val="107000"/>
                        </a:lnSpc>
                        <a:tabLst>
                          <a:tab pos="2743200" algn="ctr"/>
                          <a:tab pos="5486400" algn="r"/>
                          <a:tab pos="457200" algn="l"/>
                        </a:tabLst>
                      </a:pPr>
                      <a:r>
                        <a:rPr lang="en-US" sz="2000">
                          <a:effectLst/>
                          <a:latin typeface="+mn-lt"/>
                        </a:rPr>
                        <a:t>3</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err="1">
                          <a:effectLst/>
                          <a:latin typeface="+mn-lt"/>
                        </a:rPr>
                        <a:t>Dampe</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1</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53571104"/>
                  </a:ext>
                </a:extLst>
              </a:tr>
              <a:tr h="297146">
                <a:tc>
                  <a:txBody>
                    <a:bodyPr/>
                    <a:lstStyle/>
                    <a:p>
                      <a:pPr algn="ctr">
                        <a:lnSpc>
                          <a:spcPct val="107000"/>
                        </a:lnSpc>
                        <a:tabLst>
                          <a:tab pos="2743200" algn="ctr"/>
                          <a:tab pos="5486400" algn="r"/>
                          <a:tab pos="457200" algn="l"/>
                        </a:tabLst>
                      </a:pPr>
                      <a:r>
                        <a:rPr lang="en-US" sz="2000">
                          <a:effectLst/>
                          <a:latin typeface="+mn-lt"/>
                        </a:rPr>
                        <a:t>4</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Link</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1</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84923872"/>
                  </a:ext>
                </a:extLst>
              </a:tr>
              <a:tr h="297146">
                <a:tc>
                  <a:txBody>
                    <a:bodyPr/>
                    <a:lstStyle/>
                    <a:p>
                      <a:pPr algn="ctr">
                        <a:lnSpc>
                          <a:spcPct val="107000"/>
                        </a:lnSpc>
                        <a:tabLst>
                          <a:tab pos="2743200" algn="ctr"/>
                          <a:tab pos="5486400" algn="r"/>
                          <a:tab pos="457200" algn="l"/>
                        </a:tabLst>
                      </a:pPr>
                      <a:r>
                        <a:rPr lang="en-US" sz="2000">
                          <a:effectLst/>
                          <a:latin typeface="+mn-lt"/>
                        </a:rPr>
                        <a:t>5</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err="1">
                          <a:effectLst/>
                          <a:latin typeface="+mn-lt"/>
                        </a:rPr>
                        <a:t>Midna</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1</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19935702"/>
                  </a:ext>
                </a:extLst>
              </a:tr>
              <a:tr h="297146">
                <a:tc>
                  <a:txBody>
                    <a:bodyPr/>
                    <a:lstStyle/>
                    <a:p>
                      <a:pPr algn="ctr">
                        <a:lnSpc>
                          <a:spcPct val="107000"/>
                        </a:lnSpc>
                        <a:tabLst>
                          <a:tab pos="2743200" algn="ctr"/>
                          <a:tab pos="5486400" algn="r"/>
                          <a:tab pos="457200" algn="l"/>
                        </a:tabLst>
                      </a:pPr>
                      <a:r>
                        <a:rPr lang="en-US" sz="2000" dirty="0">
                          <a:effectLst/>
                          <a:latin typeface="+mn-lt"/>
                        </a:rPr>
                        <a:t>6</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Noctis</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3</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53370956"/>
                  </a:ext>
                </a:extLst>
              </a:tr>
              <a:tr h="297146">
                <a:tc>
                  <a:txBody>
                    <a:bodyPr/>
                    <a:lstStyle/>
                    <a:p>
                      <a:pPr algn="ctr">
                        <a:lnSpc>
                          <a:spcPct val="107000"/>
                        </a:lnSpc>
                        <a:tabLst>
                          <a:tab pos="2743200" algn="ctr"/>
                          <a:tab pos="5486400" algn="r"/>
                          <a:tab pos="457200" algn="l"/>
                        </a:tabLst>
                      </a:pPr>
                      <a:r>
                        <a:rPr lang="en-US" sz="2000" dirty="0">
                          <a:effectLst/>
                          <a:latin typeface="+mn-lt"/>
                        </a:rPr>
                        <a:t>7</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Sephiroth</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4</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35241853"/>
                  </a:ext>
                </a:extLst>
              </a:tr>
              <a:tr h="297146">
                <a:tc>
                  <a:txBody>
                    <a:bodyPr/>
                    <a:lstStyle/>
                    <a:p>
                      <a:pPr algn="ctr">
                        <a:lnSpc>
                          <a:spcPct val="107000"/>
                        </a:lnSpc>
                        <a:tabLst>
                          <a:tab pos="2743200" algn="ctr"/>
                          <a:tab pos="5486400" algn="r"/>
                          <a:tab pos="457200" algn="l"/>
                        </a:tabLst>
                      </a:pPr>
                      <a:r>
                        <a:rPr lang="en-US" sz="2000">
                          <a:effectLst/>
                          <a:latin typeface="+mn-lt"/>
                        </a:rPr>
                        <a:t>8</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48299850"/>
                  </a:ext>
                </a:extLst>
              </a:tr>
              <a:tr h="297146">
                <a:tc>
                  <a:txBody>
                    <a:bodyPr/>
                    <a:lstStyle/>
                    <a:p>
                      <a:pPr algn="ctr">
                        <a:lnSpc>
                          <a:spcPct val="107000"/>
                        </a:lnSpc>
                        <a:tabLst>
                          <a:tab pos="2743200" algn="ctr"/>
                          <a:tab pos="5486400" algn="r"/>
                          <a:tab pos="457200" algn="l"/>
                        </a:tabLst>
                      </a:pPr>
                      <a:r>
                        <a:rPr lang="en-US" sz="2000">
                          <a:effectLst/>
                          <a:latin typeface="+mn-lt"/>
                        </a:rPr>
                        <a:t>9</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 </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11459391"/>
                  </a:ext>
                </a:extLst>
              </a:tr>
              <a:tr h="297146">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Used 7/10</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Total reads 12</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11635517"/>
                  </a:ext>
                </a:extLst>
              </a:tr>
            </a:tbl>
          </a:graphicData>
        </a:graphic>
      </p:graphicFrame>
    </p:spTree>
    <p:extLst>
      <p:ext uri="{BB962C8B-B14F-4D97-AF65-F5344CB8AC3E}">
        <p14:creationId xmlns:p14="http://schemas.microsoft.com/office/powerpoint/2010/main" val="835825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44786-29B7-4958-AF60-010E832BE5A5}"/>
              </a:ext>
            </a:extLst>
          </p:cNvPr>
          <p:cNvSpPr>
            <a:spLocks noGrp="1"/>
          </p:cNvSpPr>
          <p:nvPr>
            <p:ph type="title"/>
          </p:nvPr>
        </p:nvSpPr>
        <p:spPr/>
        <p:txBody>
          <a:bodyPr/>
          <a:lstStyle/>
          <a:p>
            <a:r>
              <a:rPr lang="en-US" dirty="0"/>
              <a:t>The Reads Value</a:t>
            </a:r>
            <a:endParaRPr lang="en-CA" dirty="0"/>
          </a:p>
        </p:txBody>
      </p:sp>
      <p:sp>
        <p:nvSpPr>
          <p:cNvPr id="3" name="Content Placeholder 2">
            <a:extLst>
              <a:ext uri="{FF2B5EF4-FFF2-40B4-BE49-F238E27FC236}">
                <a16:creationId xmlns:a16="http://schemas.microsoft.com/office/drawing/2014/main" id="{E37E08EE-32B7-455B-9292-AF73745AA26E}"/>
              </a:ext>
            </a:extLst>
          </p:cNvPr>
          <p:cNvSpPr>
            <a:spLocks noGrp="1"/>
          </p:cNvSpPr>
          <p:nvPr>
            <p:ph idx="1"/>
          </p:nvPr>
        </p:nvSpPr>
        <p:spPr/>
        <p:txBody>
          <a:bodyPr/>
          <a:lstStyle/>
          <a:p>
            <a:r>
              <a:rPr lang="en-US" dirty="0"/>
              <a:t>Depends on the order of insertion</a:t>
            </a:r>
          </a:p>
          <a:p>
            <a:pPr lvl="1"/>
            <a:r>
              <a:rPr lang="en-US" dirty="0"/>
              <a:t>Can cause a cascading effect on all keys!</a:t>
            </a:r>
          </a:p>
          <a:p>
            <a:pPr lvl="1"/>
            <a:r>
              <a:rPr lang="en-US" dirty="0"/>
              <a:t>E.g. Keys in order of insertion: Princess Zelda = 1, Princess Peach = 1 etc.</a:t>
            </a:r>
          </a:p>
          <a:p>
            <a:pPr lvl="1"/>
            <a:endParaRPr lang="en-CA" dirty="0"/>
          </a:p>
        </p:txBody>
      </p:sp>
      <p:graphicFrame>
        <p:nvGraphicFramePr>
          <p:cNvPr id="5" name="Table 4">
            <a:extLst>
              <a:ext uri="{FF2B5EF4-FFF2-40B4-BE49-F238E27FC236}">
                <a16:creationId xmlns:a16="http://schemas.microsoft.com/office/drawing/2014/main" id="{212DBEDA-D5ED-428C-BFB6-31626348FD02}"/>
              </a:ext>
            </a:extLst>
          </p:cNvPr>
          <p:cNvGraphicFramePr>
            <a:graphicFrameLocks noGrp="1"/>
          </p:cNvGraphicFramePr>
          <p:nvPr>
            <p:extLst>
              <p:ext uri="{D42A27DB-BD31-4B8C-83A1-F6EECF244321}">
                <p14:modId xmlns:p14="http://schemas.microsoft.com/office/powerpoint/2010/main" val="215645965"/>
              </p:ext>
            </p:extLst>
          </p:nvPr>
        </p:nvGraphicFramePr>
        <p:xfrm>
          <a:off x="3998261" y="3065254"/>
          <a:ext cx="4740910" cy="3739896"/>
        </p:xfrm>
        <a:graphic>
          <a:graphicData uri="http://schemas.openxmlformats.org/drawingml/2006/table">
            <a:tbl>
              <a:tblPr firstRow="1" firstCol="1" bandRow="1">
                <a:tableStyleId>{5C22544A-7EE6-4342-B048-85BDC9FD1C3A}</a:tableStyleId>
              </a:tblPr>
              <a:tblGrid>
                <a:gridCol w="1379855">
                  <a:extLst>
                    <a:ext uri="{9D8B030D-6E8A-4147-A177-3AD203B41FA5}">
                      <a16:colId xmlns:a16="http://schemas.microsoft.com/office/drawing/2014/main" val="715757220"/>
                    </a:ext>
                  </a:extLst>
                </a:gridCol>
                <a:gridCol w="1712495">
                  <a:extLst>
                    <a:ext uri="{9D8B030D-6E8A-4147-A177-3AD203B41FA5}">
                      <a16:colId xmlns:a16="http://schemas.microsoft.com/office/drawing/2014/main" val="2400450762"/>
                    </a:ext>
                  </a:extLst>
                </a:gridCol>
                <a:gridCol w="1648560">
                  <a:extLst>
                    <a:ext uri="{9D8B030D-6E8A-4147-A177-3AD203B41FA5}">
                      <a16:colId xmlns:a16="http://schemas.microsoft.com/office/drawing/2014/main" val="1856431384"/>
                    </a:ext>
                  </a:extLst>
                </a:gridCol>
              </a:tblGrid>
              <a:tr h="297146">
                <a:tc>
                  <a:txBody>
                    <a:bodyPr/>
                    <a:lstStyle/>
                    <a:p>
                      <a:pPr algn="ctr">
                        <a:lnSpc>
                          <a:spcPct val="107000"/>
                        </a:lnSpc>
                        <a:tabLst>
                          <a:tab pos="2743200" algn="ctr"/>
                          <a:tab pos="5486400" algn="r"/>
                          <a:tab pos="457200" algn="l"/>
                        </a:tabLst>
                      </a:pPr>
                      <a:r>
                        <a:rPr lang="en-US" sz="2000" dirty="0">
                          <a:effectLst/>
                          <a:latin typeface="+mn-lt"/>
                        </a:rPr>
                        <a:t>Indexes</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Key</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Reads</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92443134"/>
                  </a:ext>
                </a:extLst>
              </a:tr>
              <a:tr h="297146">
                <a:tc>
                  <a:txBody>
                    <a:bodyPr/>
                    <a:lstStyle/>
                    <a:p>
                      <a:pPr algn="ctr">
                        <a:lnSpc>
                          <a:spcPct val="107000"/>
                        </a:lnSpc>
                        <a:tabLst>
                          <a:tab pos="2743200" algn="ctr"/>
                          <a:tab pos="5486400" algn="r"/>
                          <a:tab pos="457200" algn="l"/>
                        </a:tabLst>
                      </a:pPr>
                      <a:r>
                        <a:rPr lang="en-US" sz="2000" dirty="0">
                          <a:effectLst/>
                          <a:latin typeface="+mn-lt"/>
                        </a:rPr>
                        <a:t>0</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9212843"/>
                  </a:ext>
                </a:extLst>
              </a:tr>
              <a:tr h="297146">
                <a:tc>
                  <a:txBody>
                    <a:bodyPr/>
                    <a:lstStyle/>
                    <a:p>
                      <a:pPr algn="ctr">
                        <a:lnSpc>
                          <a:spcPct val="107000"/>
                        </a:lnSpc>
                        <a:tabLst>
                          <a:tab pos="2743200" algn="ctr"/>
                          <a:tab pos="5486400" algn="r"/>
                          <a:tab pos="457200" algn="l"/>
                        </a:tabLst>
                      </a:pPr>
                      <a:r>
                        <a:rPr lang="en-US" sz="2000">
                          <a:effectLst/>
                          <a:latin typeface="+mn-lt"/>
                        </a:rPr>
                        <a:t>1</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Princess Zelda</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1</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5955689"/>
                  </a:ext>
                </a:extLst>
              </a:tr>
              <a:tr h="297146">
                <a:tc>
                  <a:txBody>
                    <a:bodyPr/>
                    <a:lstStyle/>
                    <a:p>
                      <a:pPr algn="ctr">
                        <a:lnSpc>
                          <a:spcPct val="107000"/>
                        </a:lnSpc>
                        <a:tabLst>
                          <a:tab pos="2743200" algn="ctr"/>
                          <a:tab pos="5486400" algn="r"/>
                          <a:tab pos="457200" algn="l"/>
                        </a:tabLst>
                      </a:pPr>
                      <a:r>
                        <a:rPr lang="en-US" sz="2000">
                          <a:effectLst/>
                          <a:latin typeface="+mn-lt"/>
                        </a:rPr>
                        <a:t>2</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Princess Peach</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2</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08643973"/>
                  </a:ext>
                </a:extLst>
              </a:tr>
              <a:tr h="297146">
                <a:tc>
                  <a:txBody>
                    <a:bodyPr/>
                    <a:lstStyle/>
                    <a:p>
                      <a:pPr algn="ctr">
                        <a:lnSpc>
                          <a:spcPct val="107000"/>
                        </a:lnSpc>
                        <a:tabLst>
                          <a:tab pos="2743200" algn="ctr"/>
                          <a:tab pos="5486400" algn="r"/>
                          <a:tab pos="457200" algn="l"/>
                        </a:tabLst>
                      </a:pPr>
                      <a:r>
                        <a:rPr lang="en-US" sz="2000">
                          <a:effectLst/>
                          <a:latin typeface="+mn-lt"/>
                        </a:rPr>
                        <a:t>3</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err="1">
                          <a:effectLst/>
                          <a:latin typeface="+mn-lt"/>
                        </a:rPr>
                        <a:t>Josha</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2</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53571104"/>
                  </a:ext>
                </a:extLst>
              </a:tr>
              <a:tr h="297146">
                <a:tc>
                  <a:txBody>
                    <a:bodyPr/>
                    <a:lstStyle/>
                    <a:p>
                      <a:pPr algn="ctr">
                        <a:lnSpc>
                          <a:spcPct val="107000"/>
                        </a:lnSpc>
                        <a:tabLst>
                          <a:tab pos="2743200" algn="ctr"/>
                          <a:tab pos="5486400" algn="r"/>
                          <a:tab pos="457200" algn="l"/>
                        </a:tabLst>
                      </a:pPr>
                      <a:r>
                        <a:rPr lang="en-US" sz="2000" dirty="0">
                          <a:effectLst/>
                          <a:latin typeface="+mn-lt"/>
                        </a:rPr>
                        <a:t>4</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err="1">
                          <a:effectLst/>
                          <a:latin typeface="+mn-lt"/>
                        </a:rPr>
                        <a:t>Dampe</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2</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84923872"/>
                  </a:ext>
                </a:extLst>
              </a:tr>
              <a:tr h="297146">
                <a:tc>
                  <a:txBody>
                    <a:bodyPr/>
                    <a:lstStyle/>
                    <a:p>
                      <a:pPr algn="ctr">
                        <a:lnSpc>
                          <a:spcPct val="107000"/>
                        </a:lnSpc>
                        <a:tabLst>
                          <a:tab pos="2743200" algn="ctr"/>
                          <a:tab pos="5486400" algn="r"/>
                          <a:tab pos="457200" algn="l"/>
                        </a:tabLst>
                      </a:pPr>
                      <a:r>
                        <a:rPr lang="en-US" sz="2000">
                          <a:effectLst/>
                          <a:latin typeface="+mn-lt"/>
                        </a:rPr>
                        <a:t>5</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Link</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2</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19935702"/>
                  </a:ext>
                </a:extLst>
              </a:tr>
              <a:tr h="297146">
                <a:tc>
                  <a:txBody>
                    <a:bodyPr/>
                    <a:lstStyle/>
                    <a:p>
                      <a:pPr algn="ctr">
                        <a:lnSpc>
                          <a:spcPct val="107000"/>
                        </a:lnSpc>
                        <a:tabLst>
                          <a:tab pos="2743200" algn="ctr"/>
                          <a:tab pos="5486400" algn="r"/>
                          <a:tab pos="457200" algn="l"/>
                        </a:tabLst>
                      </a:pPr>
                      <a:r>
                        <a:rPr lang="en-US" sz="2000" dirty="0">
                          <a:effectLst/>
                          <a:latin typeface="+mn-lt"/>
                        </a:rPr>
                        <a:t>6</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err="1">
                          <a:effectLst/>
                          <a:latin typeface="+mn-lt"/>
                        </a:rPr>
                        <a:t>Midna</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2</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53370956"/>
                  </a:ext>
                </a:extLst>
              </a:tr>
              <a:tr h="297146">
                <a:tc>
                  <a:txBody>
                    <a:bodyPr/>
                    <a:lstStyle/>
                    <a:p>
                      <a:pPr algn="ctr">
                        <a:lnSpc>
                          <a:spcPct val="107000"/>
                        </a:lnSpc>
                        <a:tabLst>
                          <a:tab pos="2743200" algn="ctr"/>
                          <a:tab pos="5486400" algn="r"/>
                          <a:tab pos="457200" algn="l"/>
                        </a:tabLst>
                      </a:pPr>
                      <a:r>
                        <a:rPr lang="en-US" sz="2000" dirty="0">
                          <a:effectLst/>
                          <a:latin typeface="+mn-lt"/>
                        </a:rPr>
                        <a:t>7</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Noctis</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3</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35241853"/>
                  </a:ext>
                </a:extLst>
              </a:tr>
              <a:tr h="297146">
                <a:tc>
                  <a:txBody>
                    <a:bodyPr/>
                    <a:lstStyle/>
                    <a:p>
                      <a:pPr algn="ctr">
                        <a:lnSpc>
                          <a:spcPct val="107000"/>
                        </a:lnSpc>
                        <a:tabLst>
                          <a:tab pos="2743200" algn="ctr"/>
                          <a:tab pos="5486400" algn="r"/>
                          <a:tab pos="457200" algn="l"/>
                        </a:tabLst>
                      </a:pPr>
                      <a:r>
                        <a:rPr lang="en-US" sz="2000">
                          <a:effectLst/>
                          <a:latin typeface="+mn-lt"/>
                        </a:rPr>
                        <a:t>8</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Sephiroth</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4</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48299850"/>
                  </a:ext>
                </a:extLst>
              </a:tr>
              <a:tr h="297146">
                <a:tc>
                  <a:txBody>
                    <a:bodyPr/>
                    <a:lstStyle/>
                    <a:p>
                      <a:pPr algn="ctr">
                        <a:lnSpc>
                          <a:spcPct val="107000"/>
                        </a:lnSpc>
                        <a:tabLst>
                          <a:tab pos="2743200" algn="ctr"/>
                          <a:tab pos="5486400" algn="r"/>
                          <a:tab pos="457200" algn="l"/>
                        </a:tabLst>
                      </a:pPr>
                      <a:r>
                        <a:rPr lang="en-US" sz="2000">
                          <a:effectLst/>
                          <a:latin typeface="+mn-lt"/>
                        </a:rPr>
                        <a:t>9</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 </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11459391"/>
                  </a:ext>
                </a:extLst>
              </a:tr>
              <a:tr h="297146">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Used 8/10</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Total reads 18</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11635517"/>
                  </a:ext>
                </a:extLst>
              </a:tr>
            </a:tbl>
          </a:graphicData>
        </a:graphic>
      </p:graphicFrame>
    </p:spTree>
    <p:extLst>
      <p:ext uri="{BB962C8B-B14F-4D97-AF65-F5344CB8AC3E}">
        <p14:creationId xmlns:p14="http://schemas.microsoft.com/office/powerpoint/2010/main" val="3639853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7F791-8DE0-4CE8-94EB-5D3090C0CEDA}"/>
              </a:ext>
            </a:extLst>
          </p:cNvPr>
          <p:cNvSpPr>
            <a:spLocks noGrp="1"/>
          </p:cNvSpPr>
          <p:nvPr>
            <p:ph type="title"/>
          </p:nvPr>
        </p:nvSpPr>
        <p:spPr/>
        <p:txBody>
          <a:bodyPr/>
          <a:lstStyle/>
          <a:p>
            <a:r>
              <a:rPr lang="en-US" dirty="0"/>
              <a:t>Double (Two) Pass Loading</a:t>
            </a:r>
            <a:endParaRPr lang="en-CA" dirty="0"/>
          </a:p>
        </p:txBody>
      </p:sp>
      <p:sp>
        <p:nvSpPr>
          <p:cNvPr id="3" name="Content Placeholder 2">
            <a:extLst>
              <a:ext uri="{FF2B5EF4-FFF2-40B4-BE49-F238E27FC236}">
                <a16:creationId xmlns:a16="http://schemas.microsoft.com/office/drawing/2014/main" id="{617BB133-478E-4F49-A909-A0035497F727}"/>
              </a:ext>
            </a:extLst>
          </p:cNvPr>
          <p:cNvSpPr>
            <a:spLocks noGrp="1"/>
          </p:cNvSpPr>
          <p:nvPr>
            <p:ph idx="1"/>
          </p:nvPr>
        </p:nvSpPr>
        <p:spPr/>
        <p:txBody>
          <a:bodyPr/>
          <a:lstStyle/>
          <a:p>
            <a:pPr>
              <a:spcBef>
                <a:spcPct val="30000"/>
              </a:spcBef>
            </a:pPr>
            <a:r>
              <a:rPr lang="en-CA" altLang="en-US" dirty="0"/>
              <a:t>Load only elements that do not cause a collision on first pass</a:t>
            </a:r>
          </a:p>
          <a:p>
            <a:pPr lvl="1">
              <a:spcBef>
                <a:spcPct val="30000"/>
              </a:spcBef>
            </a:pPr>
            <a:r>
              <a:rPr lang="en-CA" altLang="en-US" dirty="0"/>
              <a:t>Save duplicates in a queue</a:t>
            </a:r>
          </a:p>
          <a:p>
            <a:pPr lvl="1">
              <a:spcBef>
                <a:spcPct val="30000"/>
              </a:spcBef>
            </a:pPr>
            <a:r>
              <a:rPr lang="en-CA" altLang="en-US" dirty="0"/>
              <a:t>After first pass is loaded, load the elements from the queue using linear probing</a:t>
            </a:r>
          </a:p>
          <a:p>
            <a:pPr lvl="2">
              <a:spcBef>
                <a:spcPct val="30000"/>
              </a:spcBef>
            </a:pPr>
            <a:endParaRPr lang="en-CA" altLang="en-US" dirty="0"/>
          </a:p>
          <a:p>
            <a:pPr>
              <a:spcBef>
                <a:spcPct val="30000"/>
              </a:spcBef>
            </a:pPr>
            <a:r>
              <a:rPr lang="en-CA" altLang="en-US" dirty="0"/>
              <a:t>Rational: duplicates will cause a problem anyway, so load them later so as not to cause additional problems</a:t>
            </a:r>
          </a:p>
          <a:p>
            <a:pPr lvl="1">
              <a:spcBef>
                <a:spcPct val="30000"/>
              </a:spcBef>
            </a:pPr>
            <a:endParaRPr lang="en-CA" altLang="en-US" dirty="0"/>
          </a:p>
          <a:p>
            <a:endParaRPr lang="en-CA" dirty="0"/>
          </a:p>
        </p:txBody>
      </p:sp>
    </p:spTree>
    <p:extLst>
      <p:ext uri="{BB962C8B-B14F-4D97-AF65-F5344CB8AC3E}">
        <p14:creationId xmlns:p14="http://schemas.microsoft.com/office/powerpoint/2010/main" val="2598918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64ABB-B477-4F98-9651-BA6661534B4A}"/>
              </a:ext>
            </a:extLst>
          </p:cNvPr>
          <p:cNvSpPr>
            <a:spLocks noGrp="1"/>
          </p:cNvSpPr>
          <p:nvPr>
            <p:ph type="title"/>
          </p:nvPr>
        </p:nvSpPr>
        <p:spPr/>
        <p:txBody>
          <a:bodyPr/>
          <a:lstStyle/>
          <a:p>
            <a:r>
              <a:rPr lang="en-US" dirty="0"/>
              <a:t>Example</a:t>
            </a:r>
            <a:endParaRPr lang="en-CA" dirty="0"/>
          </a:p>
        </p:txBody>
      </p:sp>
      <p:sp>
        <p:nvSpPr>
          <p:cNvPr id="3" name="Content Placeholder 2">
            <a:extLst>
              <a:ext uri="{FF2B5EF4-FFF2-40B4-BE49-F238E27FC236}">
                <a16:creationId xmlns:a16="http://schemas.microsoft.com/office/drawing/2014/main" id="{4FB99495-2B4A-4961-8A68-E925CC3FEE2A}"/>
              </a:ext>
            </a:extLst>
          </p:cNvPr>
          <p:cNvSpPr>
            <a:spLocks noGrp="1"/>
          </p:cNvSpPr>
          <p:nvPr>
            <p:ph idx="1"/>
          </p:nvPr>
        </p:nvSpPr>
        <p:spPr/>
        <p:txBody>
          <a:bodyPr/>
          <a:lstStyle/>
          <a:p>
            <a:r>
              <a:rPr lang="en-US" dirty="0"/>
              <a:t>E.g. hash table size = 10</a:t>
            </a:r>
          </a:p>
          <a:p>
            <a:pPr lvl="1"/>
            <a:r>
              <a:rPr lang="en-US" dirty="0"/>
              <a:t>In order of insertion: Princess Zelda = 1, Princess Peach = 1, </a:t>
            </a:r>
            <a:r>
              <a:rPr lang="en-US" dirty="0" err="1"/>
              <a:t>Josha</a:t>
            </a:r>
            <a:r>
              <a:rPr lang="en-US" dirty="0"/>
              <a:t> = 2, </a:t>
            </a:r>
            <a:r>
              <a:rPr lang="en-US" dirty="0" err="1"/>
              <a:t>Dampe</a:t>
            </a:r>
            <a:r>
              <a:rPr lang="en-US" dirty="0"/>
              <a:t> = 3, Link = 4, </a:t>
            </a:r>
            <a:r>
              <a:rPr lang="en-US" dirty="0" err="1"/>
              <a:t>Midna</a:t>
            </a:r>
            <a:r>
              <a:rPr lang="en-US" dirty="0"/>
              <a:t> = 5, Noctis = 4, Sephiroth = 4</a:t>
            </a:r>
          </a:p>
          <a:p>
            <a:endParaRPr lang="en-CA" dirty="0"/>
          </a:p>
        </p:txBody>
      </p:sp>
      <p:graphicFrame>
        <p:nvGraphicFramePr>
          <p:cNvPr id="4" name="Table 3">
            <a:extLst>
              <a:ext uri="{FF2B5EF4-FFF2-40B4-BE49-F238E27FC236}">
                <a16:creationId xmlns:a16="http://schemas.microsoft.com/office/drawing/2014/main" id="{F0B592EA-131E-45DB-BD55-EA5BB3BD6524}"/>
              </a:ext>
            </a:extLst>
          </p:cNvPr>
          <p:cNvGraphicFramePr>
            <a:graphicFrameLocks noGrp="1"/>
          </p:cNvGraphicFramePr>
          <p:nvPr>
            <p:extLst>
              <p:ext uri="{D42A27DB-BD31-4B8C-83A1-F6EECF244321}">
                <p14:modId xmlns:p14="http://schemas.microsoft.com/office/powerpoint/2010/main" val="951415518"/>
              </p:ext>
            </p:extLst>
          </p:nvPr>
        </p:nvGraphicFramePr>
        <p:xfrm>
          <a:off x="4417995" y="3037590"/>
          <a:ext cx="7485248" cy="3739896"/>
        </p:xfrm>
        <a:graphic>
          <a:graphicData uri="http://schemas.openxmlformats.org/drawingml/2006/table">
            <a:tbl>
              <a:tblPr firstRow="1" firstCol="1" bandRow="1">
                <a:tableStyleId>{5C22544A-7EE6-4342-B048-85BDC9FD1C3A}</a:tableStyleId>
              </a:tblPr>
              <a:tblGrid>
                <a:gridCol w="1596059">
                  <a:extLst>
                    <a:ext uri="{9D8B030D-6E8A-4147-A177-3AD203B41FA5}">
                      <a16:colId xmlns:a16="http://schemas.microsoft.com/office/drawing/2014/main" val="715757220"/>
                    </a:ext>
                  </a:extLst>
                </a:gridCol>
                <a:gridCol w="2123390">
                  <a:extLst>
                    <a:ext uri="{9D8B030D-6E8A-4147-A177-3AD203B41FA5}">
                      <a16:colId xmlns:a16="http://schemas.microsoft.com/office/drawing/2014/main" val="2400450762"/>
                    </a:ext>
                  </a:extLst>
                </a:gridCol>
                <a:gridCol w="2104985">
                  <a:extLst>
                    <a:ext uri="{9D8B030D-6E8A-4147-A177-3AD203B41FA5}">
                      <a16:colId xmlns:a16="http://schemas.microsoft.com/office/drawing/2014/main" val="1856431384"/>
                    </a:ext>
                  </a:extLst>
                </a:gridCol>
                <a:gridCol w="1660814">
                  <a:extLst>
                    <a:ext uri="{9D8B030D-6E8A-4147-A177-3AD203B41FA5}">
                      <a16:colId xmlns:a16="http://schemas.microsoft.com/office/drawing/2014/main" val="262688801"/>
                    </a:ext>
                  </a:extLst>
                </a:gridCol>
              </a:tblGrid>
              <a:tr h="297146">
                <a:tc>
                  <a:txBody>
                    <a:bodyPr/>
                    <a:lstStyle/>
                    <a:p>
                      <a:pPr algn="ctr">
                        <a:lnSpc>
                          <a:spcPct val="107000"/>
                        </a:lnSpc>
                        <a:tabLst>
                          <a:tab pos="2743200" algn="ctr"/>
                          <a:tab pos="5486400" algn="r"/>
                          <a:tab pos="457200" algn="l"/>
                        </a:tabLst>
                      </a:pPr>
                      <a:r>
                        <a:rPr lang="en-US" sz="2000" dirty="0">
                          <a:effectLst/>
                          <a:latin typeface="+mn-lt"/>
                        </a:rPr>
                        <a:t>Indexes</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Key</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Reads</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Queue</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92443134"/>
                  </a:ext>
                </a:extLst>
              </a:tr>
              <a:tr h="297146">
                <a:tc>
                  <a:txBody>
                    <a:bodyPr/>
                    <a:lstStyle/>
                    <a:p>
                      <a:pPr algn="ctr">
                        <a:lnSpc>
                          <a:spcPct val="107000"/>
                        </a:lnSpc>
                        <a:tabLst>
                          <a:tab pos="2743200" algn="ctr"/>
                          <a:tab pos="5486400" algn="r"/>
                          <a:tab pos="457200" algn="l"/>
                        </a:tabLst>
                      </a:pPr>
                      <a:r>
                        <a:rPr lang="en-US" sz="2000" dirty="0">
                          <a:effectLst/>
                          <a:latin typeface="+mn-lt"/>
                        </a:rPr>
                        <a:t>0</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Princess Peach</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9212843"/>
                  </a:ext>
                </a:extLst>
              </a:tr>
              <a:tr h="297146">
                <a:tc>
                  <a:txBody>
                    <a:bodyPr/>
                    <a:lstStyle/>
                    <a:p>
                      <a:pPr algn="ctr">
                        <a:lnSpc>
                          <a:spcPct val="107000"/>
                        </a:lnSpc>
                        <a:tabLst>
                          <a:tab pos="2743200" algn="ctr"/>
                          <a:tab pos="5486400" algn="r"/>
                          <a:tab pos="457200" algn="l"/>
                        </a:tabLst>
                      </a:pPr>
                      <a:r>
                        <a:rPr lang="en-US" sz="2000" dirty="0">
                          <a:effectLst/>
                          <a:latin typeface="+mn-lt"/>
                        </a:rPr>
                        <a:t>1</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Princess Zelda</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1</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Noctis</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5955689"/>
                  </a:ext>
                </a:extLst>
              </a:tr>
              <a:tr h="297146">
                <a:tc>
                  <a:txBody>
                    <a:bodyPr/>
                    <a:lstStyle/>
                    <a:p>
                      <a:pPr algn="ctr">
                        <a:lnSpc>
                          <a:spcPct val="107000"/>
                        </a:lnSpc>
                        <a:tabLst>
                          <a:tab pos="2743200" algn="ctr"/>
                          <a:tab pos="5486400" algn="r"/>
                          <a:tab pos="457200" algn="l"/>
                        </a:tabLst>
                      </a:pPr>
                      <a:r>
                        <a:rPr lang="en-US" sz="2000">
                          <a:effectLst/>
                          <a:latin typeface="+mn-lt"/>
                        </a:rPr>
                        <a:t>2</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err="1">
                          <a:effectLst/>
                          <a:latin typeface="+mn-lt"/>
                        </a:rPr>
                        <a:t>Josha</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1</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Sephiroth</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08643973"/>
                  </a:ext>
                </a:extLst>
              </a:tr>
              <a:tr h="297146">
                <a:tc>
                  <a:txBody>
                    <a:bodyPr/>
                    <a:lstStyle/>
                    <a:p>
                      <a:pPr algn="ctr">
                        <a:lnSpc>
                          <a:spcPct val="107000"/>
                        </a:lnSpc>
                        <a:tabLst>
                          <a:tab pos="2743200" algn="ctr"/>
                          <a:tab pos="5486400" algn="r"/>
                          <a:tab pos="457200" algn="l"/>
                        </a:tabLst>
                      </a:pPr>
                      <a:r>
                        <a:rPr lang="en-US" sz="2000">
                          <a:effectLst/>
                          <a:latin typeface="+mn-lt"/>
                        </a:rPr>
                        <a:t>3</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err="1">
                          <a:effectLst/>
                          <a:latin typeface="+mn-lt"/>
                        </a:rPr>
                        <a:t>Dampe</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1</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53571104"/>
                  </a:ext>
                </a:extLst>
              </a:tr>
              <a:tr h="297146">
                <a:tc>
                  <a:txBody>
                    <a:bodyPr/>
                    <a:lstStyle/>
                    <a:p>
                      <a:pPr algn="ctr">
                        <a:lnSpc>
                          <a:spcPct val="107000"/>
                        </a:lnSpc>
                        <a:tabLst>
                          <a:tab pos="2743200" algn="ctr"/>
                          <a:tab pos="5486400" algn="r"/>
                          <a:tab pos="457200" algn="l"/>
                        </a:tabLst>
                      </a:pPr>
                      <a:r>
                        <a:rPr lang="en-US" sz="2000" dirty="0">
                          <a:effectLst/>
                          <a:latin typeface="+mn-lt"/>
                        </a:rPr>
                        <a:t>4</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Link</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1</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84923872"/>
                  </a:ext>
                </a:extLst>
              </a:tr>
              <a:tr h="297146">
                <a:tc>
                  <a:txBody>
                    <a:bodyPr/>
                    <a:lstStyle/>
                    <a:p>
                      <a:pPr algn="ctr">
                        <a:lnSpc>
                          <a:spcPct val="107000"/>
                        </a:lnSpc>
                        <a:tabLst>
                          <a:tab pos="2743200" algn="ctr"/>
                          <a:tab pos="5486400" algn="r"/>
                          <a:tab pos="457200" algn="l"/>
                        </a:tabLst>
                      </a:pPr>
                      <a:r>
                        <a:rPr lang="en-US" sz="2000">
                          <a:effectLst/>
                          <a:latin typeface="+mn-lt"/>
                        </a:rPr>
                        <a:t>5</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err="1">
                          <a:effectLst/>
                          <a:latin typeface="+mn-lt"/>
                        </a:rPr>
                        <a:t>Midna</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1</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19935702"/>
                  </a:ext>
                </a:extLst>
              </a:tr>
              <a:tr h="297146">
                <a:tc>
                  <a:txBody>
                    <a:bodyPr/>
                    <a:lstStyle/>
                    <a:p>
                      <a:pPr algn="ctr">
                        <a:lnSpc>
                          <a:spcPct val="107000"/>
                        </a:lnSpc>
                        <a:tabLst>
                          <a:tab pos="2743200" algn="ctr"/>
                          <a:tab pos="5486400" algn="r"/>
                          <a:tab pos="457200" algn="l"/>
                        </a:tabLst>
                      </a:pPr>
                      <a:r>
                        <a:rPr lang="en-US" sz="2000" dirty="0">
                          <a:effectLst/>
                          <a:latin typeface="+mn-lt"/>
                        </a:rPr>
                        <a:t>6</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Princess Peach</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6</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53370956"/>
                  </a:ext>
                </a:extLst>
              </a:tr>
              <a:tr h="297146">
                <a:tc>
                  <a:txBody>
                    <a:bodyPr/>
                    <a:lstStyle/>
                    <a:p>
                      <a:pPr algn="ctr">
                        <a:lnSpc>
                          <a:spcPct val="107000"/>
                        </a:lnSpc>
                        <a:tabLst>
                          <a:tab pos="2743200" algn="ctr"/>
                          <a:tab pos="5486400" algn="r"/>
                          <a:tab pos="457200" algn="l"/>
                        </a:tabLst>
                      </a:pPr>
                      <a:r>
                        <a:rPr lang="en-US" sz="2000" dirty="0">
                          <a:effectLst/>
                          <a:latin typeface="+mn-lt"/>
                        </a:rPr>
                        <a:t>7</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Noctis</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4</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35241853"/>
                  </a:ext>
                </a:extLst>
              </a:tr>
              <a:tr h="297146">
                <a:tc>
                  <a:txBody>
                    <a:bodyPr/>
                    <a:lstStyle/>
                    <a:p>
                      <a:pPr algn="ctr">
                        <a:lnSpc>
                          <a:spcPct val="107000"/>
                        </a:lnSpc>
                        <a:tabLst>
                          <a:tab pos="2743200" algn="ctr"/>
                          <a:tab pos="5486400" algn="r"/>
                          <a:tab pos="457200" algn="l"/>
                        </a:tabLst>
                      </a:pPr>
                      <a:r>
                        <a:rPr lang="en-US" sz="2000">
                          <a:effectLst/>
                          <a:latin typeface="+mn-lt"/>
                        </a:rPr>
                        <a:t>8</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ea typeface="Times New Roman" panose="02020603050405020304" pitchFamily="18" charset="0"/>
                          <a:cs typeface="Times New Roman" panose="02020603050405020304" pitchFamily="18" charset="0"/>
                        </a:rPr>
                        <a:t>Sephiroth</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ea typeface="Times New Roman" panose="02020603050405020304" pitchFamily="18" charset="0"/>
                          <a:cs typeface="Times New Roman" panose="02020603050405020304" pitchFamily="18" charset="0"/>
                        </a:rPr>
                        <a:t>5</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48299850"/>
                  </a:ext>
                </a:extLst>
              </a:tr>
              <a:tr h="297146">
                <a:tc>
                  <a:txBody>
                    <a:bodyPr/>
                    <a:lstStyle/>
                    <a:p>
                      <a:pPr algn="ctr">
                        <a:lnSpc>
                          <a:spcPct val="107000"/>
                        </a:lnSpc>
                        <a:tabLst>
                          <a:tab pos="2743200" algn="ctr"/>
                          <a:tab pos="5486400" algn="r"/>
                          <a:tab pos="457200" algn="l"/>
                        </a:tabLst>
                      </a:pPr>
                      <a:r>
                        <a:rPr lang="en-US" sz="2000">
                          <a:effectLst/>
                          <a:latin typeface="+mn-lt"/>
                        </a:rPr>
                        <a:t>9</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 </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11459391"/>
                  </a:ext>
                </a:extLst>
              </a:tr>
              <a:tr h="297146">
                <a:tc>
                  <a:txBody>
                    <a:bodyPr/>
                    <a:lstStyle/>
                    <a:p>
                      <a:pPr algn="ctr">
                        <a:lnSpc>
                          <a:spcPct val="107000"/>
                        </a:lnSpc>
                        <a:tabLst>
                          <a:tab pos="2743200" algn="ctr"/>
                          <a:tab pos="5486400" algn="r"/>
                          <a:tab pos="457200" algn="l"/>
                        </a:tabLst>
                      </a:pPr>
                      <a:r>
                        <a:rPr lang="en-US" sz="2000">
                          <a:effectLst/>
                          <a:latin typeface="+mn-lt"/>
                        </a:rPr>
                        <a:t> </a:t>
                      </a:r>
                      <a:endParaRPr lang="en-CA" sz="20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Used 8/10</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r>
                        <a:rPr lang="en-US" sz="2000" dirty="0">
                          <a:effectLst/>
                          <a:latin typeface="+mn-lt"/>
                        </a:rPr>
                        <a:t>Total reads 20</a:t>
                      </a: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tabLst>
                          <a:tab pos="2743200" algn="ctr"/>
                          <a:tab pos="5486400" algn="r"/>
                          <a:tab pos="457200" algn="l"/>
                        </a:tabLst>
                      </a:pPr>
                      <a:endParaRPr lang="en-CA" sz="20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11635517"/>
                  </a:ext>
                </a:extLst>
              </a:tr>
            </a:tbl>
          </a:graphicData>
        </a:graphic>
      </p:graphicFrame>
    </p:spTree>
    <p:extLst>
      <p:ext uri="{BB962C8B-B14F-4D97-AF65-F5344CB8AC3E}">
        <p14:creationId xmlns:p14="http://schemas.microsoft.com/office/powerpoint/2010/main" val="2775704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1213F-0EE5-412F-AB89-83617A7C55BE}"/>
              </a:ext>
            </a:extLst>
          </p:cNvPr>
          <p:cNvSpPr>
            <a:spLocks noGrp="1"/>
          </p:cNvSpPr>
          <p:nvPr>
            <p:ph type="title"/>
          </p:nvPr>
        </p:nvSpPr>
        <p:spPr/>
        <p:txBody>
          <a:bodyPr/>
          <a:lstStyle/>
          <a:p>
            <a:r>
              <a:rPr lang="en-US" dirty="0"/>
              <a:t>Hashing Efficiency</a:t>
            </a:r>
            <a:endParaRPr lang="en-CA" dirty="0"/>
          </a:p>
        </p:txBody>
      </p:sp>
      <p:sp>
        <p:nvSpPr>
          <p:cNvPr id="3" name="Content Placeholder 2">
            <a:extLst>
              <a:ext uri="{FF2B5EF4-FFF2-40B4-BE49-F238E27FC236}">
                <a16:creationId xmlns:a16="http://schemas.microsoft.com/office/drawing/2014/main" id="{6C00CDE7-B145-41AF-A94F-9A047D2DE7B4}"/>
              </a:ext>
            </a:extLst>
          </p:cNvPr>
          <p:cNvSpPr>
            <a:spLocks noGrp="1"/>
          </p:cNvSpPr>
          <p:nvPr>
            <p:ph idx="1"/>
          </p:nvPr>
        </p:nvSpPr>
        <p:spPr/>
        <p:txBody>
          <a:bodyPr/>
          <a:lstStyle/>
          <a:p>
            <a:pPr>
              <a:spcBef>
                <a:spcPct val="30000"/>
              </a:spcBef>
            </a:pPr>
            <a:r>
              <a:rPr lang="en-CA" altLang="en-US" dirty="0"/>
              <a:t>Overall efficiency of hash is defined as:</a:t>
            </a:r>
          </a:p>
          <a:p>
            <a:pPr lvl="1">
              <a:spcBef>
                <a:spcPct val="30000"/>
              </a:spcBef>
            </a:pPr>
            <a:r>
              <a:rPr lang="en-CA" altLang="en-US" dirty="0"/>
              <a:t>Packing density / Average number of reads per record</a:t>
            </a:r>
          </a:p>
          <a:p>
            <a:pPr lvl="2">
              <a:spcBef>
                <a:spcPct val="30000"/>
              </a:spcBef>
            </a:pPr>
            <a:r>
              <a:rPr lang="en-CA" altLang="en-US" dirty="0"/>
              <a:t>Avg reads = total number of reads / number of records</a:t>
            </a:r>
          </a:p>
          <a:p>
            <a:pPr lvl="4"/>
            <a:endParaRPr lang="en-CA" dirty="0"/>
          </a:p>
          <a:p>
            <a:pPr lvl="1"/>
            <a:r>
              <a:rPr lang="en-CA" dirty="0"/>
              <a:t>Example from previous slide: </a:t>
            </a:r>
          </a:p>
          <a:p>
            <a:pPr lvl="2"/>
            <a:r>
              <a:rPr lang="en-CA" dirty="0"/>
              <a:t>Packing density: 8/10 * 100% = 80%</a:t>
            </a:r>
          </a:p>
          <a:p>
            <a:pPr lvl="2"/>
            <a:r>
              <a:rPr lang="en-CA" dirty="0"/>
              <a:t>Avg reads: 20 / 8 = 2.5</a:t>
            </a:r>
          </a:p>
          <a:p>
            <a:pPr lvl="2"/>
            <a:r>
              <a:rPr lang="en-CA" dirty="0"/>
              <a:t>Hashing efficiency = 80% / 2.5 = 32%</a:t>
            </a:r>
          </a:p>
          <a:p>
            <a:pPr lvl="2"/>
            <a:endParaRPr lang="en-CA" dirty="0"/>
          </a:p>
          <a:p>
            <a:r>
              <a:rPr lang="en-CA" dirty="0"/>
              <a:t>Anything above 60% is adequate</a:t>
            </a:r>
          </a:p>
        </p:txBody>
      </p:sp>
    </p:spTree>
    <p:extLst>
      <p:ext uri="{BB962C8B-B14F-4D97-AF65-F5344CB8AC3E}">
        <p14:creationId xmlns:p14="http://schemas.microsoft.com/office/powerpoint/2010/main" val="3513353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203CD-0429-4CB2-B545-DFBAD7668A73}"/>
              </a:ext>
            </a:extLst>
          </p:cNvPr>
          <p:cNvSpPr>
            <a:spLocks noGrp="1"/>
          </p:cNvSpPr>
          <p:nvPr>
            <p:ph type="title"/>
          </p:nvPr>
        </p:nvSpPr>
        <p:spPr/>
        <p:txBody>
          <a:bodyPr/>
          <a:lstStyle/>
          <a:p>
            <a:r>
              <a:rPr lang="en-US" dirty="0"/>
              <a:t>What is the “Best” Hash?</a:t>
            </a:r>
            <a:endParaRPr lang="en-CA" dirty="0"/>
          </a:p>
        </p:txBody>
      </p:sp>
      <p:sp>
        <p:nvSpPr>
          <p:cNvPr id="3" name="Content Placeholder 2">
            <a:extLst>
              <a:ext uri="{FF2B5EF4-FFF2-40B4-BE49-F238E27FC236}">
                <a16:creationId xmlns:a16="http://schemas.microsoft.com/office/drawing/2014/main" id="{C8B7243C-88D5-4BB9-8E3E-D713743EC5A1}"/>
              </a:ext>
            </a:extLst>
          </p:cNvPr>
          <p:cNvSpPr>
            <a:spLocks noGrp="1"/>
          </p:cNvSpPr>
          <p:nvPr>
            <p:ph idx="1"/>
          </p:nvPr>
        </p:nvSpPr>
        <p:spPr>
          <a:xfrm>
            <a:off x="838200" y="1825625"/>
            <a:ext cx="7132320" cy="4351338"/>
          </a:xfrm>
        </p:spPr>
        <p:txBody>
          <a:bodyPr/>
          <a:lstStyle/>
          <a:p>
            <a:r>
              <a:rPr lang="en-US" dirty="0"/>
              <a:t>There is no one “best” way!</a:t>
            </a:r>
          </a:p>
          <a:p>
            <a:pPr lvl="1"/>
            <a:endParaRPr lang="en-US" dirty="0"/>
          </a:p>
          <a:p>
            <a:r>
              <a:rPr lang="en-US" dirty="0"/>
              <a:t>Try a different hash function and/or compression mapping algorithm!</a:t>
            </a:r>
          </a:p>
          <a:p>
            <a:pPr lvl="1"/>
            <a:r>
              <a:rPr lang="en-US" dirty="0"/>
              <a:t>Look at what your data type and size are, and how often it changes</a:t>
            </a:r>
          </a:p>
          <a:p>
            <a:pPr lvl="1"/>
            <a:r>
              <a:rPr lang="en-US" dirty="0"/>
              <a:t>Calculate the hashing efficiency</a:t>
            </a:r>
          </a:p>
          <a:p>
            <a:pPr lvl="1"/>
            <a:endParaRPr lang="en-US" dirty="0"/>
          </a:p>
          <a:p>
            <a:r>
              <a:rPr lang="en-US" dirty="0"/>
              <a:t>Repeat until the numbers get better!</a:t>
            </a:r>
            <a:endParaRPr lang="en-CA" dirty="0"/>
          </a:p>
        </p:txBody>
      </p:sp>
      <p:pic>
        <p:nvPicPr>
          <p:cNvPr id="4" name="Picture 13" descr="Hash">
            <a:extLst>
              <a:ext uri="{FF2B5EF4-FFF2-40B4-BE49-F238E27FC236}">
                <a16:creationId xmlns:a16="http://schemas.microsoft.com/office/drawing/2014/main" id="{E4022629-6737-41A7-9A2D-60825F0E5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970520" y="1538821"/>
            <a:ext cx="3672840" cy="4924945"/>
          </a:xfrm>
          <a:prstGeom prst="rect">
            <a:avLst/>
          </a:prstGeom>
          <a:noFill/>
        </p:spPr>
      </p:pic>
    </p:spTree>
    <p:extLst>
      <p:ext uri="{BB962C8B-B14F-4D97-AF65-F5344CB8AC3E}">
        <p14:creationId xmlns:p14="http://schemas.microsoft.com/office/powerpoint/2010/main" val="240067094"/>
      </p:ext>
    </p:extLst>
  </p:cSld>
  <p:clrMapOvr>
    <a:masterClrMapping/>
  </p:clrMapOvr>
</p:sld>
</file>

<file path=ppt/theme/theme1.xml><?xml version="1.0" encoding="utf-8"?>
<a:theme xmlns:a="http://schemas.openxmlformats.org/drawingml/2006/main" name="Office Theme">
  <a:themeElements>
    <a:clrScheme name="SAIT Colours">
      <a:dk1>
        <a:srgbClr val="000000"/>
      </a:dk1>
      <a:lt1>
        <a:srgbClr val="FFFFFF"/>
      </a:lt1>
      <a:dk2>
        <a:srgbClr val="44546A"/>
      </a:dk2>
      <a:lt2>
        <a:srgbClr val="E7E6E6"/>
      </a:lt2>
      <a:accent1>
        <a:srgbClr val="DA291C"/>
      </a:accent1>
      <a:accent2>
        <a:srgbClr val="A6192E"/>
      </a:accent2>
      <a:accent3>
        <a:srgbClr val="00A3E0"/>
      </a:accent3>
      <a:accent4>
        <a:srgbClr val="005EB8"/>
      </a:accent4>
      <a:accent5>
        <a:srgbClr val="6D2077"/>
      </a:accent5>
      <a:accent6>
        <a:srgbClr val="222222"/>
      </a:accent6>
      <a:hlink>
        <a:srgbClr val="515151"/>
      </a:hlink>
      <a:folHlink>
        <a:srgbClr val="919191"/>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IT_PPT_Colour_16x9_Template" id="{9343D8A7-6800-F640-AE70-45A3E4AC5BF3}" vid="{216E120B-4FD9-D941-8FC7-0244918ABF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14375</TotalTime>
  <Words>2460</Words>
  <Application>Microsoft Office PowerPoint</Application>
  <PresentationFormat>Widescreen</PresentationFormat>
  <Paragraphs>492</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Verdana</vt:lpstr>
      <vt:lpstr>Wingdings</vt:lpstr>
      <vt:lpstr>Office Theme</vt:lpstr>
      <vt:lpstr>Hashing</vt:lpstr>
      <vt:lpstr>What and Why Hashing?</vt:lpstr>
      <vt:lpstr>Phone Book Example</vt:lpstr>
      <vt:lpstr>Creating a Hash Code</vt:lpstr>
      <vt:lpstr>Packing Density</vt:lpstr>
      <vt:lpstr>Reducing the Index Range (Size)</vt:lpstr>
      <vt:lpstr>Phone Book Example</vt:lpstr>
      <vt:lpstr>Hashing In a Nutshell</vt:lpstr>
      <vt:lpstr>Hash Functions</vt:lpstr>
      <vt:lpstr>Character Folding</vt:lpstr>
      <vt:lpstr>Polynomial Hashing</vt:lpstr>
      <vt:lpstr>Compression Mapping</vt:lpstr>
      <vt:lpstr>Phone Book Example</vt:lpstr>
      <vt:lpstr>Phone Book Example</vt:lpstr>
      <vt:lpstr>MAD – Multiply, Add and Divide</vt:lpstr>
      <vt:lpstr>Hash Collisions</vt:lpstr>
      <vt:lpstr>Handling Collisions</vt:lpstr>
      <vt:lpstr>Open Addressing</vt:lpstr>
      <vt:lpstr>Single (One) Pass Loading</vt:lpstr>
      <vt:lpstr>The Reads Value</vt:lpstr>
      <vt:lpstr>Double (Two) Pass Loading</vt:lpstr>
      <vt:lpstr>Example</vt:lpstr>
      <vt:lpstr>Hashing Efficiency</vt:lpstr>
      <vt:lpstr>What is the “Best” Hash?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Kitty Wong</dc:creator>
  <cp:lastModifiedBy>Kitty Wong</cp:lastModifiedBy>
  <cp:revision>298</cp:revision>
  <dcterms:created xsi:type="dcterms:W3CDTF">2016-04-05T14:17:30Z</dcterms:created>
  <dcterms:modified xsi:type="dcterms:W3CDTF">2026-06-13T07:38:45Z</dcterms:modified>
</cp:coreProperties>
</file>